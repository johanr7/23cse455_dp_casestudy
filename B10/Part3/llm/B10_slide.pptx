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6"/>
  </p:notesMasterIdLst>
  <p:sldIdLst>
    <p:sldId id="256" r:id="rId2"/>
    <p:sldId id="257" r:id="rId3"/>
    <p:sldId id="259" r:id="rId4"/>
    <p:sldId id="260" r:id="rId5"/>
    <p:sldId id="261" r:id="rId6"/>
    <p:sldId id="262" r:id="rId7"/>
    <p:sldId id="263" r:id="rId8"/>
    <p:sldId id="265" r:id="rId9"/>
    <p:sldId id="266" r:id="rId10"/>
    <p:sldId id="267" r:id="rId11"/>
    <p:sldId id="268" r:id="rId12"/>
    <p:sldId id="269" r:id="rId13"/>
    <p:sldId id="271" r:id="rId14"/>
    <p:sldId id="273" r:id="rId15"/>
  </p:sldIdLst>
  <p:sldSz cx="12192000" cy="6858000"/>
  <p:notesSz cx="6858000" cy="12192000"/>
  <p:embeddedFontLst>
    <p:embeddedFont>
      <p:font typeface="IBM Plex Sans" panose="020B0503050203000203" pitchFamily="34" charset="0"/>
      <p:regular r:id="rId17"/>
      <p:bold r:id="rId18"/>
    </p:embeddedFont>
    <p:embeddedFont>
      <p:font typeface="JetBrains Mono" panose="020B0604020202020204" charset="0"/>
      <p:regular r:id="rId19"/>
      <p:bold r:id="rId20"/>
    </p:embeddedFont>
    <p:embeddedFont>
      <p:font typeface="Space Grotesk" panose="020B0604020202020204" charset="0"/>
      <p:regular r:id="rId21"/>
      <p:bold r:id="rId2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0" d="100"/>
          <a:sy n="60" d="100"/>
        </p:scale>
        <p:origin x="78" y="16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font" Target="fonts/font5.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6.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664751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team and the case study: we studied the design patterns inside Mycodo, an open-source environmental controller, and used it as an agriculture management application. The talk follows our three parts: finding the patterns, evolving the code with three farm features, and re-implementing the patterns in four languages.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Mycodo is a Raspberry-Pi style controller: input modules read sensors, controller threads schedule readings, values go to InfluxDB, and functions such as the bang-bang controller switch outputs like a pump. We scoped 24 files that form this irrigation path, at release v8.17.0, commit ee70a111. Walk the flow left to right: soil sensor, InputController thread, InfluxDB, the bang-bang irrigation logic, and the pump switched through DaemonControl, an RPC client to the daemon.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totals at the baseline: 8 distinct pattern types, 13 independent instances, 18 concrete participant classes. Just as important are the 28 candidates we did not accept: 23 rejected, such as Singleton, Facade and Repository, and 5 uncertain, such as Observer for output triggers, where part of the collaboration sits outside our scope. Every role in every instance is mapped to a file and line range, and a script checked all 112 ranges.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Template Method dominates with six separate collaborations: sensor measurement acquisition, module initialisation with retry, the controller thread lifecycle, output actuation, formula setpoint sampling and date/daily setpoint interpolation. Every other type has exactly one instance. Five are classic GoF patterns; Plugin, Layer Supertype and Active Record come from Fowler's enterprise patterns and describe how modules are loaded, what they inherit, and how users and roles are stored.</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AbstractInput.read is the template method: it calls get_measurement, classifies errors and stores the values. The soil sensor and the weather module each override only get_measurement: one talks to the Adafruit Seesaw driver over I2C, the other calls OpenWeatherMap over HTTP. InputController only ever calls next or read, so a new sensor needs no controller change. The same skeleton-plus-hook shape gives us the other five Template Method instances.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Strategy: the setpoint schedules (Date, Daily, DailySine, DailyBezier, Duration, Cascade) all answer calculate_setpoint; create_method_handler picks one by its type name, and CascadeMethod even combines other strategies through the same interface. Proxy: DaemonControl has the same methods as the daemon, but each call is forwarded through a Pyro5 proxy to another process, so modules like the bang-bang controller never see network code. Two more instances complete the set: Command for automation actions and Adapter for sensor drivers.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2 grows the application the way a real farm would need. CH01 lets the farmer pick a crop instead of typing raw setpoints. CH02 adds irrigation policies: only water inside time windows, skip while it is raining, and combine the two. CH03 raises alerts when the soil is critically dry or the sensor stops reporting. Each change also fixes a real code smell first, shown in green: duplicated band calculations, a switch on the direction string, and an over-long loop method.</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CH02, loop() switched on the direction string with two mirrored if-branches. We replaced that conditional with polymorphism: RaiseHysteresisStrategy and LowerHysteresisStrategy implement decide, and loop just asks self.strategy. The new policies are decorators: they extend IrrigationRestriction, hold an inner strategy, and only add their rule, so they can wrap either direction and wrap each other. That is two new pattern instances, Strategy and Decorator. Invalid configuration falls back to plain hysteresis, so a crop is never left unwatered.</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CH03 first shortened loop() with Extract Method, pulling out the period check, the reading and the missing-measurement handling. The feature is a classic Observer: SensorAlertNotifier is the subject with attach and detach; listeners implement on_alert. The log listener is always attached, the e-mail listener only when recipients are configured, and it uses Mycodo's existing send_email path. Alerts fire once per episode and re-arm when the reading recovers. Errors in one listener are caught so they never stop the irrigation loop. The new reading helper also fixed a real baseline crash when the database returned an empty result.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Pattern counts per snapshot: CH01 changed no pattern counts, CH02 added Strategy and Decorator, CH03 added Observer, giving 16 instances of 10 types. No original instance was removed or replaced; two were marked modified because their participating code changed. The irrigation loop dropped from cyclomatic complexity 14 to 5. Lines of code grew by about ten percent, but that is three small new modules; more or fewer lines alone does not prove a better design, which is why we also report complexity and tests. Metrics are lizard 1.24.1 on the same 24 scope files plus the new modules.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each of the 8 confirmed pattern types we picked one representative instance, mostly the one that is pure logic, and rebuilt its small problem in Java, Python, JavaScript and C++, standard library only. A shared specification and a shared CSV of test cases mean every language is tested on exactly the same inputs. All 32 test runners pass. Next we compare their size, complexity and run time.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Averaged over the eight patterns, the dynamically typed languages need fewer lines: Python 62 and JavaScript 76, against Java 98 and C++ 102. The extra lines are declarations: interfaces, types and constructors. The highest function complexity in each file stays within a few points across languages, so static typing costs size, not logic. The largest gap is the Proxy: Python's __getattr__ and JavaScript's Proxy object forward any method automatically, while Java and C++ must spell out every forwarded method. Larger complexity differences come from library gaps, for example hand-written date parsing in JavaScript and C++.</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used an LLM for drafting, never as the final authority. Each of us ran every part with our own prompt; the exact prompts, inputs and raw outputs are kept in each part's llm folder, and llm.csv grades every output. Verification was mechanical where possible: a script checked all 112 Part 1 line ranges, the evolution and cross-language CSVs are regenerated from raw lizard, test and timing output, and all 83 plus 32 tests were re-run after the final changes. Real corrections we made include mislabelled sub-totals in Part 1 and a lizard run that silently skipped the C++ header files.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the audience and invite questions. Everything shown is in the B10 folder of the course repository: the report, the pattern CSVs, the Part 2 code with its commits as patches, the 32 Part 3 implementations, and every test log and LLM record.</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5F3EA"/>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726" y="1127621"/>
            <a:ext cx="10566549" cy="502791"/>
          </a:xfrm>
          <a:prstGeom prst="rect">
            <a:avLst/>
          </a:prstGeom>
          <a:noFill/>
          <a:ln/>
        </p:spPr>
        <p:txBody>
          <a:bodyPr wrap="square" lIns="0" tIns="0" rIns="0" bIns="0" rtlCol="0" anchor="t"/>
          <a:lstStyle>
            <a:lvl1pPr marL="0" indent="0" algn="l">
              <a:lnSpc>
                <a:spcPct val="115000"/>
              </a:lnSpc>
              <a:buNone/>
              <a:defRPr lang="en-US" sz="3600" dirty="0">
                <a:solidFill>
                  <a:srgbClr val="13261F"/>
                </a:solidFill>
                <a:latin typeface="Space Grotesk" pitchFamily="34" charset="0"/>
                <a:ea typeface="Space Grotesk" pitchFamily="34" charset="-122"/>
                <a:cs typeface="Space Grotesk" pitchFamily="34" charset="-120"/>
              </a:defRPr>
            </a:lvl1pPr>
          </a:lstStyle>
          <a:p>
            <a:pPr marL="0" indent="0" algn="l">
              <a:lnSpc>
                <a:spcPct val="115000"/>
              </a:lnSpc>
              <a:buNone/>
            </a:pPr>
            <a:endParaRPr lang="en-US" sz="3600" dirty="0"/>
          </a:p>
        </p:txBody>
      </p:sp>
      <p:sp>
        <p:nvSpPr>
          <p:cNvPr id="3" name="Text Placeholder 2"/>
          <p:cNvSpPr>
            <a:spLocks noGrp="1"/>
          </p:cNvSpPr>
          <p:nvPr>
            <p:ph type="body" idx="101"/>
          </p:nvPr>
        </p:nvSpPr>
        <p:spPr>
          <a:xfrm>
            <a:off x="812726" y="1935212"/>
            <a:ext cx="10566474" cy="4109988"/>
          </a:xfrm>
          <a:prstGeom prst="rect">
            <a:avLst/>
          </a:prstGeom>
          <a:noFill/>
          <a:ln/>
        </p:spPr>
        <p:txBody>
          <a:bodyPr wrap="square" lIns="0" tIns="0" rIns="0" bIns="0" rtlCol="0" anchor="t"/>
          <a:lstStyle>
            <a:lvl1pPr marL="0" indent="0" algn="l">
              <a:lnSpc>
                <a:spcPct val="140000"/>
              </a:lnSpc>
              <a:buNone/>
              <a:defRPr lang="en-US" sz="1600" dirty="0">
                <a:solidFill>
                  <a:srgbClr val="13261F"/>
                </a:solidFill>
                <a:latin typeface="IBM Plex Sans" pitchFamily="34" charset="0"/>
                <a:ea typeface="IBM Plex Sans" pitchFamily="34" charset="-122"/>
                <a:cs typeface="IBM Plex Sans"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5F3EA"/>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726" y="1127621"/>
            <a:ext cx="10566549" cy="502791"/>
          </a:xfrm>
          <a:prstGeom prst="rect">
            <a:avLst/>
          </a:prstGeom>
          <a:noFill/>
          <a:ln/>
        </p:spPr>
        <p:txBody>
          <a:bodyPr wrap="square" lIns="0" tIns="0" rIns="0" bIns="0" rtlCol="0" anchor="t"/>
          <a:lstStyle>
            <a:lvl1pPr marL="0" indent="0" algn="l">
              <a:lnSpc>
                <a:spcPct val="115000"/>
              </a:lnSpc>
              <a:buNone/>
              <a:defRPr lang="en-US" sz="3600" dirty="0">
                <a:solidFill>
                  <a:srgbClr val="13261F"/>
                </a:solidFill>
                <a:latin typeface="Space Grotesk" pitchFamily="34" charset="0"/>
                <a:ea typeface="Space Grotesk" pitchFamily="34" charset="-122"/>
                <a:cs typeface="Space Grotesk" pitchFamily="34" charset="-120"/>
              </a:defRPr>
            </a:lvl1pPr>
          </a:lstStyle>
          <a:p>
            <a:pPr marL="0" indent="0" algn="l">
              <a:lnSpc>
                <a:spcPct val="115000"/>
              </a:lnSpc>
              <a:buNone/>
            </a:pPr>
            <a:endParaRPr lang="en-US" sz="3600" dirty="0"/>
          </a:p>
        </p:txBody>
      </p:sp>
      <p:sp>
        <p:nvSpPr>
          <p:cNvPr id="3" name="Text Placeholder 2"/>
          <p:cNvSpPr>
            <a:spLocks noGrp="1"/>
          </p:cNvSpPr>
          <p:nvPr>
            <p:ph type="body" idx="101"/>
          </p:nvPr>
        </p:nvSpPr>
        <p:spPr>
          <a:xfrm>
            <a:off x="812726" y="1935212"/>
            <a:ext cx="10566474" cy="4109988"/>
          </a:xfrm>
          <a:prstGeom prst="rect">
            <a:avLst/>
          </a:prstGeom>
          <a:noFill/>
          <a:ln/>
        </p:spPr>
        <p:txBody>
          <a:bodyPr wrap="square" lIns="0" tIns="0" rIns="0" bIns="0" rtlCol="0" anchor="t"/>
          <a:lstStyle>
            <a:lvl1pPr marL="0" indent="0" algn="l">
              <a:lnSpc>
                <a:spcPct val="140000"/>
              </a:lnSpc>
              <a:buNone/>
              <a:defRPr lang="en-US" sz="1600" dirty="0">
                <a:solidFill>
                  <a:srgbClr val="13261F"/>
                </a:solidFill>
                <a:latin typeface="IBM Plex Sans" pitchFamily="34" charset="0"/>
                <a:ea typeface="IBM Plex Sans" pitchFamily="34" charset="-122"/>
                <a:cs typeface="IBM Plex Sans"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4.png"/></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3261F"/>
        </a:solidFill>
        <a:effectLst/>
      </p:bgPr>
    </p:bg>
    <p:spTree>
      <p:nvGrpSpPr>
        <p:cNvPr id="1" name=""/>
        <p:cNvGrpSpPr/>
        <p:nvPr/>
      </p:nvGrpSpPr>
      <p:grpSpPr>
        <a:xfrm>
          <a:off x="0" y="0"/>
          <a:ext cx="0" cy="0"/>
          <a:chOff x="0" y="0"/>
          <a:chExt cx="0" cy="0"/>
        </a:xfrm>
      </p:grpSpPr>
      <p:pic>
        <p:nvPicPr>
          <p:cNvPr id="2" name="Image 0"/>
          <p:cNvPicPr>
            <a:picLocks noChangeAspect="1"/>
          </p:cNvPicPr>
          <p:nvPr/>
        </p:nvPicPr>
        <p:blipFill>
          <a:blip r:embed="rId3"/>
          <a:srcRect/>
          <a:stretch/>
        </p:blipFill>
        <p:spPr>
          <a:xfrm>
            <a:off x="7315150" y="1270000"/>
            <a:ext cx="4064000" cy="4064000"/>
          </a:xfrm>
          <a:prstGeom prst="rect">
            <a:avLst/>
          </a:prstGeom>
        </p:spPr>
      </p:pic>
      <p:sp>
        <p:nvSpPr>
          <p:cNvPr id="3" name="Text 0"/>
          <p:cNvSpPr/>
          <p:nvPr/>
        </p:nvSpPr>
        <p:spPr>
          <a:xfrm>
            <a:off x="812726" y="812726"/>
            <a:ext cx="10883545" cy="238720"/>
          </a:xfrm>
          <a:prstGeom prst="rect">
            <a:avLst/>
          </a:prstGeom>
          <a:noFill/>
          <a:ln/>
        </p:spPr>
        <p:txBody>
          <a:bodyPr wrap="square" lIns="0" tIns="0" rIns="0" bIns="0" rtlCol="0" anchor="t">
            <a:normAutofit/>
          </a:bodyPr>
          <a:lstStyle/>
          <a:p>
            <a:pPr marL="0" indent="0" algn="l">
              <a:lnSpc>
                <a:spcPts val="1680"/>
              </a:lnSpc>
              <a:buNone/>
            </a:pPr>
            <a:r>
              <a:rPr lang="en-US" sz="1200" b="1" kern="0" spc="200" dirty="0">
                <a:solidFill>
                  <a:srgbClr val="A8D672"/>
                </a:solidFill>
                <a:latin typeface="IBM Plex Sans" pitchFamily="34" charset="0"/>
                <a:ea typeface="IBM Plex Sans" pitchFamily="34" charset="-122"/>
                <a:cs typeface="IBM Plex Sans" pitchFamily="34" charset="-120"/>
              </a:rPr>
              <a:t>23CSE455 DESIGN PATTERNS · CASE STUDY</a:t>
            </a:r>
            <a:endParaRPr lang="en-US" sz="1200" dirty="0"/>
          </a:p>
        </p:txBody>
      </p:sp>
      <p:sp>
        <p:nvSpPr>
          <p:cNvPr id="4" name="Text 1"/>
          <p:cNvSpPr>
            <a:spLocks noGrp="1"/>
          </p:cNvSpPr>
          <p:nvPr>
            <p:ph type="title"/>
          </p:nvPr>
        </p:nvSpPr>
        <p:spPr>
          <a:xfrm>
            <a:off x="812726" y="1826617"/>
            <a:ext cx="6802120" cy="1625550"/>
          </a:xfrm>
          <a:prstGeom prst="rect">
            <a:avLst/>
          </a:prstGeom>
          <a:noFill/>
          <a:ln/>
        </p:spPr>
        <p:txBody>
          <a:bodyPr wrap="square" lIns="0" tIns="0" rIns="0" bIns="0" rtlCol="0" anchor="t">
            <a:normAutofit/>
          </a:bodyPr>
          <a:lstStyle/>
          <a:p>
            <a:pPr marL="0" indent="0" algn="l">
              <a:lnSpc>
                <a:spcPts val="6300"/>
              </a:lnSpc>
              <a:buNone/>
            </a:pPr>
            <a:r>
              <a:rPr lang="en-US" sz="6000" b="1" i="0" dirty="0">
                <a:solidFill>
                  <a:srgbClr val="F5F3EA"/>
                </a:solidFill>
                <a:latin typeface="Space Grotesk" pitchFamily="34" charset="0"/>
                <a:ea typeface="Space Grotesk" pitchFamily="34" charset="-122"/>
                <a:cs typeface="Space Grotesk" pitchFamily="34" charset="-120"/>
              </a:rPr>
              <a:t>Design Patterns in Mycodo</a:t>
            </a:r>
            <a:endParaRPr lang="en-US" sz="6000" dirty="0"/>
          </a:p>
        </p:txBody>
      </p:sp>
      <p:sp>
        <p:nvSpPr>
          <p:cNvPr id="6" name="Text 3"/>
          <p:cNvSpPr/>
          <p:nvPr/>
        </p:nvSpPr>
        <p:spPr>
          <a:xfrm>
            <a:off x="812726" y="5156646"/>
            <a:ext cx="10883545" cy="238720"/>
          </a:xfrm>
          <a:prstGeom prst="rect">
            <a:avLst/>
          </a:prstGeom>
          <a:noFill/>
          <a:ln/>
        </p:spPr>
        <p:txBody>
          <a:bodyPr wrap="square" lIns="0" tIns="0" rIns="0" bIns="0" rtlCol="0" anchor="t">
            <a:normAutofit/>
          </a:bodyPr>
          <a:lstStyle/>
          <a:p>
            <a:pPr marL="0" indent="0" algn="l">
              <a:lnSpc>
                <a:spcPts val="1680"/>
              </a:lnSpc>
              <a:buNone/>
            </a:pPr>
            <a:r>
              <a:rPr lang="en-US" sz="1200" b="1" kern="0" spc="200" dirty="0">
                <a:solidFill>
                  <a:srgbClr val="E3A33B"/>
                </a:solidFill>
                <a:latin typeface="IBM Plex Sans" pitchFamily="34" charset="0"/>
                <a:ea typeface="IBM Plex Sans" pitchFamily="34" charset="-122"/>
                <a:cs typeface="IBM Plex Sans" pitchFamily="34" charset="-120"/>
              </a:rPr>
              <a:t>TEAM B10 · AIE</a:t>
            </a:r>
            <a:endParaRPr lang="en-US" sz="1200" dirty="0"/>
          </a:p>
        </p:txBody>
      </p:sp>
      <p:sp>
        <p:nvSpPr>
          <p:cNvPr id="7" name="Text 4"/>
          <p:cNvSpPr/>
          <p:nvPr/>
        </p:nvSpPr>
        <p:spPr>
          <a:xfrm>
            <a:off x="812726" y="5522268"/>
            <a:ext cx="1513904" cy="309786"/>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F5F3EA"/>
                </a:solidFill>
                <a:latin typeface="IBM Plex Sans" pitchFamily="34" charset="0"/>
                <a:ea typeface="IBM Plex Sans" pitchFamily="34" charset="-122"/>
                <a:cs typeface="IBM Plex Sans" pitchFamily="34" charset="-120"/>
              </a:rPr>
              <a:t>Johan Rajesh</a:t>
            </a:r>
            <a:endParaRPr lang="en-US" sz="1600" dirty="0"/>
          </a:p>
        </p:txBody>
      </p:sp>
      <p:sp>
        <p:nvSpPr>
          <p:cNvPr id="8" name="Text 5"/>
          <p:cNvSpPr/>
          <p:nvPr/>
        </p:nvSpPr>
        <p:spPr>
          <a:xfrm>
            <a:off x="812726" y="5831954"/>
            <a:ext cx="1755725"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9FB5A8"/>
                </a:solidFill>
                <a:latin typeface="JetBrains Mono" pitchFamily="49" charset="0"/>
                <a:ea typeface="JetBrains Mono" pitchFamily="49" charset="-122"/>
                <a:cs typeface="JetBrains Mono" pitchFamily="49" charset="-120"/>
              </a:rPr>
              <a:t>AM.SC.U4AIE23038</a:t>
            </a:r>
            <a:endParaRPr lang="en-US" sz="1200" dirty="0"/>
          </a:p>
        </p:txBody>
      </p:sp>
      <p:sp>
        <p:nvSpPr>
          <p:cNvPr id="9" name="Text 6"/>
          <p:cNvSpPr/>
          <p:nvPr/>
        </p:nvSpPr>
        <p:spPr>
          <a:xfrm>
            <a:off x="2580556" y="5522268"/>
            <a:ext cx="2112367" cy="309786"/>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F5F3EA"/>
                </a:solidFill>
                <a:latin typeface="IBM Plex Sans" pitchFamily="34" charset="0"/>
                <a:ea typeface="IBM Plex Sans" pitchFamily="34" charset="-122"/>
                <a:cs typeface="IBM Plex Sans" pitchFamily="34" charset="-120"/>
              </a:rPr>
              <a:t>Aadarsh Jayan Nair</a:t>
            </a:r>
            <a:endParaRPr lang="en-US" sz="1600" dirty="0"/>
          </a:p>
        </p:txBody>
      </p:sp>
      <p:sp>
        <p:nvSpPr>
          <p:cNvPr id="10" name="Text 7"/>
          <p:cNvSpPr/>
          <p:nvPr/>
        </p:nvSpPr>
        <p:spPr>
          <a:xfrm>
            <a:off x="2580556" y="5831954"/>
            <a:ext cx="1861871"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9FB5A8"/>
                </a:solidFill>
                <a:latin typeface="JetBrains Mono" pitchFamily="49" charset="0"/>
                <a:ea typeface="JetBrains Mono" pitchFamily="49" charset="-122"/>
                <a:cs typeface="JetBrains Mono" pitchFamily="49" charset="-120"/>
              </a:rPr>
              <a:t>AM.SC.U4AIE23003</a:t>
            </a:r>
            <a:endParaRPr lang="en-US" sz="1200" dirty="0"/>
          </a:p>
        </p:txBody>
      </p:sp>
      <p:sp>
        <p:nvSpPr>
          <p:cNvPr id="11" name="Text 8"/>
          <p:cNvSpPr/>
          <p:nvPr/>
        </p:nvSpPr>
        <p:spPr>
          <a:xfrm>
            <a:off x="4692923" y="5522268"/>
            <a:ext cx="1513904" cy="309786"/>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F5F3EA"/>
                </a:solidFill>
                <a:latin typeface="IBM Plex Sans" pitchFamily="34" charset="0"/>
                <a:ea typeface="IBM Plex Sans" pitchFamily="34" charset="-122"/>
                <a:cs typeface="IBM Plex Sans" pitchFamily="34" charset="-120"/>
              </a:rPr>
              <a:t>Dano Aby Alex</a:t>
            </a:r>
            <a:endParaRPr lang="en-US" sz="1600" dirty="0"/>
          </a:p>
        </p:txBody>
      </p:sp>
      <p:sp>
        <p:nvSpPr>
          <p:cNvPr id="12" name="Text 9"/>
          <p:cNvSpPr/>
          <p:nvPr/>
        </p:nvSpPr>
        <p:spPr>
          <a:xfrm>
            <a:off x="4692923" y="5831954"/>
            <a:ext cx="1755725"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9FB5A8"/>
                </a:solidFill>
                <a:latin typeface="JetBrains Mono" pitchFamily="49" charset="0"/>
                <a:ea typeface="JetBrains Mono" pitchFamily="49" charset="-122"/>
                <a:cs typeface="JetBrains Mono" pitchFamily="49" charset="-120"/>
              </a:rPr>
              <a:t>AM.SC.U4AIE23029</a:t>
            </a:r>
            <a:endParaRPr lang="en-US" sz="1200" dirty="0"/>
          </a:p>
        </p:txBody>
      </p:sp>
      <p:sp>
        <p:nvSpPr>
          <p:cNvPr id="13" name="Text 10"/>
          <p:cNvSpPr/>
          <p:nvPr/>
        </p:nvSpPr>
        <p:spPr>
          <a:xfrm>
            <a:off x="6460753" y="5522268"/>
            <a:ext cx="1513904" cy="309786"/>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F5F3EA"/>
                </a:solidFill>
                <a:latin typeface="IBM Plex Sans" pitchFamily="34" charset="0"/>
                <a:ea typeface="IBM Plex Sans" pitchFamily="34" charset="-122"/>
                <a:cs typeface="IBM Plex Sans" pitchFamily="34" charset="-120"/>
              </a:rPr>
              <a:t>P Arya</a:t>
            </a:r>
            <a:endParaRPr lang="en-US" sz="1600" dirty="0"/>
          </a:p>
        </p:txBody>
      </p:sp>
      <p:sp>
        <p:nvSpPr>
          <p:cNvPr id="14" name="Text 11"/>
          <p:cNvSpPr/>
          <p:nvPr/>
        </p:nvSpPr>
        <p:spPr>
          <a:xfrm>
            <a:off x="6460753" y="5831954"/>
            <a:ext cx="1755725"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9FB5A8"/>
                </a:solidFill>
                <a:latin typeface="JetBrains Mono" pitchFamily="49" charset="0"/>
                <a:ea typeface="JetBrains Mono" pitchFamily="49" charset="-122"/>
                <a:cs typeface="JetBrains Mono" pitchFamily="49" charset="-120"/>
              </a:rPr>
              <a:t>AM.SC.U4AIE23140</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3EA"/>
        </a:solidFill>
        <a:effectLst/>
      </p:bgPr>
    </p:bg>
    <p:spTree>
      <p:nvGrpSpPr>
        <p:cNvPr id="1" name=""/>
        <p:cNvGrpSpPr/>
        <p:nvPr/>
      </p:nvGrpSpPr>
      <p:grpSpPr>
        <a:xfrm>
          <a:off x="0" y="0"/>
          <a:ext cx="0" cy="0"/>
          <a:chOff x="0" y="0"/>
          <a:chExt cx="0" cy="0"/>
        </a:xfrm>
      </p:grpSpPr>
      <p:sp>
        <p:nvSpPr>
          <p:cNvPr id="2" name="Text 0"/>
          <p:cNvSpPr/>
          <p:nvPr/>
        </p:nvSpPr>
        <p:spPr>
          <a:xfrm>
            <a:off x="812726" y="812726"/>
            <a:ext cx="10883545" cy="238720"/>
          </a:xfrm>
          <a:prstGeom prst="rect">
            <a:avLst/>
          </a:prstGeom>
          <a:noFill/>
          <a:ln/>
        </p:spPr>
        <p:txBody>
          <a:bodyPr wrap="square" lIns="0" tIns="0" rIns="0" bIns="0" rtlCol="0" anchor="t">
            <a:normAutofit/>
          </a:bodyPr>
          <a:lstStyle/>
          <a:p>
            <a:pPr marL="0" indent="0" algn="l">
              <a:lnSpc>
                <a:spcPts val="1680"/>
              </a:lnSpc>
              <a:buNone/>
            </a:pPr>
            <a:r>
              <a:rPr lang="en-US" sz="1200" b="1" kern="0" spc="200" dirty="0">
                <a:solidFill>
                  <a:srgbClr val="2F7D4A"/>
                </a:solidFill>
                <a:latin typeface="IBM Plex Sans" pitchFamily="34" charset="0"/>
                <a:ea typeface="IBM Plex Sans" pitchFamily="34" charset="-122"/>
                <a:cs typeface="IBM Plex Sans" pitchFamily="34" charset="-120"/>
              </a:rPr>
              <a:t>THE APPLICATION</a:t>
            </a:r>
            <a:endParaRPr lang="en-US" sz="1200" dirty="0"/>
          </a:p>
        </p:txBody>
      </p:sp>
      <p:sp>
        <p:nvSpPr>
          <p:cNvPr id="3" name="Text 1"/>
          <p:cNvSpPr>
            <a:spLocks noGrp="1"/>
          </p:cNvSpPr>
          <p:nvPr>
            <p:ph type="title"/>
          </p:nvPr>
        </p:nvSpPr>
        <p:spPr>
          <a:xfrm>
            <a:off x="812726" y="1127621"/>
            <a:ext cx="10883545" cy="528191"/>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3261F"/>
                </a:solidFill>
                <a:latin typeface="Space Grotesk" pitchFamily="34" charset="0"/>
                <a:ea typeface="Space Grotesk" pitchFamily="34" charset="-122"/>
                <a:cs typeface="Space Grotesk" pitchFamily="34" charset="-120"/>
              </a:rPr>
              <a:t>Mycodo: a farm controller in Python</a:t>
            </a:r>
            <a:endParaRPr lang="en-US" sz="3600" dirty="0"/>
          </a:p>
        </p:txBody>
      </p:sp>
      <p:sp>
        <p:nvSpPr>
          <p:cNvPr id="4" name="Text 2"/>
          <p:cNvSpPr/>
          <p:nvPr/>
        </p:nvSpPr>
        <p:spPr>
          <a:xfrm>
            <a:off x="812726" y="1935138"/>
            <a:ext cx="9156700" cy="594171"/>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3B4A42"/>
                </a:solidFill>
                <a:latin typeface="IBM Plex Sans" pitchFamily="34" charset="0"/>
                <a:ea typeface="IBM Plex Sans" pitchFamily="34" charset="-122"/>
                <a:cs typeface="IBM Plex Sans" pitchFamily="34" charset="-120"/>
              </a:rPr>
              <a:t>An open-source monitoring and regulation system: a Flask web UI plus a daemon of controller threads. We use it as an agriculture manager that reads the soil, decides, and waters the crop.</a:t>
            </a:r>
            <a:endParaRPr lang="en-US" sz="1600" dirty="0"/>
          </a:p>
        </p:txBody>
      </p:sp>
      <p:sp>
        <p:nvSpPr>
          <p:cNvPr id="9" name="Shape 7"/>
          <p:cNvSpPr/>
          <p:nvPr/>
        </p:nvSpPr>
        <p:spPr>
          <a:xfrm>
            <a:off x="819076" y="4679677"/>
            <a:ext cx="1656779" cy="907058"/>
          </a:xfrm>
          <a:prstGeom prst="roundRect">
            <a:avLst>
              <a:gd name="adj" fmla="val 13301"/>
            </a:avLst>
          </a:prstGeom>
          <a:solidFill>
            <a:srgbClr val="FBFAF4"/>
          </a:solidFill>
          <a:ln w="12700">
            <a:solidFill>
              <a:srgbClr val="DDD8C4"/>
            </a:solidFill>
            <a:prstDash val="solid"/>
          </a:ln>
        </p:spPr>
      </p:sp>
      <p:sp>
        <p:nvSpPr>
          <p:cNvPr id="10" name="Text 8"/>
          <p:cNvSpPr/>
          <p:nvPr/>
        </p:nvSpPr>
        <p:spPr>
          <a:xfrm>
            <a:off x="998389" y="4858990"/>
            <a:ext cx="1348953" cy="309786"/>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13261F"/>
                </a:solidFill>
                <a:latin typeface="Space Grotesk" pitchFamily="34" charset="0"/>
                <a:ea typeface="Space Grotesk" pitchFamily="34" charset="-122"/>
                <a:cs typeface="Space Grotesk" pitchFamily="34" charset="-120"/>
              </a:rPr>
              <a:t>Soil sensor</a:t>
            </a:r>
            <a:endParaRPr lang="en-US" sz="1600" dirty="0"/>
          </a:p>
        </p:txBody>
      </p:sp>
      <p:sp>
        <p:nvSpPr>
          <p:cNvPr id="11" name="Text 9"/>
          <p:cNvSpPr/>
          <p:nvPr/>
        </p:nvSpPr>
        <p:spPr>
          <a:xfrm>
            <a:off x="998389" y="5194102"/>
            <a:ext cx="1348953"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2F7D4A"/>
                </a:solidFill>
                <a:latin typeface="JetBrains Mono" pitchFamily="49" charset="0"/>
                <a:ea typeface="JetBrains Mono" pitchFamily="49" charset="-122"/>
                <a:cs typeface="JetBrains Mono" pitchFamily="49" charset="-120"/>
              </a:rPr>
              <a:t>AbstractInput</a:t>
            </a:r>
            <a:endParaRPr lang="en-US" sz="1200" dirty="0"/>
          </a:p>
        </p:txBody>
      </p:sp>
      <p:pic>
        <p:nvPicPr>
          <p:cNvPr id="12" name="Image 0" descr="arrow-right"/>
          <p:cNvPicPr>
            <a:picLocks noChangeAspect="1"/>
          </p:cNvPicPr>
          <p:nvPr/>
        </p:nvPicPr>
        <p:blipFill>
          <a:blip r:embed="rId3"/>
          <a:srcRect l="-17" r="-17"/>
          <a:stretch/>
        </p:blipFill>
        <p:spPr>
          <a:xfrm>
            <a:off x="2583780" y="5044405"/>
            <a:ext cx="355575" cy="177726"/>
          </a:xfrm>
          <a:prstGeom prst="rect">
            <a:avLst/>
          </a:prstGeom>
        </p:spPr>
      </p:pic>
      <p:sp>
        <p:nvSpPr>
          <p:cNvPr id="13" name="Shape 10"/>
          <p:cNvSpPr/>
          <p:nvPr/>
        </p:nvSpPr>
        <p:spPr>
          <a:xfrm>
            <a:off x="3047281" y="4430886"/>
            <a:ext cx="1656904" cy="1404764"/>
          </a:xfrm>
          <a:prstGeom prst="roundRect">
            <a:avLst>
              <a:gd name="adj" fmla="val 8589"/>
            </a:avLst>
          </a:prstGeom>
          <a:solidFill>
            <a:srgbClr val="FBFAF4"/>
          </a:solidFill>
          <a:ln w="12700">
            <a:solidFill>
              <a:srgbClr val="DDD8C4"/>
            </a:solidFill>
            <a:prstDash val="solid"/>
          </a:ln>
        </p:spPr>
      </p:sp>
      <p:sp>
        <p:nvSpPr>
          <p:cNvPr id="14" name="Text 11"/>
          <p:cNvSpPr/>
          <p:nvPr/>
        </p:nvSpPr>
        <p:spPr>
          <a:xfrm>
            <a:off x="3226594" y="4610199"/>
            <a:ext cx="1349077" cy="594171"/>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13261F"/>
                </a:solidFill>
                <a:latin typeface="Space Grotesk" pitchFamily="34" charset="0"/>
                <a:ea typeface="Space Grotesk" pitchFamily="34" charset="-122"/>
                <a:cs typeface="Space Grotesk" pitchFamily="34" charset="-120"/>
              </a:rPr>
              <a:t>Reading thread</a:t>
            </a:r>
            <a:endParaRPr lang="en-US" sz="1600" dirty="0"/>
          </a:p>
        </p:txBody>
      </p:sp>
      <p:sp>
        <p:nvSpPr>
          <p:cNvPr id="15" name="Text 12"/>
          <p:cNvSpPr/>
          <p:nvPr/>
        </p:nvSpPr>
        <p:spPr>
          <a:xfrm>
            <a:off x="3226594" y="5229696"/>
            <a:ext cx="1415744"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2F7D4A"/>
                </a:solidFill>
                <a:latin typeface="JetBrains Mono" pitchFamily="49" charset="0"/>
                <a:ea typeface="JetBrains Mono" pitchFamily="49" charset="-122"/>
                <a:cs typeface="JetBrains Mono" pitchFamily="49" charset="-120"/>
              </a:rPr>
              <a:t>InputController</a:t>
            </a:r>
            <a:endParaRPr lang="en-US" sz="1200" dirty="0"/>
          </a:p>
        </p:txBody>
      </p:sp>
      <p:pic>
        <p:nvPicPr>
          <p:cNvPr id="16" name="Image 1" descr="arrow-right"/>
          <p:cNvPicPr>
            <a:picLocks noChangeAspect="1"/>
          </p:cNvPicPr>
          <p:nvPr/>
        </p:nvPicPr>
        <p:blipFill>
          <a:blip r:embed="rId3"/>
          <a:srcRect l="-17" r="-17"/>
          <a:stretch/>
        </p:blipFill>
        <p:spPr>
          <a:xfrm>
            <a:off x="4812109" y="5044405"/>
            <a:ext cx="355575" cy="177726"/>
          </a:xfrm>
          <a:prstGeom prst="rect">
            <a:avLst/>
          </a:prstGeom>
        </p:spPr>
      </p:pic>
      <p:sp>
        <p:nvSpPr>
          <p:cNvPr id="17" name="Shape 13"/>
          <p:cNvSpPr/>
          <p:nvPr/>
        </p:nvSpPr>
        <p:spPr>
          <a:xfrm>
            <a:off x="5275610" y="4679677"/>
            <a:ext cx="1656779" cy="907058"/>
          </a:xfrm>
          <a:prstGeom prst="roundRect">
            <a:avLst>
              <a:gd name="adj" fmla="val 13301"/>
            </a:avLst>
          </a:prstGeom>
          <a:solidFill>
            <a:srgbClr val="FBFAF4"/>
          </a:solidFill>
          <a:ln w="12700">
            <a:solidFill>
              <a:srgbClr val="DDD8C4"/>
            </a:solidFill>
            <a:prstDash val="solid"/>
          </a:ln>
        </p:spPr>
      </p:sp>
      <p:sp>
        <p:nvSpPr>
          <p:cNvPr id="18" name="Text 14"/>
          <p:cNvSpPr/>
          <p:nvPr/>
        </p:nvSpPr>
        <p:spPr>
          <a:xfrm>
            <a:off x="5454923" y="4858990"/>
            <a:ext cx="1348953" cy="309786"/>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13261F"/>
                </a:solidFill>
                <a:latin typeface="Space Grotesk" pitchFamily="34" charset="0"/>
                <a:ea typeface="Space Grotesk" pitchFamily="34" charset="-122"/>
                <a:cs typeface="Space Grotesk" pitchFamily="34" charset="-120"/>
              </a:rPr>
              <a:t>Time series</a:t>
            </a:r>
            <a:endParaRPr lang="en-US" sz="1600" dirty="0"/>
          </a:p>
        </p:txBody>
      </p:sp>
      <p:sp>
        <p:nvSpPr>
          <p:cNvPr id="19" name="Text 15"/>
          <p:cNvSpPr/>
          <p:nvPr/>
        </p:nvSpPr>
        <p:spPr>
          <a:xfrm>
            <a:off x="5454923" y="5194102"/>
            <a:ext cx="1348953"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2F7D4A"/>
                </a:solidFill>
                <a:latin typeface="JetBrains Mono" pitchFamily="49" charset="0"/>
                <a:ea typeface="JetBrains Mono" pitchFamily="49" charset="-122"/>
                <a:cs typeface="JetBrains Mono" pitchFamily="49" charset="-120"/>
              </a:rPr>
              <a:t>InfluxDB</a:t>
            </a:r>
            <a:endParaRPr lang="en-US" sz="1200" dirty="0"/>
          </a:p>
        </p:txBody>
      </p:sp>
      <p:pic>
        <p:nvPicPr>
          <p:cNvPr id="20" name="Image 2" descr="arrow-right"/>
          <p:cNvPicPr>
            <a:picLocks noChangeAspect="1"/>
          </p:cNvPicPr>
          <p:nvPr/>
        </p:nvPicPr>
        <p:blipFill>
          <a:blip r:embed="rId3"/>
          <a:srcRect l="-17" r="-17"/>
          <a:stretch/>
        </p:blipFill>
        <p:spPr>
          <a:xfrm>
            <a:off x="7040314" y="5044405"/>
            <a:ext cx="355575" cy="177726"/>
          </a:xfrm>
          <a:prstGeom prst="rect">
            <a:avLst/>
          </a:prstGeom>
        </p:spPr>
      </p:pic>
      <p:sp>
        <p:nvSpPr>
          <p:cNvPr id="21" name="Shape 16"/>
          <p:cNvSpPr/>
          <p:nvPr/>
        </p:nvSpPr>
        <p:spPr>
          <a:xfrm>
            <a:off x="7503815" y="4537546"/>
            <a:ext cx="1656779" cy="1191444"/>
          </a:xfrm>
          <a:prstGeom prst="roundRect">
            <a:avLst>
              <a:gd name="adj" fmla="val 10126"/>
            </a:avLst>
          </a:prstGeom>
          <a:solidFill>
            <a:srgbClr val="FBFAF4"/>
          </a:solidFill>
          <a:ln w="12700">
            <a:solidFill>
              <a:srgbClr val="DDD8C4"/>
            </a:solidFill>
            <a:prstDash val="solid"/>
          </a:ln>
        </p:spPr>
      </p:sp>
      <p:sp>
        <p:nvSpPr>
          <p:cNvPr id="22" name="Text 17"/>
          <p:cNvSpPr/>
          <p:nvPr/>
        </p:nvSpPr>
        <p:spPr>
          <a:xfrm>
            <a:off x="7683128" y="4716859"/>
            <a:ext cx="1348953" cy="594171"/>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13261F"/>
                </a:solidFill>
                <a:latin typeface="Space Grotesk" pitchFamily="34" charset="0"/>
                <a:ea typeface="Space Grotesk" pitchFamily="34" charset="-122"/>
                <a:cs typeface="Space Grotesk" pitchFamily="34" charset="-120"/>
              </a:rPr>
              <a:t>Irrigation logic</a:t>
            </a:r>
            <a:endParaRPr lang="en-US" sz="1600" dirty="0"/>
          </a:p>
        </p:txBody>
      </p:sp>
      <p:sp>
        <p:nvSpPr>
          <p:cNvPr id="23" name="Text 18"/>
          <p:cNvSpPr/>
          <p:nvPr/>
        </p:nvSpPr>
        <p:spPr>
          <a:xfrm>
            <a:off x="7683128" y="5336356"/>
            <a:ext cx="1348953" cy="238720"/>
          </a:xfrm>
          <a:prstGeom prst="rect">
            <a:avLst/>
          </a:prstGeom>
          <a:noFill/>
          <a:ln/>
        </p:spPr>
        <p:txBody>
          <a:bodyPr wrap="square" lIns="0" tIns="0" rIns="0" bIns="0" rtlCol="0" anchor="t">
            <a:normAutofit/>
          </a:bodyPr>
          <a:lstStyle/>
          <a:p>
            <a:pPr marL="0" indent="0" algn="l">
              <a:lnSpc>
                <a:spcPts val="1680"/>
              </a:lnSpc>
              <a:buNone/>
            </a:pPr>
            <a:endParaRPr lang="en-US" sz="1200" dirty="0"/>
          </a:p>
        </p:txBody>
      </p:sp>
      <p:pic>
        <p:nvPicPr>
          <p:cNvPr id="24" name="Image 3" descr="arrow-right"/>
          <p:cNvPicPr>
            <a:picLocks noChangeAspect="1"/>
          </p:cNvPicPr>
          <p:nvPr/>
        </p:nvPicPr>
        <p:blipFill>
          <a:blip r:embed="rId3"/>
          <a:srcRect l="-17" r="-17"/>
          <a:stretch/>
        </p:blipFill>
        <p:spPr>
          <a:xfrm>
            <a:off x="9268520" y="5044405"/>
            <a:ext cx="355575" cy="177726"/>
          </a:xfrm>
          <a:prstGeom prst="rect">
            <a:avLst/>
          </a:prstGeom>
        </p:spPr>
      </p:pic>
      <p:sp>
        <p:nvSpPr>
          <p:cNvPr id="25" name="Shape 19"/>
          <p:cNvSpPr/>
          <p:nvPr/>
        </p:nvSpPr>
        <p:spPr>
          <a:xfrm>
            <a:off x="9725670" y="4681265"/>
            <a:ext cx="1653604" cy="903883"/>
          </a:xfrm>
          <a:prstGeom prst="roundRect">
            <a:avLst>
              <a:gd name="adj" fmla="val 14050"/>
            </a:avLst>
          </a:prstGeom>
          <a:solidFill>
            <a:srgbClr val="13261F"/>
          </a:solidFill>
          <a:ln/>
        </p:spPr>
      </p:sp>
      <p:sp>
        <p:nvSpPr>
          <p:cNvPr id="26" name="Text 20"/>
          <p:cNvSpPr/>
          <p:nvPr/>
        </p:nvSpPr>
        <p:spPr>
          <a:xfrm>
            <a:off x="9903396" y="4858990"/>
            <a:ext cx="1348953" cy="309786"/>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F5F3EA"/>
                </a:solidFill>
                <a:latin typeface="Space Grotesk" pitchFamily="34" charset="0"/>
                <a:ea typeface="Space Grotesk" pitchFamily="34" charset="-122"/>
                <a:cs typeface="Space Grotesk" pitchFamily="34" charset="-120"/>
              </a:rPr>
              <a:t>Pump</a:t>
            </a:r>
            <a:endParaRPr lang="en-US" sz="1600" dirty="0"/>
          </a:p>
        </p:txBody>
      </p:sp>
      <p:sp>
        <p:nvSpPr>
          <p:cNvPr id="27" name="Text 21"/>
          <p:cNvSpPr/>
          <p:nvPr/>
        </p:nvSpPr>
        <p:spPr>
          <a:xfrm>
            <a:off x="9903396" y="5194102"/>
            <a:ext cx="1348953"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A8D672"/>
                </a:solidFill>
                <a:latin typeface="JetBrains Mono" pitchFamily="49" charset="0"/>
                <a:ea typeface="JetBrains Mono" pitchFamily="49" charset="-122"/>
                <a:cs typeface="JetBrains Mono" pitchFamily="49" charset="-120"/>
              </a:rPr>
              <a:t>DaemonControl</a:t>
            </a:r>
            <a:endParaRPr lang="en-US" sz="1200" dirty="0"/>
          </a:p>
        </p:txBody>
      </p:sp>
      <p:sp>
        <p:nvSpPr>
          <p:cNvPr id="28" name="Text 22"/>
          <p:cNvSpPr/>
          <p:nvPr/>
        </p:nvSpPr>
        <p:spPr>
          <a:xfrm>
            <a:off x="812726" y="6238379"/>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76F"/>
                </a:solidFill>
                <a:latin typeface="IBM Plex Sans" pitchFamily="34" charset="0"/>
                <a:ea typeface="IBM Plex Sans" pitchFamily="34" charset="-122"/>
                <a:cs typeface="IBM Plex Sans" pitchFamily="34" charset="-120"/>
              </a:rPr>
              <a:t>B10 · Design Patterns in Mycodo</a:t>
            </a:r>
            <a:endParaRPr lang="en-US" sz="1200" dirty="0"/>
          </a:p>
        </p:txBody>
      </p:sp>
      <p:sp>
        <p:nvSpPr>
          <p:cNvPr id="29" name="Text 23"/>
          <p:cNvSpPr/>
          <p:nvPr/>
        </p:nvSpPr>
        <p:spPr>
          <a:xfrm>
            <a:off x="10058474" y="6238379"/>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776F"/>
                </a:solidFill>
                <a:latin typeface="IBM Plex Sans" pitchFamily="34" charset="0"/>
                <a:ea typeface="IBM Plex Sans" pitchFamily="34" charset="-122"/>
                <a:cs typeface="IBM Plex Sans" pitchFamily="34" charset="-120"/>
              </a:rPr>
              <a:t>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bg>
      <p:bgPr>
        <a:solidFill>
          <a:srgbClr val="13261F"/>
        </a:solidFill>
        <a:effectLst/>
      </p:bgPr>
    </p:bg>
    <p:spTree>
      <p:nvGrpSpPr>
        <p:cNvPr id="1" name=""/>
        <p:cNvGrpSpPr/>
        <p:nvPr/>
      </p:nvGrpSpPr>
      <p:grpSpPr>
        <a:xfrm>
          <a:off x="0" y="0"/>
          <a:ext cx="0" cy="0"/>
          <a:chOff x="0" y="0"/>
          <a:chExt cx="0" cy="0"/>
        </a:xfrm>
      </p:grpSpPr>
      <p:sp>
        <p:nvSpPr>
          <p:cNvPr id="2" name="Text 0"/>
          <p:cNvSpPr/>
          <p:nvPr/>
        </p:nvSpPr>
        <p:spPr>
          <a:xfrm>
            <a:off x="812726" y="812726"/>
            <a:ext cx="10883545" cy="238720"/>
          </a:xfrm>
          <a:prstGeom prst="rect">
            <a:avLst/>
          </a:prstGeom>
          <a:noFill/>
          <a:ln/>
        </p:spPr>
        <p:txBody>
          <a:bodyPr wrap="square" lIns="0" tIns="0" rIns="0" bIns="0" rtlCol="0" anchor="t">
            <a:normAutofit/>
          </a:bodyPr>
          <a:lstStyle/>
          <a:p>
            <a:pPr marL="0" indent="0" algn="l">
              <a:lnSpc>
                <a:spcPts val="1680"/>
              </a:lnSpc>
              <a:buNone/>
            </a:pPr>
            <a:r>
              <a:rPr lang="en-US" sz="1200" b="1" kern="0" spc="200" dirty="0">
                <a:solidFill>
                  <a:srgbClr val="A8D672"/>
                </a:solidFill>
                <a:latin typeface="IBM Plex Sans" pitchFamily="34" charset="0"/>
                <a:ea typeface="IBM Plex Sans" pitchFamily="34" charset="-122"/>
                <a:cs typeface="IBM Plex Sans" pitchFamily="34" charset="-120"/>
              </a:rPr>
              <a:t>PART 1 · PATTERN DISCOVERY</a:t>
            </a:r>
            <a:endParaRPr lang="en-US" sz="1200" dirty="0"/>
          </a:p>
        </p:txBody>
      </p:sp>
      <p:sp>
        <p:nvSpPr>
          <p:cNvPr id="3" name="Text 1"/>
          <p:cNvSpPr>
            <a:spLocks noGrp="1"/>
          </p:cNvSpPr>
          <p:nvPr>
            <p:ph type="title"/>
          </p:nvPr>
        </p:nvSpPr>
        <p:spPr>
          <a:xfrm>
            <a:off x="812726" y="1127621"/>
            <a:ext cx="10883545" cy="528191"/>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F5F3EA"/>
                </a:solidFill>
                <a:latin typeface="Space Grotesk" pitchFamily="34" charset="0"/>
                <a:ea typeface="Space Grotesk" pitchFamily="34" charset="-122"/>
                <a:cs typeface="Space Grotesk" pitchFamily="34" charset="-120"/>
              </a:rPr>
              <a:t>What is already inside Mycodo?</a:t>
            </a:r>
            <a:endParaRPr lang="en-US" sz="3600" dirty="0"/>
          </a:p>
        </p:txBody>
      </p:sp>
      <p:sp>
        <p:nvSpPr>
          <p:cNvPr id="4" name="Shape 2"/>
          <p:cNvSpPr/>
          <p:nvPr/>
        </p:nvSpPr>
        <p:spPr>
          <a:xfrm>
            <a:off x="812726" y="2762721"/>
            <a:ext cx="2489274" cy="0"/>
          </a:xfrm>
          <a:prstGeom prst="line">
            <a:avLst/>
          </a:prstGeom>
          <a:noFill/>
          <a:ln w="19050">
            <a:solidFill>
              <a:srgbClr val="A8D672"/>
            </a:solidFill>
            <a:prstDash val="solid"/>
          </a:ln>
        </p:spPr>
      </p:sp>
      <p:sp>
        <p:nvSpPr>
          <p:cNvPr id="5" name="Text 3"/>
          <p:cNvSpPr/>
          <p:nvPr/>
        </p:nvSpPr>
        <p:spPr>
          <a:xfrm>
            <a:off x="812726" y="2972222"/>
            <a:ext cx="2563953" cy="787400"/>
          </a:xfrm>
          <a:prstGeom prst="rect">
            <a:avLst/>
          </a:prstGeom>
          <a:noFill/>
          <a:ln/>
        </p:spPr>
        <p:txBody>
          <a:bodyPr wrap="square" lIns="0" tIns="0" rIns="0" bIns="0" rtlCol="0" anchor="t">
            <a:normAutofit/>
          </a:bodyPr>
          <a:lstStyle/>
          <a:p>
            <a:pPr marL="0" indent="0" algn="l">
              <a:lnSpc>
                <a:spcPts val="6000"/>
              </a:lnSpc>
              <a:buNone/>
            </a:pPr>
            <a:r>
              <a:rPr lang="en-US" sz="6000" b="1" dirty="0">
                <a:solidFill>
                  <a:srgbClr val="A8D672"/>
                </a:solidFill>
                <a:latin typeface="Space Grotesk" pitchFamily="34" charset="0"/>
                <a:ea typeface="Space Grotesk" pitchFamily="34" charset="-122"/>
                <a:cs typeface="Space Grotesk" pitchFamily="34" charset="-120"/>
              </a:rPr>
              <a:t>8</a:t>
            </a:r>
            <a:endParaRPr lang="en-US" sz="6000" dirty="0"/>
          </a:p>
        </p:txBody>
      </p:sp>
      <p:sp>
        <p:nvSpPr>
          <p:cNvPr id="6" name="Text 4"/>
          <p:cNvSpPr/>
          <p:nvPr/>
        </p:nvSpPr>
        <p:spPr>
          <a:xfrm>
            <a:off x="812726" y="3784947"/>
            <a:ext cx="2563953" cy="309786"/>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C9D8CE"/>
                </a:solidFill>
                <a:latin typeface="IBM Plex Sans" pitchFamily="34" charset="0"/>
                <a:ea typeface="IBM Plex Sans" pitchFamily="34" charset="-122"/>
                <a:cs typeface="IBM Plex Sans" pitchFamily="34" charset="-120"/>
              </a:rPr>
              <a:t>pattern types</a:t>
            </a:r>
            <a:endParaRPr lang="en-US" sz="1600" dirty="0"/>
          </a:p>
        </p:txBody>
      </p:sp>
      <p:sp>
        <p:nvSpPr>
          <p:cNvPr id="7" name="Shape 5"/>
          <p:cNvSpPr/>
          <p:nvPr/>
        </p:nvSpPr>
        <p:spPr>
          <a:xfrm>
            <a:off x="3505150" y="2762721"/>
            <a:ext cx="2489274" cy="0"/>
          </a:xfrm>
          <a:prstGeom prst="line">
            <a:avLst/>
          </a:prstGeom>
          <a:noFill/>
          <a:ln w="19050">
            <a:solidFill>
              <a:srgbClr val="A8D672"/>
            </a:solidFill>
            <a:prstDash val="solid"/>
          </a:ln>
        </p:spPr>
      </p:sp>
      <p:sp>
        <p:nvSpPr>
          <p:cNvPr id="8" name="Text 6"/>
          <p:cNvSpPr/>
          <p:nvPr/>
        </p:nvSpPr>
        <p:spPr>
          <a:xfrm>
            <a:off x="3505150" y="2972222"/>
            <a:ext cx="2563953" cy="787400"/>
          </a:xfrm>
          <a:prstGeom prst="rect">
            <a:avLst/>
          </a:prstGeom>
          <a:noFill/>
          <a:ln/>
        </p:spPr>
        <p:txBody>
          <a:bodyPr wrap="square" lIns="0" tIns="0" rIns="0" bIns="0" rtlCol="0" anchor="t">
            <a:normAutofit/>
          </a:bodyPr>
          <a:lstStyle/>
          <a:p>
            <a:pPr marL="0" indent="0" algn="l">
              <a:lnSpc>
                <a:spcPts val="6000"/>
              </a:lnSpc>
              <a:buNone/>
            </a:pPr>
            <a:r>
              <a:rPr lang="en-US" sz="6000" b="1" dirty="0">
                <a:solidFill>
                  <a:srgbClr val="A8D672"/>
                </a:solidFill>
                <a:latin typeface="Space Grotesk" pitchFamily="34" charset="0"/>
                <a:ea typeface="Space Grotesk" pitchFamily="34" charset="-122"/>
                <a:cs typeface="Space Grotesk" pitchFamily="34" charset="-120"/>
              </a:rPr>
              <a:t>13</a:t>
            </a:r>
            <a:endParaRPr lang="en-US" sz="6000" dirty="0"/>
          </a:p>
        </p:txBody>
      </p:sp>
      <p:sp>
        <p:nvSpPr>
          <p:cNvPr id="9" name="Text 7"/>
          <p:cNvSpPr/>
          <p:nvPr/>
        </p:nvSpPr>
        <p:spPr>
          <a:xfrm>
            <a:off x="3505150" y="3784947"/>
            <a:ext cx="2563953" cy="309786"/>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C9D8CE"/>
                </a:solidFill>
                <a:latin typeface="IBM Plex Sans" pitchFamily="34" charset="0"/>
                <a:ea typeface="IBM Plex Sans" pitchFamily="34" charset="-122"/>
                <a:cs typeface="IBM Plex Sans" pitchFamily="34" charset="-120"/>
              </a:rPr>
              <a:t>confirmed instances</a:t>
            </a:r>
            <a:endParaRPr lang="en-US" sz="1600" dirty="0"/>
          </a:p>
        </p:txBody>
      </p:sp>
      <p:sp>
        <p:nvSpPr>
          <p:cNvPr id="10" name="Shape 8"/>
          <p:cNvSpPr/>
          <p:nvPr/>
        </p:nvSpPr>
        <p:spPr>
          <a:xfrm>
            <a:off x="6197575" y="2762721"/>
            <a:ext cx="2489274" cy="0"/>
          </a:xfrm>
          <a:prstGeom prst="line">
            <a:avLst/>
          </a:prstGeom>
          <a:noFill/>
          <a:ln w="19050">
            <a:solidFill>
              <a:srgbClr val="A8D672"/>
            </a:solidFill>
            <a:prstDash val="solid"/>
          </a:ln>
        </p:spPr>
      </p:sp>
      <p:sp>
        <p:nvSpPr>
          <p:cNvPr id="11" name="Text 9"/>
          <p:cNvSpPr/>
          <p:nvPr/>
        </p:nvSpPr>
        <p:spPr>
          <a:xfrm>
            <a:off x="6197575" y="2972222"/>
            <a:ext cx="2563953" cy="787400"/>
          </a:xfrm>
          <a:prstGeom prst="rect">
            <a:avLst/>
          </a:prstGeom>
          <a:noFill/>
          <a:ln/>
        </p:spPr>
        <p:txBody>
          <a:bodyPr wrap="square" lIns="0" tIns="0" rIns="0" bIns="0" rtlCol="0" anchor="t">
            <a:normAutofit/>
          </a:bodyPr>
          <a:lstStyle/>
          <a:p>
            <a:pPr marL="0" indent="0" algn="l">
              <a:lnSpc>
                <a:spcPts val="6000"/>
              </a:lnSpc>
              <a:buNone/>
            </a:pPr>
            <a:r>
              <a:rPr lang="en-US" sz="6000" b="1" dirty="0">
                <a:solidFill>
                  <a:srgbClr val="A8D672"/>
                </a:solidFill>
                <a:latin typeface="Space Grotesk" pitchFamily="34" charset="0"/>
                <a:ea typeface="Space Grotesk" pitchFamily="34" charset="-122"/>
                <a:cs typeface="Space Grotesk" pitchFamily="34" charset="-120"/>
              </a:rPr>
              <a:t>18</a:t>
            </a:r>
            <a:endParaRPr lang="en-US" sz="6000" dirty="0"/>
          </a:p>
        </p:txBody>
      </p:sp>
      <p:sp>
        <p:nvSpPr>
          <p:cNvPr id="12" name="Text 10"/>
          <p:cNvSpPr/>
          <p:nvPr/>
        </p:nvSpPr>
        <p:spPr>
          <a:xfrm>
            <a:off x="6197575" y="3784947"/>
            <a:ext cx="2563953" cy="309786"/>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C9D8CE"/>
                </a:solidFill>
                <a:latin typeface="IBM Plex Sans" pitchFamily="34" charset="0"/>
                <a:ea typeface="IBM Plex Sans" pitchFamily="34" charset="-122"/>
                <a:cs typeface="IBM Plex Sans" pitchFamily="34" charset="-120"/>
              </a:rPr>
              <a:t>concrete classes</a:t>
            </a:r>
            <a:endParaRPr lang="en-US" sz="1600" dirty="0"/>
          </a:p>
        </p:txBody>
      </p:sp>
      <p:sp>
        <p:nvSpPr>
          <p:cNvPr id="13" name="Shape 11"/>
          <p:cNvSpPr/>
          <p:nvPr/>
        </p:nvSpPr>
        <p:spPr>
          <a:xfrm>
            <a:off x="8890000" y="2762721"/>
            <a:ext cx="2489274" cy="0"/>
          </a:xfrm>
          <a:prstGeom prst="line">
            <a:avLst/>
          </a:prstGeom>
          <a:noFill/>
          <a:ln w="19050">
            <a:solidFill>
              <a:srgbClr val="E3A33B"/>
            </a:solidFill>
            <a:prstDash val="solid"/>
          </a:ln>
        </p:spPr>
      </p:sp>
      <p:sp>
        <p:nvSpPr>
          <p:cNvPr id="14" name="Text 12"/>
          <p:cNvSpPr/>
          <p:nvPr/>
        </p:nvSpPr>
        <p:spPr>
          <a:xfrm>
            <a:off x="8890000" y="2972222"/>
            <a:ext cx="2563953" cy="787400"/>
          </a:xfrm>
          <a:prstGeom prst="rect">
            <a:avLst/>
          </a:prstGeom>
          <a:noFill/>
          <a:ln/>
        </p:spPr>
        <p:txBody>
          <a:bodyPr wrap="square" lIns="0" tIns="0" rIns="0" bIns="0" rtlCol="0" anchor="t">
            <a:normAutofit/>
          </a:bodyPr>
          <a:lstStyle/>
          <a:p>
            <a:pPr marL="0" indent="0" algn="l">
              <a:lnSpc>
                <a:spcPts val="6000"/>
              </a:lnSpc>
              <a:buNone/>
            </a:pPr>
            <a:r>
              <a:rPr lang="en-US" sz="6000" b="1" dirty="0">
                <a:solidFill>
                  <a:srgbClr val="E3A33B"/>
                </a:solidFill>
                <a:latin typeface="Space Grotesk" pitchFamily="34" charset="0"/>
                <a:ea typeface="Space Grotesk" pitchFamily="34" charset="-122"/>
                <a:cs typeface="Space Grotesk" pitchFamily="34" charset="-120"/>
              </a:rPr>
              <a:t>28</a:t>
            </a:r>
            <a:endParaRPr lang="en-US" sz="6000" dirty="0"/>
          </a:p>
        </p:txBody>
      </p:sp>
      <p:sp>
        <p:nvSpPr>
          <p:cNvPr id="15" name="Text 13"/>
          <p:cNvSpPr/>
          <p:nvPr/>
        </p:nvSpPr>
        <p:spPr>
          <a:xfrm>
            <a:off x="8890000" y="3784947"/>
            <a:ext cx="2563953" cy="594171"/>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C9D8CE"/>
                </a:solidFill>
                <a:latin typeface="IBM Plex Sans" pitchFamily="34" charset="0"/>
                <a:ea typeface="IBM Plex Sans" pitchFamily="34" charset="-122"/>
                <a:cs typeface="IBM Plex Sans" pitchFamily="34" charset="-120"/>
              </a:rPr>
              <a:t>candidates rejected (23) or uncertain (5)</a:t>
            </a:r>
            <a:endParaRPr lang="en-US" sz="1600" dirty="0"/>
          </a:p>
        </p:txBody>
      </p:sp>
      <p:sp>
        <p:nvSpPr>
          <p:cNvPr id="16" name="Text 14"/>
          <p:cNvSpPr/>
          <p:nvPr/>
        </p:nvSpPr>
        <p:spPr>
          <a:xfrm>
            <a:off x="812726" y="5476503"/>
            <a:ext cx="9156700" cy="594171"/>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C9D8CE"/>
                </a:solidFill>
                <a:latin typeface="IBM Plex Sans" pitchFamily="34" charset="0"/>
                <a:ea typeface="IBM Plex Sans" pitchFamily="34" charset="-122"/>
                <a:cs typeface="IBM Plex Sans" pitchFamily="34" charset="-120"/>
              </a:rPr>
              <a:t>A pattern counted only when the collaboration was visible in the code: who calls whom, who extends whom, at which line. A class name alone was never enough.</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bg>
      <p:bgPr>
        <a:solidFill>
          <a:srgbClr val="F5F3EA"/>
        </a:solidFill>
        <a:effectLst/>
      </p:bgPr>
    </p:bg>
    <p:spTree>
      <p:nvGrpSpPr>
        <p:cNvPr id="1" name=""/>
        <p:cNvGrpSpPr/>
        <p:nvPr/>
      </p:nvGrpSpPr>
      <p:grpSpPr>
        <a:xfrm>
          <a:off x="0" y="0"/>
          <a:ext cx="0" cy="0"/>
          <a:chOff x="0" y="0"/>
          <a:chExt cx="0" cy="0"/>
        </a:xfrm>
      </p:grpSpPr>
      <p:sp>
        <p:nvSpPr>
          <p:cNvPr id="2" name="Text 0"/>
          <p:cNvSpPr/>
          <p:nvPr/>
        </p:nvSpPr>
        <p:spPr>
          <a:xfrm>
            <a:off x="812726" y="812726"/>
            <a:ext cx="10883545" cy="238720"/>
          </a:xfrm>
          <a:prstGeom prst="rect">
            <a:avLst/>
          </a:prstGeom>
          <a:noFill/>
          <a:ln/>
        </p:spPr>
        <p:txBody>
          <a:bodyPr wrap="square" lIns="0" tIns="0" rIns="0" bIns="0" rtlCol="0" anchor="t">
            <a:normAutofit/>
          </a:bodyPr>
          <a:lstStyle/>
          <a:p>
            <a:pPr marL="0" indent="0" algn="l">
              <a:lnSpc>
                <a:spcPts val="1680"/>
              </a:lnSpc>
              <a:buNone/>
            </a:pPr>
            <a:r>
              <a:rPr lang="en-US" sz="1200" b="1" kern="0" spc="200" dirty="0">
                <a:solidFill>
                  <a:srgbClr val="2F7D4A"/>
                </a:solidFill>
                <a:latin typeface="IBM Plex Sans" pitchFamily="34" charset="0"/>
                <a:ea typeface="IBM Plex Sans" pitchFamily="34" charset="-122"/>
                <a:cs typeface="IBM Plex Sans" pitchFamily="34" charset="-120"/>
              </a:rPr>
              <a:t>PATTERN INVENTORY</a:t>
            </a:r>
            <a:endParaRPr lang="en-US" sz="1200" dirty="0"/>
          </a:p>
        </p:txBody>
      </p:sp>
      <p:sp>
        <p:nvSpPr>
          <p:cNvPr id="3" name="Text 1"/>
          <p:cNvSpPr>
            <a:spLocks noGrp="1"/>
          </p:cNvSpPr>
          <p:nvPr>
            <p:ph type="title"/>
          </p:nvPr>
        </p:nvSpPr>
        <p:spPr>
          <a:xfrm>
            <a:off x="812726" y="1127621"/>
            <a:ext cx="10883545" cy="528191"/>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3261F"/>
                </a:solidFill>
                <a:latin typeface="Space Grotesk" pitchFamily="34" charset="0"/>
                <a:ea typeface="Space Grotesk" pitchFamily="34" charset="-122"/>
                <a:cs typeface="Space Grotesk" pitchFamily="34" charset="-120"/>
              </a:rPr>
              <a:t>Template Method carries the design</a:t>
            </a:r>
            <a:endParaRPr lang="en-US" sz="3600" dirty="0"/>
          </a:p>
        </p:txBody>
      </p:sp>
      <p:sp>
        <p:nvSpPr>
          <p:cNvPr id="4" name="Text 2"/>
          <p:cNvSpPr/>
          <p:nvPr/>
        </p:nvSpPr>
        <p:spPr>
          <a:xfrm>
            <a:off x="812726" y="1935138"/>
            <a:ext cx="1962150" cy="309786"/>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13261F"/>
                </a:solidFill>
                <a:latin typeface="IBM Plex Sans" pitchFamily="34" charset="0"/>
                <a:ea typeface="IBM Plex Sans" pitchFamily="34" charset="-122"/>
                <a:cs typeface="IBM Plex Sans" pitchFamily="34" charset="-120"/>
              </a:rPr>
              <a:t>Template Method</a:t>
            </a:r>
            <a:endParaRPr lang="en-US" sz="1600" dirty="0"/>
          </a:p>
        </p:txBody>
      </p:sp>
      <p:sp>
        <p:nvSpPr>
          <p:cNvPr id="5" name="Shape 3"/>
          <p:cNvSpPr/>
          <p:nvPr/>
        </p:nvSpPr>
        <p:spPr>
          <a:xfrm>
            <a:off x="2870026" y="1963043"/>
            <a:ext cx="3810000" cy="228575"/>
          </a:xfrm>
          <a:prstGeom prst="roundRect">
            <a:avLst>
              <a:gd name="adj" fmla="val 16668"/>
            </a:avLst>
          </a:prstGeom>
          <a:solidFill>
            <a:srgbClr val="2F7D4A"/>
          </a:solidFill>
          <a:ln/>
        </p:spPr>
      </p:sp>
      <p:sp>
        <p:nvSpPr>
          <p:cNvPr id="6" name="Text 4"/>
          <p:cNvSpPr/>
          <p:nvPr/>
        </p:nvSpPr>
        <p:spPr>
          <a:xfrm>
            <a:off x="6832327" y="1935138"/>
            <a:ext cx="172839" cy="309786"/>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13261F"/>
                </a:solidFill>
                <a:latin typeface="IBM Plex Sans" pitchFamily="34" charset="0"/>
                <a:ea typeface="IBM Plex Sans" pitchFamily="34" charset="-122"/>
                <a:cs typeface="IBM Plex Sans" pitchFamily="34" charset="-120"/>
              </a:rPr>
              <a:t>6</a:t>
            </a:r>
            <a:endParaRPr lang="en-US" sz="1600" dirty="0"/>
          </a:p>
        </p:txBody>
      </p:sp>
      <p:sp>
        <p:nvSpPr>
          <p:cNvPr id="7" name="Text 5"/>
          <p:cNvSpPr/>
          <p:nvPr/>
        </p:nvSpPr>
        <p:spPr>
          <a:xfrm>
            <a:off x="812726" y="2308324"/>
            <a:ext cx="1962150" cy="309786"/>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13261F"/>
                </a:solidFill>
                <a:latin typeface="IBM Plex Sans" pitchFamily="34" charset="0"/>
                <a:ea typeface="IBM Plex Sans" pitchFamily="34" charset="-122"/>
                <a:cs typeface="IBM Plex Sans" pitchFamily="34" charset="-120"/>
              </a:rPr>
              <a:t>Strategy</a:t>
            </a:r>
            <a:endParaRPr lang="en-US" sz="1600" dirty="0"/>
          </a:p>
        </p:txBody>
      </p:sp>
      <p:sp>
        <p:nvSpPr>
          <p:cNvPr id="8" name="Shape 6"/>
          <p:cNvSpPr/>
          <p:nvPr/>
        </p:nvSpPr>
        <p:spPr>
          <a:xfrm>
            <a:off x="2870026" y="2336229"/>
            <a:ext cx="635000" cy="228575"/>
          </a:xfrm>
          <a:prstGeom prst="roundRect">
            <a:avLst>
              <a:gd name="adj" fmla="val 16668"/>
            </a:avLst>
          </a:prstGeom>
          <a:solidFill>
            <a:srgbClr val="2F7D4A"/>
          </a:solidFill>
          <a:ln/>
        </p:spPr>
      </p:sp>
      <p:sp>
        <p:nvSpPr>
          <p:cNvPr id="9" name="Text 7"/>
          <p:cNvSpPr/>
          <p:nvPr/>
        </p:nvSpPr>
        <p:spPr>
          <a:xfrm>
            <a:off x="3657327" y="2308324"/>
            <a:ext cx="172839" cy="309786"/>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13261F"/>
                </a:solidFill>
                <a:latin typeface="IBM Plex Sans" pitchFamily="34" charset="0"/>
                <a:ea typeface="IBM Plex Sans" pitchFamily="34" charset="-122"/>
                <a:cs typeface="IBM Plex Sans" pitchFamily="34" charset="-120"/>
              </a:rPr>
              <a:t>1</a:t>
            </a:r>
            <a:endParaRPr lang="en-US" sz="1600" dirty="0"/>
          </a:p>
        </p:txBody>
      </p:sp>
      <p:sp>
        <p:nvSpPr>
          <p:cNvPr id="10" name="Text 8"/>
          <p:cNvSpPr/>
          <p:nvPr/>
        </p:nvSpPr>
        <p:spPr>
          <a:xfrm>
            <a:off x="812726" y="2681511"/>
            <a:ext cx="1962150" cy="309786"/>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13261F"/>
                </a:solidFill>
                <a:latin typeface="IBM Plex Sans" pitchFamily="34" charset="0"/>
                <a:ea typeface="IBM Plex Sans" pitchFamily="34" charset="-122"/>
                <a:cs typeface="IBM Plex Sans" pitchFamily="34" charset="-120"/>
              </a:rPr>
              <a:t>Command</a:t>
            </a:r>
            <a:endParaRPr lang="en-US" sz="1600" dirty="0"/>
          </a:p>
        </p:txBody>
      </p:sp>
      <p:sp>
        <p:nvSpPr>
          <p:cNvPr id="11" name="Shape 9"/>
          <p:cNvSpPr/>
          <p:nvPr/>
        </p:nvSpPr>
        <p:spPr>
          <a:xfrm>
            <a:off x="2870026" y="2709416"/>
            <a:ext cx="635000" cy="228575"/>
          </a:xfrm>
          <a:prstGeom prst="roundRect">
            <a:avLst>
              <a:gd name="adj" fmla="val 16668"/>
            </a:avLst>
          </a:prstGeom>
          <a:solidFill>
            <a:srgbClr val="2F7D4A"/>
          </a:solidFill>
          <a:ln/>
        </p:spPr>
      </p:sp>
      <p:sp>
        <p:nvSpPr>
          <p:cNvPr id="12" name="Text 10"/>
          <p:cNvSpPr/>
          <p:nvPr/>
        </p:nvSpPr>
        <p:spPr>
          <a:xfrm>
            <a:off x="3657327" y="2681511"/>
            <a:ext cx="172839" cy="309786"/>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13261F"/>
                </a:solidFill>
                <a:latin typeface="IBM Plex Sans" pitchFamily="34" charset="0"/>
                <a:ea typeface="IBM Plex Sans" pitchFamily="34" charset="-122"/>
                <a:cs typeface="IBM Plex Sans" pitchFamily="34" charset="-120"/>
              </a:rPr>
              <a:t>1</a:t>
            </a:r>
            <a:endParaRPr lang="en-US" sz="1600" dirty="0"/>
          </a:p>
        </p:txBody>
      </p:sp>
      <p:sp>
        <p:nvSpPr>
          <p:cNvPr id="13" name="Text 11"/>
          <p:cNvSpPr/>
          <p:nvPr/>
        </p:nvSpPr>
        <p:spPr>
          <a:xfrm>
            <a:off x="812726" y="3054697"/>
            <a:ext cx="1962150" cy="309786"/>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13261F"/>
                </a:solidFill>
                <a:latin typeface="IBM Plex Sans" pitchFamily="34" charset="0"/>
                <a:ea typeface="IBM Plex Sans" pitchFamily="34" charset="-122"/>
                <a:cs typeface="IBM Plex Sans" pitchFamily="34" charset="-120"/>
              </a:rPr>
              <a:t>Adapter</a:t>
            </a:r>
            <a:endParaRPr lang="en-US" sz="1600" dirty="0"/>
          </a:p>
        </p:txBody>
      </p:sp>
      <p:sp>
        <p:nvSpPr>
          <p:cNvPr id="14" name="Shape 12"/>
          <p:cNvSpPr/>
          <p:nvPr/>
        </p:nvSpPr>
        <p:spPr>
          <a:xfrm>
            <a:off x="2870026" y="3082603"/>
            <a:ext cx="635000" cy="228575"/>
          </a:xfrm>
          <a:prstGeom prst="roundRect">
            <a:avLst>
              <a:gd name="adj" fmla="val 16668"/>
            </a:avLst>
          </a:prstGeom>
          <a:solidFill>
            <a:srgbClr val="E3A33B"/>
          </a:solidFill>
          <a:ln/>
        </p:spPr>
      </p:sp>
      <p:sp>
        <p:nvSpPr>
          <p:cNvPr id="15" name="Text 13"/>
          <p:cNvSpPr/>
          <p:nvPr/>
        </p:nvSpPr>
        <p:spPr>
          <a:xfrm>
            <a:off x="3657327" y="3054697"/>
            <a:ext cx="172839" cy="309786"/>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13261F"/>
                </a:solidFill>
                <a:latin typeface="IBM Plex Sans" pitchFamily="34" charset="0"/>
                <a:ea typeface="IBM Plex Sans" pitchFamily="34" charset="-122"/>
                <a:cs typeface="IBM Plex Sans" pitchFamily="34" charset="-120"/>
              </a:rPr>
              <a:t>1</a:t>
            </a:r>
            <a:endParaRPr lang="en-US" sz="1600" dirty="0"/>
          </a:p>
        </p:txBody>
      </p:sp>
      <p:sp>
        <p:nvSpPr>
          <p:cNvPr id="16" name="Text 14"/>
          <p:cNvSpPr/>
          <p:nvPr/>
        </p:nvSpPr>
        <p:spPr>
          <a:xfrm>
            <a:off x="812726" y="3427884"/>
            <a:ext cx="1962150" cy="309786"/>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13261F"/>
                </a:solidFill>
                <a:latin typeface="IBM Plex Sans" pitchFamily="34" charset="0"/>
                <a:ea typeface="IBM Plex Sans" pitchFamily="34" charset="-122"/>
                <a:cs typeface="IBM Plex Sans" pitchFamily="34" charset="-120"/>
              </a:rPr>
              <a:t>Proxy</a:t>
            </a:r>
            <a:endParaRPr lang="en-US" sz="1600" dirty="0"/>
          </a:p>
        </p:txBody>
      </p:sp>
      <p:sp>
        <p:nvSpPr>
          <p:cNvPr id="17" name="Shape 15"/>
          <p:cNvSpPr/>
          <p:nvPr/>
        </p:nvSpPr>
        <p:spPr>
          <a:xfrm>
            <a:off x="2870026" y="3455789"/>
            <a:ext cx="635000" cy="228575"/>
          </a:xfrm>
          <a:prstGeom prst="roundRect">
            <a:avLst>
              <a:gd name="adj" fmla="val 16668"/>
            </a:avLst>
          </a:prstGeom>
          <a:solidFill>
            <a:srgbClr val="E3A33B"/>
          </a:solidFill>
          <a:ln/>
        </p:spPr>
      </p:sp>
      <p:sp>
        <p:nvSpPr>
          <p:cNvPr id="18" name="Text 16"/>
          <p:cNvSpPr/>
          <p:nvPr/>
        </p:nvSpPr>
        <p:spPr>
          <a:xfrm>
            <a:off x="3657327" y="3427884"/>
            <a:ext cx="172839" cy="309786"/>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13261F"/>
                </a:solidFill>
                <a:latin typeface="IBM Plex Sans" pitchFamily="34" charset="0"/>
                <a:ea typeface="IBM Plex Sans" pitchFamily="34" charset="-122"/>
                <a:cs typeface="IBM Plex Sans" pitchFamily="34" charset="-120"/>
              </a:rPr>
              <a:t>1</a:t>
            </a:r>
            <a:endParaRPr lang="en-US" sz="1600" dirty="0"/>
          </a:p>
        </p:txBody>
      </p:sp>
      <p:sp>
        <p:nvSpPr>
          <p:cNvPr id="19" name="Text 17"/>
          <p:cNvSpPr/>
          <p:nvPr/>
        </p:nvSpPr>
        <p:spPr>
          <a:xfrm>
            <a:off x="812726" y="3801070"/>
            <a:ext cx="1962150" cy="309786"/>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13261F"/>
                </a:solidFill>
                <a:latin typeface="IBM Plex Sans" pitchFamily="34" charset="0"/>
                <a:ea typeface="IBM Plex Sans" pitchFamily="34" charset="-122"/>
                <a:cs typeface="IBM Plex Sans" pitchFamily="34" charset="-120"/>
              </a:rPr>
              <a:t>Plugin</a:t>
            </a:r>
            <a:endParaRPr lang="en-US" sz="1600" dirty="0"/>
          </a:p>
        </p:txBody>
      </p:sp>
      <p:sp>
        <p:nvSpPr>
          <p:cNvPr id="20" name="Shape 18"/>
          <p:cNvSpPr/>
          <p:nvPr/>
        </p:nvSpPr>
        <p:spPr>
          <a:xfrm>
            <a:off x="2870026" y="3828976"/>
            <a:ext cx="635000" cy="228575"/>
          </a:xfrm>
          <a:prstGeom prst="roundRect">
            <a:avLst>
              <a:gd name="adj" fmla="val 16668"/>
            </a:avLst>
          </a:prstGeom>
          <a:solidFill>
            <a:srgbClr val="5B7480"/>
          </a:solidFill>
          <a:ln/>
        </p:spPr>
      </p:sp>
      <p:sp>
        <p:nvSpPr>
          <p:cNvPr id="21" name="Text 19"/>
          <p:cNvSpPr/>
          <p:nvPr/>
        </p:nvSpPr>
        <p:spPr>
          <a:xfrm>
            <a:off x="3657327" y="3801070"/>
            <a:ext cx="172839" cy="309786"/>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13261F"/>
                </a:solidFill>
                <a:latin typeface="IBM Plex Sans" pitchFamily="34" charset="0"/>
                <a:ea typeface="IBM Plex Sans" pitchFamily="34" charset="-122"/>
                <a:cs typeface="IBM Plex Sans" pitchFamily="34" charset="-120"/>
              </a:rPr>
              <a:t>1</a:t>
            </a:r>
            <a:endParaRPr lang="en-US" sz="1600" dirty="0"/>
          </a:p>
        </p:txBody>
      </p:sp>
      <p:sp>
        <p:nvSpPr>
          <p:cNvPr id="22" name="Text 20"/>
          <p:cNvSpPr/>
          <p:nvPr/>
        </p:nvSpPr>
        <p:spPr>
          <a:xfrm>
            <a:off x="812726" y="4174257"/>
            <a:ext cx="1962150" cy="309786"/>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13261F"/>
                </a:solidFill>
                <a:latin typeface="IBM Plex Sans" pitchFamily="34" charset="0"/>
                <a:ea typeface="IBM Plex Sans" pitchFamily="34" charset="-122"/>
                <a:cs typeface="IBM Plex Sans" pitchFamily="34" charset="-120"/>
              </a:rPr>
              <a:t>Layer Supertype</a:t>
            </a:r>
            <a:endParaRPr lang="en-US" sz="1600" dirty="0"/>
          </a:p>
        </p:txBody>
      </p:sp>
      <p:sp>
        <p:nvSpPr>
          <p:cNvPr id="23" name="Shape 21"/>
          <p:cNvSpPr/>
          <p:nvPr/>
        </p:nvSpPr>
        <p:spPr>
          <a:xfrm>
            <a:off x="2870026" y="4202162"/>
            <a:ext cx="635000" cy="228575"/>
          </a:xfrm>
          <a:prstGeom prst="roundRect">
            <a:avLst>
              <a:gd name="adj" fmla="val 16668"/>
            </a:avLst>
          </a:prstGeom>
          <a:solidFill>
            <a:srgbClr val="5B7480"/>
          </a:solidFill>
          <a:ln/>
        </p:spPr>
      </p:sp>
      <p:sp>
        <p:nvSpPr>
          <p:cNvPr id="24" name="Text 22"/>
          <p:cNvSpPr/>
          <p:nvPr/>
        </p:nvSpPr>
        <p:spPr>
          <a:xfrm>
            <a:off x="3657327" y="4174257"/>
            <a:ext cx="172839" cy="309786"/>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13261F"/>
                </a:solidFill>
                <a:latin typeface="IBM Plex Sans" pitchFamily="34" charset="0"/>
                <a:ea typeface="IBM Plex Sans" pitchFamily="34" charset="-122"/>
                <a:cs typeface="IBM Plex Sans" pitchFamily="34" charset="-120"/>
              </a:rPr>
              <a:t>1</a:t>
            </a:r>
            <a:endParaRPr lang="en-US" sz="1600" dirty="0"/>
          </a:p>
        </p:txBody>
      </p:sp>
      <p:sp>
        <p:nvSpPr>
          <p:cNvPr id="25" name="Text 23"/>
          <p:cNvSpPr/>
          <p:nvPr/>
        </p:nvSpPr>
        <p:spPr>
          <a:xfrm>
            <a:off x="812726" y="4547443"/>
            <a:ext cx="1962150" cy="309786"/>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13261F"/>
                </a:solidFill>
                <a:latin typeface="IBM Plex Sans" pitchFamily="34" charset="0"/>
                <a:ea typeface="IBM Plex Sans" pitchFamily="34" charset="-122"/>
                <a:cs typeface="IBM Plex Sans" pitchFamily="34" charset="-120"/>
              </a:rPr>
              <a:t>Active Record</a:t>
            </a:r>
            <a:endParaRPr lang="en-US" sz="1600" dirty="0"/>
          </a:p>
        </p:txBody>
      </p:sp>
      <p:sp>
        <p:nvSpPr>
          <p:cNvPr id="26" name="Shape 24"/>
          <p:cNvSpPr/>
          <p:nvPr/>
        </p:nvSpPr>
        <p:spPr>
          <a:xfrm>
            <a:off x="2870026" y="4575349"/>
            <a:ext cx="635000" cy="228575"/>
          </a:xfrm>
          <a:prstGeom prst="roundRect">
            <a:avLst>
              <a:gd name="adj" fmla="val 16668"/>
            </a:avLst>
          </a:prstGeom>
          <a:solidFill>
            <a:srgbClr val="5B7480"/>
          </a:solidFill>
          <a:ln/>
        </p:spPr>
      </p:sp>
      <p:sp>
        <p:nvSpPr>
          <p:cNvPr id="27" name="Text 25"/>
          <p:cNvSpPr/>
          <p:nvPr/>
        </p:nvSpPr>
        <p:spPr>
          <a:xfrm>
            <a:off x="3657327" y="4547443"/>
            <a:ext cx="172839" cy="309786"/>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13261F"/>
                </a:solidFill>
                <a:latin typeface="IBM Plex Sans" pitchFamily="34" charset="0"/>
                <a:ea typeface="IBM Plex Sans" pitchFamily="34" charset="-122"/>
                <a:cs typeface="IBM Plex Sans" pitchFamily="34" charset="-120"/>
              </a:rPr>
              <a:t>1</a:t>
            </a:r>
            <a:endParaRPr lang="en-US" sz="1600" dirty="0"/>
          </a:p>
        </p:txBody>
      </p:sp>
      <p:sp>
        <p:nvSpPr>
          <p:cNvPr id="28" name="Shape 26"/>
          <p:cNvSpPr/>
          <p:nvPr/>
        </p:nvSpPr>
        <p:spPr>
          <a:xfrm>
            <a:off x="812726" y="5052715"/>
            <a:ext cx="152301" cy="152301"/>
          </a:xfrm>
          <a:prstGeom prst="roundRect">
            <a:avLst>
              <a:gd name="adj" fmla="val 16678"/>
            </a:avLst>
          </a:prstGeom>
          <a:solidFill>
            <a:srgbClr val="2F7D4A"/>
          </a:solidFill>
          <a:ln/>
        </p:spPr>
      </p:sp>
      <p:sp>
        <p:nvSpPr>
          <p:cNvPr id="29" name="Text 27"/>
          <p:cNvSpPr/>
          <p:nvPr/>
        </p:nvSpPr>
        <p:spPr>
          <a:xfrm>
            <a:off x="1028526" y="5022205"/>
            <a:ext cx="1231057"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B4A42"/>
                </a:solidFill>
                <a:latin typeface="IBM Plex Sans" pitchFamily="34" charset="0"/>
                <a:ea typeface="IBM Plex Sans" pitchFamily="34" charset="-122"/>
                <a:cs typeface="IBM Plex Sans" pitchFamily="34" charset="-120"/>
              </a:rPr>
              <a:t>GoF behavioral</a:t>
            </a:r>
            <a:endParaRPr lang="en-US" sz="1200" dirty="0"/>
          </a:p>
        </p:txBody>
      </p:sp>
      <p:sp>
        <p:nvSpPr>
          <p:cNvPr id="30" name="Shape 28"/>
          <p:cNvSpPr/>
          <p:nvPr/>
        </p:nvSpPr>
        <p:spPr>
          <a:xfrm>
            <a:off x="2259583" y="5052715"/>
            <a:ext cx="152301" cy="152301"/>
          </a:xfrm>
          <a:prstGeom prst="roundRect">
            <a:avLst>
              <a:gd name="adj" fmla="val 16678"/>
            </a:avLst>
          </a:prstGeom>
          <a:solidFill>
            <a:srgbClr val="E3A33B"/>
          </a:solidFill>
          <a:ln/>
        </p:spPr>
      </p:sp>
      <p:sp>
        <p:nvSpPr>
          <p:cNvPr id="31" name="Text 29"/>
          <p:cNvSpPr/>
          <p:nvPr/>
        </p:nvSpPr>
        <p:spPr>
          <a:xfrm>
            <a:off x="2475384" y="5022205"/>
            <a:ext cx="1171724"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B4A42"/>
                </a:solidFill>
                <a:latin typeface="IBM Plex Sans" pitchFamily="34" charset="0"/>
                <a:ea typeface="IBM Plex Sans" pitchFamily="34" charset="-122"/>
                <a:cs typeface="IBM Plex Sans" pitchFamily="34" charset="-120"/>
              </a:rPr>
              <a:t>GoF structural</a:t>
            </a:r>
            <a:endParaRPr lang="en-US" sz="1200" dirty="0"/>
          </a:p>
        </p:txBody>
      </p:sp>
      <p:sp>
        <p:nvSpPr>
          <p:cNvPr id="32" name="Shape 30"/>
          <p:cNvSpPr/>
          <p:nvPr/>
        </p:nvSpPr>
        <p:spPr>
          <a:xfrm>
            <a:off x="3654971" y="5052715"/>
            <a:ext cx="152301" cy="152301"/>
          </a:xfrm>
          <a:prstGeom prst="roundRect">
            <a:avLst>
              <a:gd name="adj" fmla="val 16678"/>
            </a:avLst>
          </a:prstGeom>
          <a:solidFill>
            <a:srgbClr val="5B7480"/>
          </a:solidFill>
          <a:ln/>
        </p:spPr>
      </p:sp>
      <p:sp>
        <p:nvSpPr>
          <p:cNvPr id="33" name="Text 31"/>
          <p:cNvSpPr/>
          <p:nvPr/>
        </p:nvSpPr>
        <p:spPr>
          <a:xfrm>
            <a:off x="3870771" y="5022205"/>
            <a:ext cx="1572518"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B4A42"/>
                </a:solidFill>
                <a:latin typeface="IBM Plex Sans" pitchFamily="34" charset="0"/>
                <a:ea typeface="IBM Plex Sans" pitchFamily="34" charset="-122"/>
                <a:cs typeface="IBM Plex Sans" pitchFamily="34" charset="-120"/>
              </a:rPr>
              <a:t>Enterprise (Fowler)</a:t>
            </a:r>
            <a:endParaRPr lang="en-US" sz="1200" dirty="0"/>
          </a:p>
        </p:txBody>
      </p:sp>
      <p:sp>
        <p:nvSpPr>
          <p:cNvPr id="34" name="Shape 32"/>
          <p:cNvSpPr/>
          <p:nvPr/>
        </p:nvSpPr>
        <p:spPr>
          <a:xfrm>
            <a:off x="8077274" y="1935138"/>
            <a:ext cx="3302000" cy="3047256"/>
          </a:xfrm>
          <a:prstGeom prst="roundRect">
            <a:avLst>
              <a:gd name="adj" fmla="val 5001"/>
            </a:avLst>
          </a:prstGeom>
          <a:solidFill>
            <a:srgbClr val="13261F"/>
          </a:solidFill>
          <a:ln/>
        </p:spPr>
      </p:sp>
      <p:sp>
        <p:nvSpPr>
          <p:cNvPr id="35" name="Text 33"/>
          <p:cNvSpPr/>
          <p:nvPr/>
        </p:nvSpPr>
        <p:spPr>
          <a:xfrm>
            <a:off x="8331274" y="2189138"/>
            <a:ext cx="2877820" cy="482550"/>
          </a:xfrm>
          <a:prstGeom prst="rect">
            <a:avLst/>
          </a:prstGeom>
          <a:noFill/>
          <a:ln/>
        </p:spPr>
        <p:txBody>
          <a:bodyPr wrap="square" lIns="0" tIns="0" rIns="0" bIns="0" rtlCol="0" anchor="t">
            <a:normAutofit/>
          </a:bodyPr>
          <a:lstStyle/>
          <a:p>
            <a:pPr marL="0" indent="0" algn="l">
              <a:lnSpc>
                <a:spcPts val="3600"/>
              </a:lnSpc>
              <a:buNone/>
            </a:pPr>
            <a:r>
              <a:rPr lang="en-US" sz="3600" b="1" dirty="0">
                <a:solidFill>
                  <a:srgbClr val="A8D672"/>
                </a:solidFill>
                <a:latin typeface="Space Grotesk" pitchFamily="34" charset="0"/>
                <a:ea typeface="Space Grotesk" pitchFamily="34" charset="-122"/>
                <a:cs typeface="Space Grotesk" pitchFamily="34" charset="-120"/>
              </a:rPr>
              <a:t>6 of 13</a:t>
            </a:r>
            <a:endParaRPr lang="en-US" sz="3600" dirty="0"/>
          </a:p>
        </p:txBody>
      </p:sp>
      <p:sp>
        <p:nvSpPr>
          <p:cNvPr id="36" name="Text 34"/>
          <p:cNvSpPr/>
          <p:nvPr/>
        </p:nvSpPr>
        <p:spPr>
          <a:xfrm>
            <a:off x="8331274" y="2798589"/>
            <a:ext cx="2877820" cy="1162943"/>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F5F3EA"/>
                </a:solidFill>
                <a:latin typeface="IBM Plex Sans" pitchFamily="34" charset="0"/>
                <a:ea typeface="IBM Plex Sans" pitchFamily="34" charset="-122"/>
                <a:cs typeface="IBM Plex Sans" pitchFamily="34" charset="-120"/>
              </a:rPr>
              <a:t>instances are Template Method: a base class fixes the algorithm and each device module fills in one step.</a:t>
            </a:r>
            <a:endParaRPr lang="en-US" sz="1600" dirty="0"/>
          </a:p>
        </p:txBody>
      </p:sp>
      <p:sp>
        <p:nvSpPr>
          <p:cNvPr id="37" name="Text 35"/>
          <p:cNvSpPr/>
          <p:nvPr/>
        </p:nvSpPr>
        <p:spPr>
          <a:xfrm>
            <a:off x="8331274" y="4088433"/>
            <a:ext cx="2877820" cy="66536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9D8CE"/>
                </a:solidFill>
                <a:latin typeface="IBM Plex Sans" pitchFamily="34" charset="0"/>
                <a:ea typeface="IBM Plex Sans" pitchFamily="34" charset="-122"/>
                <a:cs typeface="IBM Plex Sans" pitchFamily="34" charset="-120"/>
              </a:rPr>
              <a:t>Plugin, Layer Supertype and Active Record shape the architecture around them.</a:t>
            </a:r>
            <a:endParaRPr lang="en-US" sz="1200" dirty="0"/>
          </a:p>
        </p:txBody>
      </p:sp>
      <p:sp>
        <p:nvSpPr>
          <p:cNvPr id="38" name="Text 36"/>
          <p:cNvSpPr/>
          <p:nvPr/>
        </p:nvSpPr>
        <p:spPr>
          <a:xfrm>
            <a:off x="812726" y="6238379"/>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76F"/>
                </a:solidFill>
                <a:latin typeface="IBM Plex Sans" pitchFamily="34" charset="0"/>
                <a:ea typeface="IBM Plex Sans" pitchFamily="34" charset="-122"/>
                <a:cs typeface="IBM Plex Sans" pitchFamily="34" charset="-120"/>
              </a:rPr>
              <a:t>B10 · Design Patterns in Mycodo</a:t>
            </a:r>
            <a:endParaRPr lang="en-US" sz="1200" dirty="0"/>
          </a:p>
        </p:txBody>
      </p:sp>
      <p:sp>
        <p:nvSpPr>
          <p:cNvPr id="39" name="Text 37"/>
          <p:cNvSpPr/>
          <p:nvPr/>
        </p:nvSpPr>
        <p:spPr>
          <a:xfrm>
            <a:off x="10058474" y="6238379"/>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776F"/>
                </a:solidFill>
                <a:latin typeface="IBM Plex Sans" pitchFamily="34" charset="0"/>
                <a:ea typeface="IBM Plex Sans" pitchFamily="34" charset="-122"/>
                <a:cs typeface="IBM Plex Sans" pitchFamily="34" charset="-120"/>
              </a:rPr>
              <a:t>5</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bg>
      <p:bgPr>
        <a:solidFill>
          <a:srgbClr val="F5F3EA"/>
        </a:solidFill>
        <a:effectLst/>
      </p:bgPr>
    </p:bg>
    <p:spTree>
      <p:nvGrpSpPr>
        <p:cNvPr id="1" name=""/>
        <p:cNvGrpSpPr/>
        <p:nvPr/>
      </p:nvGrpSpPr>
      <p:grpSpPr>
        <a:xfrm>
          <a:off x="0" y="0"/>
          <a:ext cx="0" cy="0"/>
          <a:chOff x="0" y="0"/>
          <a:chExt cx="0" cy="0"/>
        </a:xfrm>
      </p:grpSpPr>
      <p:sp>
        <p:nvSpPr>
          <p:cNvPr id="2" name="Text 0"/>
          <p:cNvSpPr/>
          <p:nvPr/>
        </p:nvSpPr>
        <p:spPr>
          <a:xfrm>
            <a:off x="812726" y="812726"/>
            <a:ext cx="10883545" cy="238720"/>
          </a:xfrm>
          <a:prstGeom prst="rect">
            <a:avLst/>
          </a:prstGeom>
          <a:noFill/>
          <a:ln/>
        </p:spPr>
        <p:txBody>
          <a:bodyPr wrap="square" lIns="0" tIns="0" rIns="0" bIns="0" rtlCol="0" anchor="t">
            <a:normAutofit/>
          </a:bodyPr>
          <a:lstStyle/>
          <a:p>
            <a:pPr marL="0" indent="0" algn="l">
              <a:lnSpc>
                <a:spcPts val="1680"/>
              </a:lnSpc>
              <a:buNone/>
            </a:pPr>
            <a:r>
              <a:rPr lang="en-US" sz="1200" b="1" kern="0" spc="200" dirty="0">
                <a:solidFill>
                  <a:srgbClr val="2F7D4A"/>
                </a:solidFill>
                <a:latin typeface="IBM Plex Sans" pitchFamily="34" charset="0"/>
                <a:ea typeface="IBM Plex Sans" pitchFamily="34" charset="-122"/>
                <a:cs typeface="IBM Plex Sans" pitchFamily="34" charset="-120"/>
              </a:rPr>
              <a:t>HIGHLIGHT · TEMPLATE METHOD</a:t>
            </a:r>
            <a:endParaRPr lang="en-US" sz="1200" dirty="0"/>
          </a:p>
        </p:txBody>
      </p:sp>
      <p:sp>
        <p:nvSpPr>
          <p:cNvPr id="3" name="Text 1"/>
          <p:cNvSpPr>
            <a:spLocks noGrp="1"/>
          </p:cNvSpPr>
          <p:nvPr>
            <p:ph type="title"/>
          </p:nvPr>
        </p:nvSpPr>
        <p:spPr>
          <a:xfrm>
            <a:off x="812726" y="1127621"/>
            <a:ext cx="10883545" cy="528191"/>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3261F"/>
                </a:solidFill>
                <a:latin typeface="Space Grotesk" pitchFamily="34" charset="0"/>
                <a:ea typeface="Space Grotesk" pitchFamily="34" charset="-122"/>
                <a:cs typeface="Space Grotesk" pitchFamily="34" charset="-120"/>
              </a:rPr>
              <a:t>One skeleton, many sensors</a:t>
            </a:r>
            <a:endParaRPr lang="en-US" sz="3600" dirty="0"/>
          </a:p>
        </p:txBody>
      </p:sp>
      <p:sp>
        <p:nvSpPr>
          <p:cNvPr id="4" name="Shape 2"/>
          <p:cNvSpPr/>
          <p:nvPr/>
        </p:nvSpPr>
        <p:spPr>
          <a:xfrm>
            <a:off x="812726" y="1935138"/>
            <a:ext cx="5588000" cy="1269628"/>
          </a:xfrm>
          <a:prstGeom prst="roundRect">
            <a:avLst>
              <a:gd name="adj" fmla="val 10003"/>
            </a:avLst>
          </a:prstGeom>
          <a:solidFill>
            <a:srgbClr val="13261F"/>
          </a:solidFill>
          <a:ln/>
        </p:spPr>
      </p:sp>
      <p:sp>
        <p:nvSpPr>
          <p:cNvPr id="5" name="Text 3"/>
          <p:cNvSpPr/>
          <p:nvPr/>
        </p:nvSpPr>
        <p:spPr>
          <a:xfrm>
            <a:off x="1015876" y="2138288"/>
            <a:ext cx="5337150" cy="309786"/>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A8D672"/>
                </a:solidFill>
                <a:latin typeface="JetBrains Mono" pitchFamily="49" charset="0"/>
                <a:ea typeface="JetBrains Mono" pitchFamily="49" charset="-122"/>
                <a:cs typeface="JetBrains Mono" pitchFamily="49" charset="-120"/>
              </a:rPr>
              <a:t>AbstractInput</a:t>
            </a:r>
            <a:endParaRPr lang="en-US" sz="1600" dirty="0"/>
          </a:p>
        </p:txBody>
      </p:sp>
      <p:sp>
        <p:nvSpPr>
          <p:cNvPr id="6" name="Text 4"/>
          <p:cNvSpPr/>
          <p:nvPr/>
        </p:nvSpPr>
        <p:spPr>
          <a:xfrm>
            <a:off x="1015876" y="2498824"/>
            <a:ext cx="53848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F5F3EA"/>
                </a:solidFill>
                <a:latin typeface="JetBrains Mono" pitchFamily="49" charset="0"/>
                <a:ea typeface="JetBrains Mono" pitchFamily="49" charset="-122"/>
                <a:cs typeface="JetBrains Mono" pitchFamily="49" charset="-120"/>
              </a:rPr>
              <a:t>read() </a:t>
            </a:r>
            <a:r>
              <a:rPr lang="en-US" sz="1200" dirty="0">
                <a:solidFill>
                  <a:srgbClr val="C9D8CE"/>
                </a:solidFill>
                <a:latin typeface="JetBrains Mono" pitchFamily="49" charset="0"/>
                <a:ea typeface="JetBrains Mono" pitchFamily="49" charset="-122"/>
                <a:cs typeface="JetBrains Mono" pitchFamily="49" charset="-120"/>
              </a:rPr>
              <a:t>— fixed skeleton: errors, retries, storing values</a:t>
            </a:r>
            <a:endParaRPr lang="en-US" sz="1200" dirty="0"/>
          </a:p>
        </p:txBody>
      </p:sp>
      <p:sp>
        <p:nvSpPr>
          <p:cNvPr id="7" name="Text 5"/>
          <p:cNvSpPr/>
          <p:nvPr/>
        </p:nvSpPr>
        <p:spPr>
          <a:xfrm>
            <a:off x="1015876" y="2788295"/>
            <a:ext cx="53371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F5F3EA"/>
                </a:solidFill>
                <a:latin typeface="JetBrains Mono" pitchFamily="49" charset="0"/>
                <a:ea typeface="JetBrains Mono" pitchFamily="49" charset="-122"/>
                <a:cs typeface="JetBrains Mono" pitchFamily="49" charset="-120"/>
              </a:rPr>
              <a:t>get_measurement() </a:t>
            </a:r>
            <a:r>
              <a:rPr lang="en-US" sz="1200" dirty="0">
                <a:solidFill>
                  <a:srgbClr val="E3A33B"/>
                </a:solidFill>
                <a:latin typeface="JetBrains Mono" pitchFamily="49" charset="0"/>
                <a:ea typeface="JetBrains Mono" pitchFamily="49" charset="-122"/>
                <a:cs typeface="JetBrains Mono" pitchFamily="49" charset="-120"/>
              </a:rPr>
              <a:t>— the one step a sensor fills in</a:t>
            </a:r>
            <a:endParaRPr lang="en-US" sz="1200" dirty="0"/>
          </a:p>
        </p:txBody>
      </p:sp>
      <p:pic>
        <p:nvPicPr>
          <p:cNvPr id="8" name="Image 0" descr="arrow-up"/>
          <p:cNvPicPr>
            <a:picLocks noChangeAspect="1"/>
          </p:cNvPicPr>
          <p:nvPr/>
        </p:nvPicPr>
        <p:blipFill>
          <a:blip r:embed="rId3"/>
          <a:srcRect t="-17" b="-17"/>
          <a:stretch/>
        </p:blipFill>
        <p:spPr>
          <a:xfrm>
            <a:off x="1772295" y="3306341"/>
            <a:ext cx="177726" cy="355575"/>
          </a:xfrm>
          <a:prstGeom prst="rect">
            <a:avLst/>
          </a:prstGeom>
        </p:spPr>
      </p:pic>
      <p:sp>
        <p:nvSpPr>
          <p:cNvPr id="9" name="Text 6"/>
          <p:cNvSpPr/>
          <p:nvPr/>
        </p:nvSpPr>
        <p:spPr>
          <a:xfrm>
            <a:off x="2026171" y="3377406"/>
            <a:ext cx="65380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B4A42"/>
                </a:solidFill>
                <a:latin typeface="IBM Plex Sans" pitchFamily="34" charset="0"/>
                <a:ea typeface="IBM Plex Sans" pitchFamily="34" charset="-122"/>
                <a:cs typeface="IBM Plex Sans" pitchFamily="34" charset="-120"/>
              </a:rPr>
              <a:t>extends</a:t>
            </a:r>
            <a:endParaRPr lang="en-US" sz="1200" dirty="0"/>
          </a:p>
        </p:txBody>
      </p:sp>
      <p:pic>
        <p:nvPicPr>
          <p:cNvPr id="10" name="Image 1" descr="arrow-up"/>
          <p:cNvPicPr>
            <a:picLocks noChangeAspect="1"/>
          </p:cNvPicPr>
          <p:nvPr/>
        </p:nvPicPr>
        <p:blipFill>
          <a:blip r:embed="rId3"/>
          <a:srcRect t="-17" b="-17"/>
          <a:stretch/>
        </p:blipFill>
        <p:spPr>
          <a:xfrm>
            <a:off x="4642445" y="3306341"/>
            <a:ext cx="177726" cy="355575"/>
          </a:xfrm>
          <a:prstGeom prst="rect">
            <a:avLst/>
          </a:prstGeom>
        </p:spPr>
      </p:pic>
      <p:sp>
        <p:nvSpPr>
          <p:cNvPr id="11" name="Text 7"/>
          <p:cNvSpPr/>
          <p:nvPr/>
        </p:nvSpPr>
        <p:spPr>
          <a:xfrm>
            <a:off x="4896321" y="3377406"/>
            <a:ext cx="65380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B4A42"/>
                </a:solidFill>
                <a:latin typeface="IBM Plex Sans" pitchFamily="34" charset="0"/>
                <a:ea typeface="IBM Plex Sans" pitchFamily="34" charset="-122"/>
                <a:cs typeface="IBM Plex Sans" pitchFamily="34" charset="-120"/>
              </a:rPr>
              <a:t>extends</a:t>
            </a:r>
            <a:endParaRPr lang="en-US" sz="1200" dirty="0"/>
          </a:p>
        </p:txBody>
      </p:sp>
      <p:sp>
        <p:nvSpPr>
          <p:cNvPr id="12" name="Shape 8"/>
          <p:cNvSpPr/>
          <p:nvPr/>
        </p:nvSpPr>
        <p:spPr>
          <a:xfrm>
            <a:off x="819076" y="3769841"/>
            <a:ext cx="2705150" cy="835992"/>
          </a:xfrm>
          <a:prstGeom prst="roundRect">
            <a:avLst>
              <a:gd name="adj" fmla="val 14432"/>
            </a:avLst>
          </a:prstGeom>
          <a:solidFill>
            <a:srgbClr val="FBFAF4"/>
          </a:solidFill>
          <a:ln w="12700">
            <a:solidFill>
              <a:srgbClr val="DDD8C4"/>
            </a:solidFill>
            <a:prstDash val="solid"/>
          </a:ln>
        </p:spPr>
      </p:sp>
      <p:sp>
        <p:nvSpPr>
          <p:cNvPr id="13" name="Text 9"/>
          <p:cNvSpPr/>
          <p:nvPr/>
        </p:nvSpPr>
        <p:spPr>
          <a:xfrm>
            <a:off x="998389" y="3949154"/>
            <a:ext cx="2416919"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3261F"/>
                </a:solidFill>
                <a:latin typeface="JetBrains Mono" pitchFamily="49" charset="0"/>
                <a:ea typeface="JetBrains Mono" pitchFamily="49" charset="-122"/>
                <a:cs typeface="JetBrains Mono" pitchFamily="49" charset="-120"/>
              </a:rPr>
              <a:t>adafruit_i2c_soil</a:t>
            </a:r>
            <a:endParaRPr lang="en-US" sz="1200" dirty="0"/>
          </a:p>
        </p:txBody>
      </p:sp>
      <p:sp>
        <p:nvSpPr>
          <p:cNvPr id="14" name="Text 10"/>
          <p:cNvSpPr/>
          <p:nvPr/>
        </p:nvSpPr>
        <p:spPr>
          <a:xfrm>
            <a:off x="998389" y="4213200"/>
            <a:ext cx="2416919"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B4A42"/>
                </a:solidFill>
                <a:latin typeface="IBM Plex Sans" pitchFamily="34" charset="0"/>
                <a:ea typeface="IBM Plex Sans" pitchFamily="34" charset="-122"/>
                <a:cs typeface="IBM Plex Sans" pitchFamily="34" charset="-120"/>
              </a:rPr>
              <a:t>soil moisture over I²C</a:t>
            </a:r>
            <a:endParaRPr lang="en-US" sz="1200" dirty="0"/>
          </a:p>
        </p:txBody>
      </p:sp>
      <p:sp>
        <p:nvSpPr>
          <p:cNvPr id="15" name="Shape 11"/>
          <p:cNvSpPr/>
          <p:nvPr/>
        </p:nvSpPr>
        <p:spPr>
          <a:xfrm>
            <a:off x="3689226" y="3769841"/>
            <a:ext cx="2705150" cy="835992"/>
          </a:xfrm>
          <a:prstGeom prst="roundRect">
            <a:avLst>
              <a:gd name="adj" fmla="val 14432"/>
            </a:avLst>
          </a:prstGeom>
          <a:solidFill>
            <a:srgbClr val="FBFAF4"/>
          </a:solidFill>
          <a:ln w="12700">
            <a:solidFill>
              <a:srgbClr val="DDD8C4"/>
            </a:solidFill>
            <a:prstDash val="solid"/>
          </a:ln>
        </p:spPr>
      </p:sp>
      <p:sp>
        <p:nvSpPr>
          <p:cNvPr id="16" name="Text 12"/>
          <p:cNvSpPr/>
          <p:nvPr/>
        </p:nvSpPr>
        <p:spPr>
          <a:xfrm>
            <a:off x="3868539" y="3949154"/>
            <a:ext cx="2416919"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3261F"/>
                </a:solidFill>
                <a:latin typeface="JetBrains Mono" pitchFamily="49" charset="0"/>
                <a:ea typeface="JetBrains Mono" pitchFamily="49" charset="-122"/>
                <a:cs typeface="JetBrains Mono" pitchFamily="49" charset="-120"/>
              </a:rPr>
              <a:t>weather_openweathermap</a:t>
            </a:r>
            <a:endParaRPr lang="en-US" sz="1200" dirty="0"/>
          </a:p>
        </p:txBody>
      </p:sp>
      <p:sp>
        <p:nvSpPr>
          <p:cNvPr id="17" name="Text 13"/>
          <p:cNvSpPr/>
          <p:nvPr/>
        </p:nvSpPr>
        <p:spPr>
          <a:xfrm>
            <a:off x="3868539" y="4213200"/>
            <a:ext cx="2416919"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B4A42"/>
                </a:solidFill>
                <a:latin typeface="IBM Plex Sans" pitchFamily="34" charset="0"/>
                <a:ea typeface="IBM Plex Sans" pitchFamily="34" charset="-122"/>
                <a:cs typeface="IBM Plex Sans" pitchFamily="34" charset="-120"/>
              </a:rPr>
              <a:t>city weather over HTTP</a:t>
            </a:r>
            <a:endParaRPr lang="en-US" sz="1200" dirty="0"/>
          </a:p>
        </p:txBody>
      </p:sp>
      <p:sp>
        <p:nvSpPr>
          <p:cNvPr id="18" name="Text 14"/>
          <p:cNvSpPr/>
          <p:nvPr/>
        </p:nvSpPr>
        <p:spPr>
          <a:xfrm>
            <a:off x="812726" y="4713759"/>
            <a:ext cx="575564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76F"/>
                </a:solidFill>
                <a:latin typeface="JetBrains Mono" pitchFamily="49" charset="0"/>
                <a:ea typeface="JetBrains Mono" pitchFamily="49" charset="-122"/>
                <a:cs typeface="JetBrains Mono" pitchFamily="49" charset="-120"/>
              </a:rPr>
              <a:t>inputs/base_input.py:115-146</a:t>
            </a:r>
            <a:endParaRPr lang="en-US" sz="1200" dirty="0"/>
          </a:p>
        </p:txBody>
      </p:sp>
      <p:pic>
        <p:nvPicPr>
          <p:cNvPr id="19" name="Image 2" descr="Check"/>
          <p:cNvPicPr>
            <a:picLocks noChangeAspect="1"/>
          </p:cNvPicPr>
          <p:nvPr/>
        </p:nvPicPr>
        <p:blipFill>
          <a:blip r:embed="rId4"/>
          <a:srcRect t="-57" b="-57"/>
          <a:stretch/>
        </p:blipFill>
        <p:spPr>
          <a:xfrm>
            <a:off x="6807026" y="1935138"/>
            <a:ext cx="139526" cy="228575"/>
          </a:xfrm>
          <a:prstGeom prst="rect">
            <a:avLst/>
          </a:prstGeom>
        </p:spPr>
      </p:pic>
      <p:sp>
        <p:nvSpPr>
          <p:cNvPr id="20" name="Text 15"/>
          <p:cNvSpPr/>
          <p:nvPr/>
        </p:nvSpPr>
        <p:spPr>
          <a:xfrm>
            <a:off x="7048128" y="1935138"/>
            <a:ext cx="4461081" cy="573832"/>
          </a:xfrm>
          <a:prstGeom prst="rect">
            <a:avLst/>
          </a:prstGeom>
          <a:noFill/>
          <a:ln/>
        </p:spPr>
        <p:txBody>
          <a:bodyPr wrap="square" lIns="0" tIns="0" rIns="0" bIns="0" rtlCol="0" anchor="t">
            <a:normAutofit/>
          </a:bodyPr>
          <a:lstStyle/>
          <a:p>
            <a:pPr marL="0" indent="0" algn="l">
              <a:lnSpc>
                <a:spcPts val="2160"/>
              </a:lnSpc>
              <a:buNone/>
            </a:pPr>
            <a:r>
              <a:rPr lang="en-US" sz="1600" dirty="0">
                <a:solidFill>
                  <a:srgbClr val="13261F"/>
                </a:solidFill>
                <a:latin typeface="IBM Plex Sans" pitchFamily="34" charset="0"/>
                <a:ea typeface="IBM Plex Sans" pitchFamily="34" charset="-122"/>
                <a:cs typeface="IBM Plex Sans" pitchFamily="34" charset="-120"/>
              </a:rPr>
              <a:t>The base class owns the algorithm; subclasses never call it in the wrong order.</a:t>
            </a:r>
            <a:endParaRPr lang="en-US" sz="1600" dirty="0"/>
          </a:p>
        </p:txBody>
      </p:sp>
      <p:pic>
        <p:nvPicPr>
          <p:cNvPr id="21" name="Image 3" descr="Check"/>
          <p:cNvPicPr>
            <a:picLocks noChangeAspect="1"/>
          </p:cNvPicPr>
          <p:nvPr/>
        </p:nvPicPr>
        <p:blipFill>
          <a:blip r:embed="rId5"/>
          <a:srcRect t="-580" b="-580"/>
          <a:stretch/>
        </p:blipFill>
        <p:spPr>
          <a:xfrm>
            <a:off x="6807026" y="2661295"/>
            <a:ext cx="175741" cy="228575"/>
          </a:xfrm>
          <a:prstGeom prst="rect">
            <a:avLst/>
          </a:prstGeom>
        </p:spPr>
      </p:pic>
      <p:sp>
        <p:nvSpPr>
          <p:cNvPr id="22" name="Text 16"/>
          <p:cNvSpPr/>
          <p:nvPr/>
        </p:nvSpPr>
        <p:spPr>
          <a:xfrm>
            <a:off x="7084343" y="2661295"/>
            <a:ext cx="4423780" cy="573832"/>
          </a:xfrm>
          <a:prstGeom prst="rect">
            <a:avLst/>
          </a:prstGeom>
          <a:noFill/>
          <a:ln/>
        </p:spPr>
        <p:txBody>
          <a:bodyPr wrap="square" lIns="0" tIns="0" rIns="0" bIns="0" rtlCol="0" anchor="t">
            <a:normAutofit/>
          </a:bodyPr>
          <a:lstStyle/>
          <a:p>
            <a:pPr marL="0" indent="0" algn="l">
              <a:lnSpc>
                <a:spcPts val="2160"/>
              </a:lnSpc>
              <a:buNone/>
            </a:pPr>
            <a:r>
              <a:rPr lang="en-US" sz="1600" dirty="0">
                <a:solidFill>
                  <a:srgbClr val="13261F"/>
                </a:solidFill>
                <a:latin typeface="IBM Plex Sans" pitchFamily="34" charset="0"/>
                <a:ea typeface="IBM Plex Sans" pitchFamily="34" charset="-122"/>
                <a:cs typeface="IBM Plex Sans" pitchFamily="34" charset="-120"/>
              </a:rPr>
              <a:t>A new sensor is one subclass; the controller does not change.</a:t>
            </a:r>
            <a:endParaRPr lang="en-US" sz="1600" dirty="0"/>
          </a:p>
        </p:txBody>
      </p:sp>
      <p:pic>
        <p:nvPicPr>
          <p:cNvPr id="23" name="Image 4" descr="Check"/>
          <p:cNvPicPr>
            <a:picLocks noChangeAspect="1"/>
          </p:cNvPicPr>
          <p:nvPr/>
        </p:nvPicPr>
        <p:blipFill>
          <a:blip r:embed="rId4"/>
          <a:srcRect t="-12" b="-12"/>
          <a:stretch/>
        </p:blipFill>
        <p:spPr>
          <a:xfrm>
            <a:off x="6807026" y="3387452"/>
            <a:ext cx="139650" cy="228575"/>
          </a:xfrm>
          <a:prstGeom prst="rect">
            <a:avLst/>
          </a:prstGeom>
        </p:spPr>
      </p:pic>
      <p:sp>
        <p:nvSpPr>
          <p:cNvPr id="24" name="Text 17"/>
          <p:cNvSpPr/>
          <p:nvPr/>
        </p:nvSpPr>
        <p:spPr>
          <a:xfrm>
            <a:off x="7048252" y="3387452"/>
            <a:ext cx="4460953" cy="573832"/>
          </a:xfrm>
          <a:prstGeom prst="rect">
            <a:avLst/>
          </a:prstGeom>
          <a:noFill/>
          <a:ln/>
        </p:spPr>
        <p:txBody>
          <a:bodyPr wrap="square" lIns="0" tIns="0" rIns="0" bIns="0" rtlCol="0" anchor="t">
            <a:normAutofit/>
          </a:bodyPr>
          <a:lstStyle/>
          <a:p>
            <a:pPr marL="0" indent="0" algn="l">
              <a:lnSpc>
                <a:spcPts val="2160"/>
              </a:lnSpc>
              <a:buNone/>
            </a:pPr>
            <a:r>
              <a:rPr lang="en-US" sz="1600" dirty="0">
                <a:solidFill>
                  <a:srgbClr val="13261F"/>
                </a:solidFill>
                <a:latin typeface="IBM Plex Sans" pitchFamily="34" charset="0"/>
                <a:ea typeface="IBM Plex Sans" pitchFamily="34" charset="-122"/>
                <a:cs typeface="IBM Plex Sans" pitchFamily="34" charset="-120"/>
              </a:rPr>
              <a:t>The same shape repeats for initialisation, thread loops, outputs and setpoints.</a:t>
            </a:r>
            <a:endParaRPr lang="en-US" sz="1600" dirty="0"/>
          </a:p>
        </p:txBody>
      </p:sp>
      <p:sp>
        <p:nvSpPr>
          <p:cNvPr id="25" name="Text 18"/>
          <p:cNvSpPr/>
          <p:nvPr/>
        </p:nvSpPr>
        <p:spPr>
          <a:xfrm>
            <a:off x="812726" y="6238379"/>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76F"/>
                </a:solidFill>
                <a:latin typeface="IBM Plex Sans" pitchFamily="34" charset="0"/>
                <a:ea typeface="IBM Plex Sans" pitchFamily="34" charset="-122"/>
                <a:cs typeface="IBM Plex Sans" pitchFamily="34" charset="-120"/>
              </a:rPr>
              <a:t>B10 · Design Patterns in Mycodo</a:t>
            </a:r>
            <a:endParaRPr lang="en-US" sz="1200" dirty="0"/>
          </a:p>
        </p:txBody>
      </p:sp>
      <p:sp>
        <p:nvSpPr>
          <p:cNvPr id="26" name="Text 19"/>
          <p:cNvSpPr/>
          <p:nvPr/>
        </p:nvSpPr>
        <p:spPr>
          <a:xfrm>
            <a:off x="10058474" y="6238379"/>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776F"/>
                </a:solidFill>
                <a:latin typeface="IBM Plex Sans" pitchFamily="34" charset="0"/>
                <a:ea typeface="IBM Plex Sans" pitchFamily="34" charset="-122"/>
                <a:cs typeface="IBM Plex Sans" pitchFamily="34" charset="-120"/>
              </a:rPr>
              <a:t>6</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bg>
      <p:bgPr>
        <a:solidFill>
          <a:srgbClr val="F5F3EA"/>
        </a:solidFill>
        <a:effectLst/>
      </p:bgPr>
    </p:bg>
    <p:spTree>
      <p:nvGrpSpPr>
        <p:cNvPr id="1" name=""/>
        <p:cNvGrpSpPr/>
        <p:nvPr/>
      </p:nvGrpSpPr>
      <p:grpSpPr>
        <a:xfrm>
          <a:off x="0" y="0"/>
          <a:ext cx="0" cy="0"/>
          <a:chOff x="0" y="0"/>
          <a:chExt cx="0" cy="0"/>
        </a:xfrm>
      </p:grpSpPr>
      <p:sp>
        <p:nvSpPr>
          <p:cNvPr id="2" name="Text 0"/>
          <p:cNvSpPr/>
          <p:nvPr/>
        </p:nvSpPr>
        <p:spPr>
          <a:xfrm>
            <a:off x="812726" y="812726"/>
            <a:ext cx="10883545" cy="238720"/>
          </a:xfrm>
          <a:prstGeom prst="rect">
            <a:avLst/>
          </a:prstGeom>
          <a:noFill/>
          <a:ln/>
        </p:spPr>
        <p:txBody>
          <a:bodyPr wrap="square" lIns="0" tIns="0" rIns="0" bIns="0" rtlCol="0" anchor="t">
            <a:normAutofit/>
          </a:bodyPr>
          <a:lstStyle/>
          <a:p>
            <a:pPr marL="0" indent="0" algn="l">
              <a:lnSpc>
                <a:spcPts val="1680"/>
              </a:lnSpc>
              <a:buNone/>
            </a:pPr>
            <a:r>
              <a:rPr lang="en-US" sz="1200" b="1" kern="0" spc="200" dirty="0">
                <a:solidFill>
                  <a:srgbClr val="2F7D4A"/>
                </a:solidFill>
                <a:latin typeface="IBM Plex Sans" pitchFamily="34" charset="0"/>
                <a:ea typeface="IBM Plex Sans" pitchFamily="34" charset="-122"/>
                <a:cs typeface="IBM Plex Sans" pitchFamily="34" charset="-120"/>
              </a:rPr>
              <a:t>HIGHLIGHTS · STRATEGY AND PROXY</a:t>
            </a:r>
            <a:endParaRPr lang="en-US" sz="1200" dirty="0"/>
          </a:p>
        </p:txBody>
      </p:sp>
      <p:sp>
        <p:nvSpPr>
          <p:cNvPr id="3" name="Text 1"/>
          <p:cNvSpPr>
            <a:spLocks noGrp="1"/>
          </p:cNvSpPr>
          <p:nvPr>
            <p:ph type="title"/>
          </p:nvPr>
        </p:nvSpPr>
        <p:spPr>
          <a:xfrm>
            <a:off x="812726" y="1127621"/>
            <a:ext cx="10883545" cy="528191"/>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3261F"/>
                </a:solidFill>
                <a:latin typeface="Space Grotesk" pitchFamily="34" charset="0"/>
                <a:ea typeface="Space Grotesk" pitchFamily="34" charset="-122"/>
                <a:cs typeface="Space Grotesk" pitchFamily="34" charset="-120"/>
              </a:rPr>
              <a:t>Swappable schedules, hidden network</a:t>
            </a:r>
            <a:endParaRPr lang="en-US" sz="3600" dirty="0"/>
          </a:p>
        </p:txBody>
      </p:sp>
      <p:sp>
        <p:nvSpPr>
          <p:cNvPr id="4" name="Shape 2"/>
          <p:cNvSpPr/>
          <p:nvPr/>
        </p:nvSpPr>
        <p:spPr>
          <a:xfrm>
            <a:off x="819076" y="1941488"/>
            <a:ext cx="5168999" cy="3766790"/>
          </a:xfrm>
          <a:prstGeom prst="roundRect">
            <a:avLst>
              <a:gd name="adj" fmla="val 3877"/>
            </a:avLst>
          </a:prstGeom>
          <a:solidFill>
            <a:srgbClr val="FBFAF4"/>
          </a:solidFill>
          <a:ln w="12700">
            <a:solidFill>
              <a:srgbClr val="DDD8C4"/>
            </a:solidFill>
            <a:prstDash val="solid"/>
          </a:ln>
        </p:spPr>
      </p:sp>
      <p:sp>
        <p:nvSpPr>
          <p:cNvPr id="5" name="Text 3"/>
          <p:cNvSpPr/>
          <p:nvPr/>
        </p:nvSpPr>
        <p:spPr>
          <a:xfrm>
            <a:off x="1074663" y="2197075"/>
            <a:ext cx="4797559"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2F7D4A"/>
                </a:solidFill>
                <a:latin typeface="IBM Plex Sans" pitchFamily="34" charset="0"/>
                <a:ea typeface="IBM Plex Sans" pitchFamily="34" charset="-122"/>
                <a:cs typeface="IBM Plex Sans" pitchFamily="34" charset="-120"/>
              </a:rPr>
              <a:t>STRATEGY</a:t>
            </a:r>
            <a:endParaRPr lang="en-US" sz="1200" dirty="0"/>
          </a:p>
        </p:txBody>
      </p:sp>
      <p:sp>
        <p:nvSpPr>
          <p:cNvPr id="6" name="Text 4"/>
          <p:cNvSpPr/>
          <p:nvPr/>
        </p:nvSpPr>
        <p:spPr>
          <a:xfrm>
            <a:off x="1074663" y="2511971"/>
            <a:ext cx="4797559" cy="360635"/>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13261F"/>
                </a:solidFill>
                <a:latin typeface="Space Grotesk" pitchFamily="34" charset="0"/>
                <a:ea typeface="Space Grotesk" pitchFamily="34" charset="-122"/>
                <a:cs typeface="Space Grotesk" pitchFamily="34" charset="-120"/>
              </a:rPr>
              <a:t>Setpoint Schedule Calculation</a:t>
            </a:r>
            <a:endParaRPr lang="en-US" sz="2200" dirty="0"/>
          </a:p>
        </p:txBody>
      </p:sp>
      <p:sp>
        <p:nvSpPr>
          <p:cNvPr id="7" name="Text 5"/>
          <p:cNvSpPr/>
          <p:nvPr/>
        </p:nvSpPr>
        <p:spPr>
          <a:xfrm>
            <a:off x="1074663" y="2948781"/>
            <a:ext cx="4797559" cy="594171"/>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3B4A42"/>
                </a:solidFill>
                <a:latin typeface="IBM Plex Sans" pitchFamily="34" charset="0"/>
                <a:ea typeface="IBM Plex Sans" pitchFamily="34" charset="-122"/>
                <a:cs typeface="IBM Plex Sans" pitchFamily="34" charset="-120"/>
              </a:rPr>
              <a:t>Pick the algorithm by type; callers only ask for the setpoint.</a:t>
            </a:r>
            <a:endParaRPr lang="en-US" sz="1600" dirty="0"/>
          </a:p>
        </p:txBody>
      </p:sp>
      <p:sp>
        <p:nvSpPr>
          <p:cNvPr id="8" name="Text 6"/>
          <p:cNvSpPr/>
          <p:nvPr/>
        </p:nvSpPr>
        <p:spPr>
          <a:xfrm>
            <a:off x="1074663" y="3619128"/>
            <a:ext cx="4657824" cy="340320"/>
          </a:xfrm>
          <a:prstGeom prst="roundRect">
            <a:avLst>
              <a:gd name="adj" fmla="val 22391"/>
            </a:avLst>
          </a:prstGeom>
          <a:solidFill>
            <a:srgbClr val="EAE6D7"/>
          </a:solidFill>
          <a:ln/>
        </p:spPr>
        <p:txBody>
          <a:bodyPr wrap="square" lIns="104682" tIns="41182" rIns="0" bIns="15782" rtlCol="0" anchor="t">
            <a:normAutofit/>
          </a:bodyPr>
          <a:lstStyle/>
          <a:p>
            <a:pPr marL="0" indent="0" algn="l">
              <a:lnSpc>
                <a:spcPts val="1680"/>
              </a:lnSpc>
              <a:buNone/>
            </a:pPr>
            <a:r>
              <a:rPr lang="en-US" sz="1200" dirty="0">
                <a:solidFill>
                  <a:srgbClr val="13261F"/>
                </a:solidFill>
                <a:latin typeface="JetBrains Mono" pitchFamily="49" charset="0"/>
                <a:ea typeface="JetBrains Mono" pitchFamily="49" charset="-122"/>
                <a:cs typeface="JetBrains Mono" pitchFamily="49" charset="-120"/>
              </a:rPr>
              <a:t>type = 'DailySine'</a:t>
            </a:r>
            <a:endParaRPr lang="en-US" sz="1200" dirty="0"/>
          </a:p>
        </p:txBody>
      </p:sp>
      <p:pic>
        <p:nvPicPr>
          <p:cNvPr id="9" name="Image 0" descr="arrow-down"/>
          <p:cNvPicPr>
            <a:picLocks noChangeAspect="1"/>
          </p:cNvPicPr>
          <p:nvPr/>
        </p:nvPicPr>
        <p:blipFill>
          <a:blip r:embed="rId3"/>
          <a:srcRect/>
          <a:stretch/>
        </p:blipFill>
        <p:spPr>
          <a:xfrm>
            <a:off x="1074663" y="4061023"/>
            <a:ext cx="101575" cy="203150"/>
          </a:xfrm>
          <a:prstGeom prst="rect">
            <a:avLst/>
          </a:prstGeom>
        </p:spPr>
      </p:pic>
      <p:sp>
        <p:nvSpPr>
          <p:cNvPr id="10" name="Text 7"/>
          <p:cNvSpPr/>
          <p:nvPr/>
        </p:nvSpPr>
        <p:spPr>
          <a:xfrm>
            <a:off x="1074663" y="4365749"/>
            <a:ext cx="4657824" cy="340320"/>
          </a:xfrm>
          <a:prstGeom prst="roundRect">
            <a:avLst>
              <a:gd name="adj" fmla="val 22391"/>
            </a:avLst>
          </a:prstGeom>
          <a:solidFill>
            <a:srgbClr val="EAE6D7"/>
          </a:solidFill>
          <a:ln/>
        </p:spPr>
        <p:txBody>
          <a:bodyPr wrap="square" lIns="104682" tIns="41182" rIns="0" bIns="15782" rtlCol="0" anchor="t">
            <a:normAutofit/>
          </a:bodyPr>
          <a:lstStyle/>
          <a:p>
            <a:pPr marL="0" indent="0" algn="l">
              <a:lnSpc>
                <a:spcPts val="1680"/>
              </a:lnSpc>
              <a:buNone/>
            </a:pPr>
            <a:r>
              <a:rPr lang="en-US" sz="1200" dirty="0">
                <a:solidFill>
                  <a:srgbClr val="13261F"/>
                </a:solidFill>
                <a:latin typeface="JetBrains Mono" pitchFamily="49" charset="0"/>
                <a:ea typeface="JetBrains Mono" pitchFamily="49" charset="-122"/>
                <a:cs typeface="JetBrains Mono" pitchFamily="49" charset="-120"/>
              </a:rPr>
              <a:t>create_method_handler()</a:t>
            </a:r>
            <a:endParaRPr lang="en-US" sz="1200" dirty="0"/>
          </a:p>
        </p:txBody>
      </p:sp>
      <p:pic>
        <p:nvPicPr>
          <p:cNvPr id="11" name="Image 1" descr="arrow-down"/>
          <p:cNvPicPr>
            <a:picLocks noChangeAspect="1"/>
          </p:cNvPicPr>
          <p:nvPr/>
        </p:nvPicPr>
        <p:blipFill>
          <a:blip r:embed="rId3"/>
          <a:srcRect/>
          <a:stretch/>
        </p:blipFill>
        <p:spPr>
          <a:xfrm>
            <a:off x="1074663" y="4807645"/>
            <a:ext cx="101575" cy="203150"/>
          </a:xfrm>
          <a:prstGeom prst="rect">
            <a:avLst/>
          </a:prstGeom>
        </p:spPr>
      </p:pic>
      <p:sp>
        <p:nvSpPr>
          <p:cNvPr id="12" name="Text 8"/>
          <p:cNvSpPr/>
          <p:nvPr/>
        </p:nvSpPr>
        <p:spPr>
          <a:xfrm>
            <a:off x="1074663" y="5112370"/>
            <a:ext cx="4657824" cy="340320"/>
          </a:xfrm>
          <a:prstGeom prst="roundRect">
            <a:avLst>
              <a:gd name="adj" fmla="val 22391"/>
            </a:avLst>
          </a:prstGeom>
          <a:solidFill>
            <a:srgbClr val="13261F"/>
          </a:solidFill>
          <a:ln/>
        </p:spPr>
        <p:txBody>
          <a:bodyPr wrap="square" lIns="104682" tIns="41182" rIns="0" bIns="15782" rtlCol="0" anchor="t">
            <a:normAutofit/>
          </a:bodyPr>
          <a:lstStyle/>
          <a:p>
            <a:pPr marL="0" indent="0" algn="l">
              <a:lnSpc>
                <a:spcPts val="1680"/>
              </a:lnSpc>
              <a:buNone/>
            </a:pPr>
            <a:r>
              <a:rPr lang="en-US" sz="1200" dirty="0">
                <a:solidFill>
                  <a:srgbClr val="A8D672"/>
                </a:solidFill>
                <a:latin typeface="JetBrains Mono" pitchFamily="49" charset="0"/>
                <a:ea typeface="JetBrains Mono" pitchFamily="49" charset="-122"/>
                <a:cs typeface="JetBrains Mono" pitchFamily="49" charset="-120"/>
              </a:rPr>
              <a:t>DailySineMethod.calculate_setpoint()</a:t>
            </a:r>
            <a:endParaRPr lang="en-US" sz="1200" dirty="0"/>
          </a:p>
        </p:txBody>
      </p:sp>
      <p:sp>
        <p:nvSpPr>
          <p:cNvPr id="13" name="Shape 9"/>
          <p:cNvSpPr/>
          <p:nvPr/>
        </p:nvSpPr>
        <p:spPr>
          <a:xfrm>
            <a:off x="6203925" y="1941488"/>
            <a:ext cx="5168999" cy="3766790"/>
          </a:xfrm>
          <a:prstGeom prst="roundRect">
            <a:avLst>
              <a:gd name="adj" fmla="val 3877"/>
            </a:avLst>
          </a:prstGeom>
          <a:solidFill>
            <a:srgbClr val="FBFAF4"/>
          </a:solidFill>
          <a:ln w="12700">
            <a:solidFill>
              <a:srgbClr val="DDD8C4"/>
            </a:solidFill>
            <a:prstDash val="solid"/>
          </a:ln>
        </p:spPr>
      </p:sp>
      <p:sp>
        <p:nvSpPr>
          <p:cNvPr id="14" name="Text 10"/>
          <p:cNvSpPr/>
          <p:nvPr/>
        </p:nvSpPr>
        <p:spPr>
          <a:xfrm>
            <a:off x="6459513" y="2197075"/>
            <a:ext cx="4797559"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5761A"/>
                </a:solidFill>
                <a:latin typeface="IBM Plex Sans" pitchFamily="34" charset="0"/>
                <a:ea typeface="IBM Plex Sans" pitchFamily="34" charset="-122"/>
                <a:cs typeface="IBM Plex Sans" pitchFamily="34" charset="-120"/>
              </a:rPr>
              <a:t>PROXY</a:t>
            </a:r>
            <a:endParaRPr lang="en-US" sz="1200" dirty="0"/>
          </a:p>
        </p:txBody>
      </p:sp>
      <p:sp>
        <p:nvSpPr>
          <p:cNvPr id="15" name="Text 11"/>
          <p:cNvSpPr/>
          <p:nvPr/>
        </p:nvSpPr>
        <p:spPr>
          <a:xfrm>
            <a:off x="6459513" y="2511971"/>
            <a:ext cx="4797559" cy="360635"/>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13261F"/>
                </a:solidFill>
                <a:latin typeface="Space Grotesk" pitchFamily="34" charset="0"/>
                <a:ea typeface="Space Grotesk" pitchFamily="34" charset="-122"/>
                <a:cs typeface="Space Grotesk" pitchFamily="34" charset="-120"/>
              </a:rPr>
              <a:t>Daemon RPC Client</a:t>
            </a:r>
            <a:endParaRPr lang="en-US" sz="2200" dirty="0"/>
          </a:p>
        </p:txBody>
      </p:sp>
      <p:sp>
        <p:nvSpPr>
          <p:cNvPr id="16" name="Text 12"/>
          <p:cNvSpPr/>
          <p:nvPr/>
        </p:nvSpPr>
        <p:spPr>
          <a:xfrm>
            <a:off x="6459513" y="2948781"/>
            <a:ext cx="4797559" cy="594171"/>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3B4A42"/>
                </a:solidFill>
                <a:latin typeface="IBM Plex Sans" pitchFamily="34" charset="0"/>
                <a:ea typeface="IBM Plex Sans" pitchFamily="34" charset="-122"/>
                <a:cs typeface="IBM Plex Sans" pitchFamily="34" charset="-120"/>
              </a:rPr>
              <a:t>Looks like the daemon; every call travels over Pyro5 RPC.</a:t>
            </a:r>
            <a:endParaRPr lang="en-US" sz="1600" dirty="0"/>
          </a:p>
        </p:txBody>
      </p:sp>
      <p:sp>
        <p:nvSpPr>
          <p:cNvPr id="17" name="Text 13"/>
          <p:cNvSpPr/>
          <p:nvPr/>
        </p:nvSpPr>
        <p:spPr>
          <a:xfrm>
            <a:off x="6459513" y="3619128"/>
            <a:ext cx="4657824" cy="340320"/>
          </a:xfrm>
          <a:prstGeom prst="roundRect">
            <a:avLst>
              <a:gd name="adj" fmla="val 22391"/>
            </a:avLst>
          </a:prstGeom>
          <a:solidFill>
            <a:srgbClr val="EAE6D7"/>
          </a:solidFill>
          <a:ln/>
        </p:spPr>
        <p:txBody>
          <a:bodyPr wrap="square" lIns="104682" tIns="41182" rIns="0" bIns="15782" rtlCol="0" anchor="t">
            <a:normAutofit/>
          </a:bodyPr>
          <a:lstStyle/>
          <a:p>
            <a:pPr marL="0" indent="0" algn="l">
              <a:lnSpc>
                <a:spcPts val="1680"/>
              </a:lnSpc>
              <a:buNone/>
            </a:pPr>
            <a:r>
              <a:rPr lang="en-US" sz="1200" dirty="0">
                <a:solidFill>
                  <a:srgbClr val="13261F"/>
                </a:solidFill>
                <a:latin typeface="JetBrains Mono" pitchFamily="49" charset="0"/>
                <a:ea typeface="JetBrains Mono" pitchFamily="49" charset="-122"/>
                <a:cs typeface="JetBrains Mono" pitchFamily="49" charset="-120"/>
              </a:rPr>
              <a:t>bang_bang.loop()</a:t>
            </a:r>
            <a:endParaRPr lang="en-US" sz="1200" dirty="0"/>
          </a:p>
        </p:txBody>
      </p:sp>
      <p:pic>
        <p:nvPicPr>
          <p:cNvPr id="18" name="Image 2" descr="arrow-down"/>
          <p:cNvPicPr>
            <a:picLocks noChangeAspect="1"/>
          </p:cNvPicPr>
          <p:nvPr/>
        </p:nvPicPr>
        <p:blipFill>
          <a:blip r:embed="rId4"/>
          <a:srcRect/>
          <a:stretch/>
        </p:blipFill>
        <p:spPr>
          <a:xfrm>
            <a:off x="6459513" y="4061023"/>
            <a:ext cx="101575" cy="203150"/>
          </a:xfrm>
          <a:prstGeom prst="rect">
            <a:avLst/>
          </a:prstGeom>
        </p:spPr>
      </p:pic>
      <p:sp>
        <p:nvSpPr>
          <p:cNvPr id="19" name="Text 14"/>
          <p:cNvSpPr/>
          <p:nvPr/>
        </p:nvSpPr>
        <p:spPr>
          <a:xfrm>
            <a:off x="6459513" y="4365749"/>
            <a:ext cx="4657824" cy="340320"/>
          </a:xfrm>
          <a:prstGeom prst="roundRect">
            <a:avLst>
              <a:gd name="adj" fmla="val 22391"/>
            </a:avLst>
          </a:prstGeom>
          <a:solidFill>
            <a:srgbClr val="EAE6D7"/>
          </a:solidFill>
          <a:ln/>
        </p:spPr>
        <p:txBody>
          <a:bodyPr wrap="square" lIns="104682" tIns="41182" rIns="0" bIns="15782" rtlCol="0" anchor="t">
            <a:normAutofit/>
          </a:bodyPr>
          <a:lstStyle/>
          <a:p>
            <a:pPr marL="0" indent="0" algn="l">
              <a:lnSpc>
                <a:spcPts val="1680"/>
              </a:lnSpc>
              <a:buNone/>
            </a:pPr>
            <a:r>
              <a:rPr lang="en-US" sz="1200" dirty="0">
                <a:solidFill>
                  <a:srgbClr val="13261F"/>
                </a:solidFill>
                <a:latin typeface="JetBrains Mono" pitchFamily="49" charset="0"/>
                <a:ea typeface="JetBrains Mono" pitchFamily="49" charset="-122"/>
                <a:cs typeface="JetBrains Mono" pitchFamily="49" charset="-120"/>
              </a:rPr>
              <a:t>DaemonControl.output_on()</a:t>
            </a:r>
            <a:endParaRPr lang="en-US" sz="1200" dirty="0"/>
          </a:p>
        </p:txBody>
      </p:sp>
      <p:pic>
        <p:nvPicPr>
          <p:cNvPr id="20" name="Image 3" descr="arrow-down"/>
          <p:cNvPicPr>
            <a:picLocks noChangeAspect="1"/>
          </p:cNvPicPr>
          <p:nvPr/>
        </p:nvPicPr>
        <p:blipFill>
          <a:blip r:embed="rId4"/>
          <a:srcRect/>
          <a:stretch/>
        </p:blipFill>
        <p:spPr>
          <a:xfrm>
            <a:off x="6459513" y="4807645"/>
            <a:ext cx="101575" cy="203150"/>
          </a:xfrm>
          <a:prstGeom prst="rect">
            <a:avLst/>
          </a:prstGeom>
        </p:spPr>
      </p:pic>
      <p:sp>
        <p:nvSpPr>
          <p:cNvPr id="21" name="Text 15"/>
          <p:cNvSpPr/>
          <p:nvPr/>
        </p:nvSpPr>
        <p:spPr>
          <a:xfrm>
            <a:off x="6459513" y="5112370"/>
            <a:ext cx="4657824" cy="340320"/>
          </a:xfrm>
          <a:prstGeom prst="roundRect">
            <a:avLst>
              <a:gd name="adj" fmla="val 22391"/>
            </a:avLst>
          </a:prstGeom>
          <a:solidFill>
            <a:srgbClr val="13261F"/>
          </a:solidFill>
          <a:ln/>
        </p:spPr>
        <p:txBody>
          <a:bodyPr wrap="square" lIns="104682" tIns="41182" rIns="0" bIns="15782" rtlCol="0" anchor="t">
            <a:normAutofit/>
          </a:bodyPr>
          <a:lstStyle/>
          <a:p>
            <a:pPr marL="0" indent="0" algn="l">
              <a:lnSpc>
                <a:spcPts val="1680"/>
              </a:lnSpc>
              <a:buNone/>
            </a:pPr>
            <a:r>
              <a:rPr lang="en-US" sz="1200" dirty="0">
                <a:solidFill>
                  <a:srgbClr val="E3A33B"/>
                </a:solidFill>
                <a:latin typeface="JetBrains Mono" pitchFamily="49" charset="0"/>
                <a:ea typeface="JetBrains Mono" pitchFamily="49" charset="-122"/>
                <a:cs typeface="JetBrains Mono" pitchFamily="49" charset="-120"/>
              </a:rPr>
              <a:t>Pyro5 Proxy → daemon process</a:t>
            </a:r>
            <a:endParaRPr lang="en-US" sz="1200" dirty="0"/>
          </a:p>
        </p:txBody>
      </p:sp>
      <p:sp>
        <p:nvSpPr>
          <p:cNvPr id="22" name="Text 16"/>
          <p:cNvSpPr/>
          <p:nvPr/>
        </p:nvSpPr>
        <p:spPr>
          <a:xfrm>
            <a:off x="812726" y="6238379"/>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76F"/>
                </a:solidFill>
                <a:latin typeface="IBM Plex Sans" pitchFamily="34" charset="0"/>
                <a:ea typeface="IBM Plex Sans" pitchFamily="34" charset="-122"/>
                <a:cs typeface="IBM Plex Sans" pitchFamily="34" charset="-120"/>
              </a:rPr>
              <a:t>B10 · Design Patterns in Mycodo</a:t>
            </a:r>
            <a:endParaRPr lang="en-US" sz="1200" dirty="0"/>
          </a:p>
        </p:txBody>
      </p:sp>
      <p:sp>
        <p:nvSpPr>
          <p:cNvPr id="23" name="Text 17"/>
          <p:cNvSpPr/>
          <p:nvPr/>
        </p:nvSpPr>
        <p:spPr>
          <a:xfrm>
            <a:off x="10058474" y="6238379"/>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776F"/>
                </a:solidFill>
                <a:latin typeface="IBM Plex Sans" pitchFamily="34" charset="0"/>
                <a:ea typeface="IBM Plex Sans" pitchFamily="34" charset="-122"/>
                <a:cs typeface="IBM Plex Sans" pitchFamily="34" charset="-120"/>
              </a:rPr>
              <a:t>7</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bg>
      <p:bgPr>
        <a:solidFill>
          <a:srgbClr val="13261F"/>
        </a:solidFill>
        <a:effectLst/>
      </p:bgPr>
    </p:bg>
    <p:spTree>
      <p:nvGrpSpPr>
        <p:cNvPr id="1" name=""/>
        <p:cNvGrpSpPr/>
        <p:nvPr/>
      </p:nvGrpSpPr>
      <p:grpSpPr>
        <a:xfrm>
          <a:off x="0" y="0"/>
          <a:ext cx="0" cy="0"/>
          <a:chOff x="0" y="0"/>
          <a:chExt cx="0" cy="0"/>
        </a:xfrm>
      </p:grpSpPr>
      <p:sp>
        <p:nvSpPr>
          <p:cNvPr id="2" name="Text 0"/>
          <p:cNvSpPr/>
          <p:nvPr/>
        </p:nvSpPr>
        <p:spPr>
          <a:xfrm>
            <a:off x="812726" y="812726"/>
            <a:ext cx="10883545" cy="238720"/>
          </a:xfrm>
          <a:prstGeom prst="rect">
            <a:avLst/>
          </a:prstGeom>
          <a:noFill/>
          <a:ln/>
        </p:spPr>
        <p:txBody>
          <a:bodyPr wrap="square" lIns="0" tIns="0" rIns="0" bIns="0" rtlCol="0" anchor="t">
            <a:normAutofit/>
          </a:bodyPr>
          <a:lstStyle/>
          <a:p>
            <a:pPr marL="0" indent="0" algn="l">
              <a:lnSpc>
                <a:spcPts val="1680"/>
              </a:lnSpc>
              <a:buNone/>
            </a:pPr>
            <a:r>
              <a:rPr lang="en-US" sz="1200" b="1" kern="0" spc="200" dirty="0">
                <a:solidFill>
                  <a:srgbClr val="A8D672"/>
                </a:solidFill>
                <a:latin typeface="IBM Plex Sans" pitchFamily="34" charset="0"/>
                <a:ea typeface="IBM Plex Sans" pitchFamily="34" charset="-122"/>
                <a:cs typeface="IBM Plex Sans" pitchFamily="34" charset="-120"/>
              </a:rPr>
              <a:t>PART 2 · EVOLUTION AND REFACTORING</a:t>
            </a:r>
            <a:endParaRPr lang="en-US" sz="1200" dirty="0"/>
          </a:p>
        </p:txBody>
      </p:sp>
      <p:sp>
        <p:nvSpPr>
          <p:cNvPr id="3" name="Text 1"/>
          <p:cNvSpPr>
            <a:spLocks noGrp="1"/>
          </p:cNvSpPr>
          <p:nvPr>
            <p:ph type="title"/>
          </p:nvPr>
        </p:nvSpPr>
        <p:spPr>
          <a:xfrm>
            <a:off x="812726" y="1127621"/>
            <a:ext cx="10883545" cy="528191"/>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F5F3EA"/>
                </a:solidFill>
                <a:latin typeface="Space Grotesk" pitchFamily="34" charset="0"/>
                <a:ea typeface="Space Grotesk" pitchFamily="34" charset="-122"/>
                <a:cs typeface="Space Grotesk" pitchFamily="34" charset="-120"/>
              </a:rPr>
              <a:t>Three features a farmer would ask for</a:t>
            </a:r>
            <a:endParaRPr lang="en-US" sz="3600" dirty="0"/>
          </a:p>
        </p:txBody>
      </p:sp>
      <p:sp>
        <p:nvSpPr>
          <p:cNvPr id="4" name="Shape 2"/>
          <p:cNvSpPr/>
          <p:nvPr/>
        </p:nvSpPr>
        <p:spPr>
          <a:xfrm>
            <a:off x="812726" y="1935138"/>
            <a:ext cx="3386708" cy="3057550"/>
          </a:xfrm>
          <a:prstGeom prst="roundRect">
            <a:avLst>
              <a:gd name="adj" fmla="val 4984"/>
            </a:avLst>
          </a:prstGeom>
          <a:solidFill>
            <a:srgbClr val="1C3A2E"/>
          </a:solidFill>
          <a:ln/>
        </p:spPr>
      </p:sp>
      <p:sp>
        <p:nvSpPr>
          <p:cNvPr id="5" name="Text 3"/>
          <p:cNvSpPr/>
          <p:nvPr/>
        </p:nvSpPr>
        <p:spPr>
          <a:xfrm>
            <a:off x="1066726" y="2189138"/>
            <a:ext cx="2965069"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E3A33B"/>
                </a:solidFill>
                <a:latin typeface="IBM Plex Sans" pitchFamily="34" charset="0"/>
                <a:ea typeface="IBM Plex Sans" pitchFamily="34" charset="-122"/>
                <a:cs typeface="IBM Plex Sans" pitchFamily="34" charset="-120"/>
              </a:rPr>
              <a:t>CH01</a:t>
            </a:r>
            <a:endParaRPr lang="en-US" sz="1200" dirty="0"/>
          </a:p>
        </p:txBody>
      </p:sp>
      <p:sp>
        <p:nvSpPr>
          <p:cNvPr id="6" name="Text 4"/>
          <p:cNvSpPr/>
          <p:nvPr/>
        </p:nvSpPr>
        <p:spPr>
          <a:xfrm>
            <a:off x="1066726" y="2504033"/>
            <a:ext cx="2965069" cy="360635"/>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F5F3EA"/>
                </a:solidFill>
                <a:latin typeface="Space Grotesk" pitchFamily="34" charset="0"/>
                <a:ea typeface="Space Grotesk" pitchFamily="34" charset="-122"/>
                <a:cs typeface="Space Grotesk" pitchFamily="34" charset="-120"/>
              </a:rPr>
              <a:t>Crop types</a:t>
            </a:r>
            <a:endParaRPr lang="en-US" sz="2200" dirty="0"/>
          </a:p>
        </p:txBody>
      </p:sp>
      <p:sp>
        <p:nvSpPr>
          <p:cNvPr id="7" name="Text 5"/>
          <p:cNvSpPr/>
          <p:nvPr/>
        </p:nvSpPr>
        <p:spPr>
          <a:xfrm>
            <a:off x="1066726" y="2940844"/>
            <a:ext cx="2965069" cy="878557"/>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C9D8CE"/>
                </a:solidFill>
                <a:latin typeface="IBM Plex Sans" pitchFamily="34" charset="0"/>
                <a:ea typeface="IBM Plex Sans" pitchFamily="34" charset="-122"/>
                <a:cs typeface="IBM Plex Sans" pitchFamily="34" charset="-120"/>
              </a:rPr>
              <a:t>Choose tomato, rice or wheat; the target moisture comes from the crop.</a:t>
            </a:r>
            <a:endParaRPr lang="en-US" sz="1600" dirty="0"/>
          </a:p>
        </p:txBody>
      </p:sp>
      <p:sp>
        <p:nvSpPr>
          <p:cNvPr id="8" name="Text 6"/>
          <p:cNvSpPr/>
          <p:nvPr/>
        </p:nvSpPr>
        <p:spPr>
          <a:xfrm>
            <a:off x="1066726" y="4210472"/>
            <a:ext cx="2965069"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A8D672"/>
                </a:solidFill>
                <a:latin typeface="IBM Plex Sans" pitchFamily="34" charset="0"/>
                <a:ea typeface="IBM Plex Sans" pitchFamily="34" charset="-122"/>
                <a:cs typeface="IBM Plex Sans" pitchFamily="34" charset="-120"/>
              </a:rPr>
              <a:t>Duplicated Code → Extract Method</a:t>
            </a:r>
            <a:endParaRPr lang="en-US" sz="1200" dirty="0"/>
          </a:p>
        </p:txBody>
      </p:sp>
      <p:sp>
        <p:nvSpPr>
          <p:cNvPr id="9" name="Text 7"/>
          <p:cNvSpPr/>
          <p:nvPr/>
        </p:nvSpPr>
        <p:spPr>
          <a:xfrm>
            <a:off x="1066726" y="4525367"/>
            <a:ext cx="2965069"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9FB5A8"/>
                </a:solidFill>
                <a:latin typeface="JetBrains Mono" pitchFamily="49" charset="0"/>
                <a:ea typeface="JetBrains Mono" pitchFamily="49" charset="-122"/>
                <a:cs typeface="JetBrains Mono" pitchFamily="49" charset="-120"/>
              </a:rPr>
              <a:t>utils/crop_profiles.py</a:t>
            </a:r>
            <a:endParaRPr lang="en-US" sz="1200" dirty="0"/>
          </a:p>
        </p:txBody>
      </p:sp>
      <p:sp>
        <p:nvSpPr>
          <p:cNvPr id="10" name="Shape 8"/>
          <p:cNvSpPr/>
          <p:nvPr/>
        </p:nvSpPr>
        <p:spPr>
          <a:xfrm>
            <a:off x="4402584" y="1935138"/>
            <a:ext cx="3386832" cy="3057550"/>
          </a:xfrm>
          <a:prstGeom prst="roundRect">
            <a:avLst>
              <a:gd name="adj" fmla="val 4984"/>
            </a:avLst>
          </a:prstGeom>
          <a:solidFill>
            <a:srgbClr val="1C3A2E"/>
          </a:solidFill>
          <a:ln/>
        </p:spPr>
      </p:sp>
      <p:sp>
        <p:nvSpPr>
          <p:cNvPr id="11" name="Text 9"/>
          <p:cNvSpPr/>
          <p:nvPr/>
        </p:nvSpPr>
        <p:spPr>
          <a:xfrm>
            <a:off x="4656584" y="2189138"/>
            <a:ext cx="2965197"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E3A33B"/>
                </a:solidFill>
                <a:latin typeface="IBM Plex Sans" pitchFamily="34" charset="0"/>
                <a:ea typeface="IBM Plex Sans" pitchFamily="34" charset="-122"/>
                <a:cs typeface="IBM Plex Sans" pitchFamily="34" charset="-120"/>
              </a:rPr>
              <a:t>CH02</a:t>
            </a:r>
            <a:endParaRPr lang="en-US" sz="1200" dirty="0"/>
          </a:p>
        </p:txBody>
      </p:sp>
      <p:sp>
        <p:nvSpPr>
          <p:cNvPr id="12" name="Text 10"/>
          <p:cNvSpPr/>
          <p:nvPr/>
        </p:nvSpPr>
        <p:spPr>
          <a:xfrm>
            <a:off x="4656584" y="2504033"/>
            <a:ext cx="2965197" cy="360635"/>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F5F3EA"/>
                </a:solidFill>
                <a:latin typeface="Space Grotesk" pitchFamily="34" charset="0"/>
                <a:ea typeface="Space Grotesk" pitchFamily="34" charset="-122"/>
                <a:cs typeface="Space Grotesk" pitchFamily="34" charset="-120"/>
              </a:rPr>
              <a:t>Irrigation strategies</a:t>
            </a:r>
            <a:endParaRPr lang="en-US" sz="2200" dirty="0"/>
          </a:p>
        </p:txBody>
      </p:sp>
      <p:sp>
        <p:nvSpPr>
          <p:cNvPr id="13" name="Text 11"/>
          <p:cNvSpPr/>
          <p:nvPr/>
        </p:nvSpPr>
        <p:spPr>
          <a:xfrm>
            <a:off x="4656584" y="2940844"/>
            <a:ext cx="2965197" cy="878557"/>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C9D8CE"/>
                </a:solidFill>
                <a:latin typeface="IBM Plex Sans" pitchFamily="34" charset="0"/>
                <a:ea typeface="IBM Plex Sans" pitchFamily="34" charset="-122"/>
                <a:cs typeface="IBM Plex Sans" pitchFamily="34" charset="-120"/>
              </a:rPr>
              <a:t>Water only in time windows, skip when it rains, and stack the rules.</a:t>
            </a:r>
            <a:endParaRPr lang="en-US" sz="1600" dirty="0"/>
          </a:p>
        </p:txBody>
      </p:sp>
      <p:sp>
        <p:nvSpPr>
          <p:cNvPr id="14" name="Text 12"/>
          <p:cNvSpPr/>
          <p:nvPr/>
        </p:nvSpPr>
        <p:spPr>
          <a:xfrm>
            <a:off x="4656584" y="3997151"/>
            <a:ext cx="2965197"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A8D672"/>
                </a:solidFill>
                <a:latin typeface="IBM Plex Sans" pitchFamily="34" charset="0"/>
                <a:ea typeface="IBM Plex Sans" pitchFamily="34" charset="-122"/>
                <a:cs typeface="IBM Plex Sans" pitchFamily="34" charset="-120"/>
              </a:rPr>
              <a:t>Switch Statements → Replace Conditional with Polymorphism</a:t>
            </a:r>
            <a:endParaRPr lang="en-US" sz="1200" dirty="0"/>
          </a:p>
        </p:txBody>
      </p:sp>
      <p:sp>
        <p:nvSpPr>
          <p:cNvPr id="15" name="Text 13"/>
          <p:cNvSpPr/>
          <p:nvPr/>
        </p:nvSpPr>
        <p:spPr>
          <a:xfrm>
            <a:off x="4656584" y="4525367"/>
            <a:ext cx="2965197"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9FB5A8"/>
                </a:solidFill>
                <a:latin typeface="JetBrains Mono" pitchFamily="49" charset="0"/>
                <a:ea typeface="JetBrains Mono" pitchFamily="49" charset="-122"/>
                <a:cs typeface="JetBrains Mono" pitchFamily="49" charset="-120"/>
              </a:rPr>
              <a:t>utils/irrigation_strategies.py</a:t>
            </a:r>
            <a:endParaRPr lang="en-US" sz="1200" dirty="0"/>
          </a:p>
        </p:txBody>
      </p:sp>
      <p:sp>
        <p:nvSpPr>
          <p:cNvPr id="16" name="Shape 14"/>
          <p:cNvSpPr/>
          <p:nvPr/>
        </p:nvSpPr>
        <p:spPr>
          <a:xfrm>
            <a:off x="7992566" y="1935138"/>
            <a:ext cx="3386708" cy="3057550"/>
          </a:xfrm>
          <a:prstGeom prst="roundRect">
            <a:avLst>
              <a:gd name="adj" fmla="val 4984"/>
            </a:avLst>
          </a:prstGeom>
          <a:solidFill>
            <a:srgbClr val="1C3A2E"/>
          </a:solidFill>
          <a:ln/>
        </p:spPr>
      </p:sp>
      <p:sp>
        <p:nvSpPr>
          <p:cNvPr id="17" name="Text 15"/>
          <p:cNvSpPr/>
          <p:nvPr/>
        </p:nvSpPr>
        <p:spPr>
          <a:xfrm>
            <a:off x="8246566" y="2189138"/>
            <a:ext cx="2965069"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E3A33B"/>
                </a:solidFill>
                <a:latin typeface="IBM Plex Sans" pitchFamily="34" charset="0"/>
                <a:ea typeface="IBM Plex Sans" pitchFamily="34" charset="-122"/>
                <a:cs typeface="IBM Plex Sans" pitchFamily="34" charset="-120"/>
              </a:rPr>
              <a:t>CH03</a:t>
            </a:r>
            <a:endParaRPr lang="en-US" sz="1200" dirty="0"/>
          </a:p>
        </p:txBody>
      </p:sp>
      <p:sp>
        <p:nvSpPr>
          <p:cNvPr id="18" name="Text 16"/>
          <p:cNvSpPr/>
          <p:nvPr/>
        </p:nvSpPr>
        <p:spPr>
          <a:xfrm>
            <a:off x="8246566" y="2504033"/>
            <a:ext cx="2965069" cy="360635"/>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F5F3EA"/>
                </a:solidFill>
                <a:latin typeface="Space Grotesk" pitchFamily="34" charset="0"/>
                <a:ea typeface="Space Grotesk" pitchFamily="34" charset="-122"/>
                <a:cs typeface="Space Grotesk" pitchFamily="34" charset="-120"/>
              </a:rPr>
              <a:t>Sensor alerts</a:t>
            </a:r>
            <a:endParaRPr lang="en-US" sz="2200" dirty="0"/>
          </a:p>
        </p:txBody>
      </p:sp>
      <p:sp>
        <p:nvSpPr>
          <p:cNvPr id="19" name="Text 17"/>
          <p:cNvSpPr/>
          <p:nvPr/>
        </p:nvSpPr>
        <p:spPr>
          <a:xfrm>
            <a:off x="8246566" y="2940844"/>
            <a:ext cx="2965069" cy="594171"/>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C9D8CE"/>
                </a:solidFill>
                <a:latin typeface="IBM Plex Sans" pitchFamily="34" charset="0"/>
                <a:ea typeface="IBM Plex Sans" pitchFamily="34" charset="-122"/>
                <a:cs typeface="IBM Plex Sans" pitchFamily="34" charset="-120"/>
              </a:rPr>
              <a:t>Warn when the soil is critically dry or the sensor goes silent.</a:t>
            </a:r>
            <a:endParaRPr lang="en-US" sz="1600" dirty="0"/>
          </a:p>
        </p:txBody>
      </p:sp>
      <p:sp>
        <p:nvSpPr>
          <p:cNvPr id="20" name="Text 18"/>
          <p:cNvSpPr/>
          <p:nvPr/>
        </p:nvSpPr>
        <p:spPr>
          <a:xfrm>
            <a:off x="8246566" y="4210472"/>
            <a:ext cx="2965069"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A8D672"/>
                </a:solidFill>
                <a:latin typeface="IBM Plex Sans" pitchFamily="34" charset="0"/>
                <a:ea typeface="IBM Plex Sans" pitchFamily="34" charset="-122"/>
                <a:cs typeface="IBM Plex Sans" pitchFamily="34" charset="-120"/>
              </a:rPr>
              <a:t>Long Method → Extract Method</a:t>
            </a:r>
            <a:endParaRPr lang="en-US" sz="1200" dirty="0"/>
          </a:p>
        </p:txBody>
      </p:sp>
      <p:sp>
        <p:nvSpPr>
          <p:cNvPr id="21" name="Text 19"/>
          <p:cNvSpPr/>
          <p:nvPr/>
        </p:nvSpPr>
        <p:spPr>
          <a:xfrm>
            <a:off x="8246566" y="4525367"/>
            <a:ext cx="2965069"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9FB5A8"/>
                </a:solidFill>
                <a:latin typeface="JetBrains Mono" pitchFamily="49" charset="0"/>
                <a:ea typeface="JetBrains Mono" pitchFamily="49" charset="-122"/>
                <a:cs typeface="JetBrains Mono" pitchFamily="49" charset="-120"/>
              </a:rPr>
              <a:t>utils/sensor_alerts.py</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10">
    <p:bg>
      <p:bgPr>
        <a:solidFill>
          <a:srgbClr val="F5F3EA"/>
        </a:solidFill>
        <a:effectLst/>
      </p:bgPr>
    </p:bg>
    <p:spTree>
      <p:nvGrpSpPr>
        <p:cNvPr id="1" name=""/>
        <p:cNvGrpSpPr/>
        <p:nvPr/>
      </p:nvGrpSpPr>
      <p:grpSpPr>
        <a:xfrm>
          <a:off x="0" y="0"/>
          <a:ext cx="0" cy="0"/>
          <a:chOff x="0" y="0"/>
          <a:chExt cx="0" cy="0"/>
        </a:xfrm>
      </p:grpSpPr>
      <p:sp>
        <p:nvSpPr>
          <p:cNvPr id="2" name="Text 0"/>
          <p:cNvSpPr/>
          <p:nvPr/>
        </p:nvSpPr>
        <p:spPr>
          <a:xfrm>
            <a:off x="812726" y="812726"/>
            <a:ext cx="10883545" cy="238720"/>
          </a:xfrm>
          <a:prstGeom prst="rect">
            <a:avLst/>
          </a:prstGeom>
          <a:noFill/>
          <a:ln/>
        </p:spPr>
        <p:txBody>
          <a:bodyPr wrap="square" lIns="0" tIns="0" rIns="0" bIns="0" rtlCol="0" anchor="t">
            <a:normAutofit/>
          </a:bodyPr>
          <a:lstStyle/>
          <a:p>
            <a:pPr marL="0" indent="0" algn="l">
              <a:lnSpc>
                <a:spcPts val="1680"/>
              </a:lnSpc>
              <a:buNone/>
            </a:pPr>
            <a:r>
              <a:rPr lang="en-US" sz="1200" b="1" kern="0" spc="200" dirty="0">
                <a:solidFill>
                  <a:srgbClr val="2F7D4A"/>
                </a:solidFill>
                <a:latin typeface="IBM Plex Sans" pitchFamily="34" charset="0"/>
                <a:ea typeface="IBM Plex Sans" pitchFamily="34" charset="-122"/>
                <a:cs typeface="IBM Plex Sans" pitchFamily="34" charset="-120"/>
              </a:rPr>
              <a:t>CH02 · STRATEGY + DECORATOR</a:t>
            </a:r>
            <a:endParaRPr lang="en-US" sz="1200" dirty="0"/>
          </a:p>
        </p:txBody>
      </p:sp>
      <p:sp>
        <p:nvSpPr>
          <p:cNvPr id="3" name="Text 1"/>
          <p:cNvSpPr>
            <a:spLocks noGrp="1"/>
          </p:cNvSpPr>
          <p:nvPr>
            <p:ph type="title"/>
          </p:nvPr>
        </p:nvSpPr>
        <p:spPr>
          <a:xfrm>
            <a:off x="812726" y="1127621"/>
            <a:ext cx="10883545" cy="528191"/>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3261F"/>
                </a:solidFill>
                <a:latin typeface="Space Grotesk" pitchFamily="34" charset="0"/>
                <a:ea typeface="Space Grotesk" pitchFamily="34" charset="-122"/>
                <a:cs typeface="Space Grotesk" pitchFamily="34" charset="-120"/>
              </a:rPr>
              <a:t>Irrigation policies become objects</a:t>
            </a:r>
            <a:endParaRPr lang="en-US" sz="3600" dirty="0"/>
          </a:p>
        </p:txBody>
      </p:sp>
      <p:sp>
        <p:nvSpPr>
          <p:cNvPr id="4" name="Shape 2"/>
          <p:cNvSpPr/>
          <p:nvPr/>
        </p:nvSpPr>
        <p:spPr>
          <a:xfrm>
            <a:off x="4008065" y="1884412"/>
            <a:ext cx="4175745" cy="853033"/>
          </a:xfrm>
          <a:prstGeom prst="roundRect">
            <a:avLst>
              <a:gd name="adj" fmla="val 14888"/>
            </a:avLst>
          </a:prstGeom>
          <a:solidFill>
            <a:srgbClr val="13261F"/>
          </a:solidFill>
          <a:ln/>
        </p:spPr>
      </p:sp>
      <p:sp>
        <p:nvSpPr>
          <p:cNvPr id="5" name="Text 3"/>
          <p:cNvSpPr/>
          <p:nvPr/>
        </p:nvSpPr>
        <p:spPr>
          <a:xfrm>
            <a:off x="4779181" y="2036713"/>
            <a:ext cx="2633514" cy="309786"/>
          </a:xfrm>
          <a:prstGeom prst="rect">
            <a:avLst/>
          </a:prstGeom>
          <a:noFill/>
          <a:ln/>
        </p:spPr>
        <p:txBody>
          <a:bodyPr wrap="square" lIns="0" tIns="0" rIns="0" bIns="0" rtlCol="0" anchor="t">
            <a:normAutofit/>
          </a:bodyPr>
          <a:lstStyle/>
          <a:p>
            <a:pPr marL="0" indent="0" algn="ctr">
              <a:lnSpc>
                <a:spcPts val="2240"/>
              </a:lnSpc>
              <a:buNone/>
            </a:pPr>
            <a:r>
              <a:rPr lang="en-US" sz="1600" b="1" dirty="0">
                <a:solidFill>
                  <a:srgbClr val="A8D672"/>
                </a:solidFill>
                <a:latin typeface="JetBrains Mono" pitchFamily="49" charset="0"/>
                <a:ea typeface="JetBrains Mono" pitchFamily="49" charset="-122"/>
                <a:cs typeface="JetBrains Mono" pitchFamily="49" charset="-120"/>
              </a:rPr>
              <a:t>IrrigationStrategy</a:t>
            </a:r>
            <a:endParaRPr lang="en-US" sz="1600" dirty="0"/>
          </a:p>
        </p:txBody>
      </p:sp>
      <p:sp>
        <p:nvSpPr>
          <p:cNvPr id="6" name="Text 4"/>
          <p:cNvSpPr/>
          <p:nvPr/>
        </p:nvSpPr>
        <p:spPr>
          <a:xfrm>
            <a:off x="4312791" y="2371824"/>
            <a:ext cx="387102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9D8CE"/>
                </a:solidFill>
                <a:latin typeface="JetBrains Mono" pitchFamily="49" charset="0"/>
                <a:ea typeface="JetBrains Mono" pitchFamily="49" charset="-122"/>
                <a:cs typeface="JetBrains Mono" pitchFamily="49" charset="-120"/>
              </a:rPr>
              <a:t>decide(ctx) → pump on, off or no change</a:t>
            </a:r>
            <a:endParaRPr lang="en-US" sz="1200" dirty="0"/>
          </a:p>
        </p:txBody>
      </p:sp>
      <p:pic>
        <p:nvPicPr>
          <p:cNvPr id="7" name="Image 0" descr="arrow-up"/>
          <p:cNvPicPr>
            <a:picLocks noChangeAspect="1"/>
          </p:cNvPicPr>
          <p:nvPr/>
        </p:nvPicPr>
        <p:blipFill>
          <a:blip r:embed="rId3"/>
          <a:srcRect t="-20" b="-20"/>
          <a:stretch/>
        </p:blipFill>
        <p:spPr>
          <a:xfrm>
            <a:off x="2000374" y="2839021"/>
            <a:ext cx="152301" cy="304726"/>
          </a:xfrm>
          <a:prstGeom prst="rect">
            <a:avLst/>
          </a:prstGeom>
        </p:spPr>
      </p:pic>
      <p:pic>
        <p:nvPicPr>
          <p:cNvPr id="8" name="Image 1" descr="arrow-up"/>
          <p:cNvPicPr>
            <a:picLocks noChangeAspect="1"/>
          </p:cNvPicPr>
          <p:nvPr/>
        </p:nvPicPr>
        <p:blipFill>
          <a:blip r:embed="rId3"/>
          <a:srcRect t="-20" b="-20"/>
          <a:stretch/>
        </p:blipFill>
        <p:spPr>
          <a:xfrm>
            <a:off x="4680024" y="2839021"/>
            <a:ext cx="152301" cy="304726"/>
          </a:xfrm>
          <a:prstGeom prst="rect">
            <a:avLst/>
          </a:prstGeom>
        </p:spPr>
      </p:pic>
      <p:pic>
        <p:nvPicPr>
          <p:cNvPr id="9" name="Image 2" descr="arrow-up"/>
          <p:cNvPicPr>
            <a:picLocks noChangeAspect="1"/>
          </p:cNvPicPr>
          <p:nvPr/>
        </p:nvPicPr>
        <p:blipFill>
          <a:blip r:embed="rId4"/>
          <a:srcRect t="-20" b="-20"/>
          <a:stretch/>
        </p:blipFill>
        <p:spPr>
          <a:xfrm>
            <a:off x="7359675" y="2839021"/>
            <a:ext cx="152301" cy="304726"/>
          </a:xfrm>
          <a:prstGeom prst="rect">
            <a:avLst/>
          </a:prstGeom>
        </p:spPr>
      </p:pic>
      <p:pic>
        <p:nvPicPr>
          <p:cNvPr id="10" name="Image 3" descr="arrow-up"/>
          <p:cNvPicPr>
            <a:picLocks noChangeAspect="1"/>
          </p:cNvPicPr>
          <p:nvPr/>
        </p:nvPicPr>
        <p:blipFill>
          <a:blip r:embed="rId4"/>
          <a:srcRect t="-20" b="-20"/>
          <a:stretch/>
        </p:blipFill>
        <p:spPr>
          <a:xfrm>
            <a:off x="10039325" y="2839021"/>
            <a:ext cx="152301" cy="304726"/>
          </a:xfrm>
          <a:prstGeom prst="rect">
            <a:avLst/>
          </a:prstGeom>
        </p:spPr>
      </p:pic>
      <p:sp>
        <p:nvSpPr>
          <p:cNvPr id="11" name="Shape 5"/>
          <p:cNvSpPr/>
          <p:nvPr/>
        </p:nvSpPr>
        <p:spPr>
          <a:xfrm>
            <a:off x="819200" y="3251671"/>
            <a:ext cx="2514650" cy="998463"/>
          </a:xfrm>
          <a:prstGeom prst="roundRect">
            <a:avLst>
              <a:gd name="adj" fmla="val 12084"/>
            </a:avLst>
          </a:prstGeom>
          <a:solidFill>
            <a:srgbClr val="FBFAF4"/>
          </a:solidFill>
          <a:ln w="12700">
            <a:solidFill>
              <a:srgbClr val="2F7D4A"/>
            </a:solidFill>
            <a:prstDash val="solid"/>
          </a:ln>
        </p:spPr>
      </p:sp>
      <p:sp>
        <p:nvSpPr>
          <p:cNvPr id="12" name="Text 6"/>
          <p:cNvSpPr/>
          <p:nvPr/>
        </p:nvSpPr>
        <p:spPr>
          <a:xfrm>
            <a:off x="973088" y="3405560"/>
            <a:ext cx="2273079"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3261F"/>
                </a:solidFill>
                <a:latin typeface="JetBrains Mono" pitchFamily="49" charset="0"/>
                <a:ea typeface="JetBrains Mono" pitchFamily="49" charset="-122"/>
                <a:cs typeface="JetBrains Mono" pitchFamily="49" charset="-120"/>
              </a:rPr>
              <a:t>RaiseHysteresisStrategy</a:t>
            </a:r>
            <a:endParaRPr lang="en-US" sz="1200" dirty="0"/>
          </a:p>
        </p:txBody>
      </p:sp>
      <p:sp>
        <p:nvSpPr>
          <p:cNvPr id="13" name="Text 7"/>
          <p:cNvSpPr/>
          <p:nvPr/>
        </p:nvSpPr>
        <p:spPr>
          <a:xfrm>
            <a:off x="973088" y="3669605"/>
            <a:ext cx="2273079"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B4A42"/>
                </a:solidFill>
                <a:latin typeface="IBM Plex Sans" pitchFamily="34" charset="0"/>
                <a:ea typeface="IBM Plex Sans" pitchFamily="34" charset="-122"/>
                <a:cs typeface="IBM Plex Sans" pitchFamily="34" charset="-120"/>
              </a:rPr>
              <a:t>strategy · water when dry</a:t>
            </a:r>
            <a:endParaRPr lang="en-US" sz="1200" dirty="0"/>
          </a:p>
        </p:txBody>
      </p:sp>
      <p:sp>
        <p:nvSpPr>
          <p:cNvPr id="14" name="Shape 8"/>
          <p:cNvSpPr/>
          <p:nvPr/>
        </p:nvSpPr>
        <p:spPr>
          <a:xfrm>
            <a:off x="3498850" y="3251671"/>
            <a:ext cx="2514650" cy="998463"/>
          </a:xfrm>
          <a:prstGeom prst="roundRect">
            <a:avLst>
              <a:gd name="adj" fmla="val 12084"/>
            </a:avLst>
          </a:prstGeom>
          <a:solidFill>
            <a:srgbClr val="FBFAF4"/>
          </a:solidFill>
          <a:ln w="12700">
            <a:solidFill>
              <a:srgbClr val="2F7D4A"/>
            </a:solidFill>
            <a:prstDash val="solid"/>
          </a:ln>
        </p:spPr>
      </p:sp>
      <p:sp>
        <p:nvSpPr>
          <p:cNvPr id="15" name="Text 9"/>
          <p:cNvSpPr/>
          <p:nvPr/>
        </p:nvSpPr>
        <p:spPr>
          <a:xfrm>
            <a:off x="3652738" y="3405560"/>
            <a:ext cx="2273079"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3261F"/>
                </a:solidFill>
                <a:latin typeface="JetBrains Mono" pitchFamily="49" charset="0"/>
                <a:ea typeface="JetBrains Mono" pitchFamily="49" charset="-122"/>
                <a:cs typeface="JetBrains Mono" pitchFamily="49" charset="-120"/>
              </a:rPr>
              <a:t>LowerHysteresisStrategy</a:t>
            </a:r>
            <a:endParaRPr lang="en-US" sz="1200" dirty="0"/>
          </a:p>
        </p:txBody>
      </p:sp>
      <p:sp>
        <p:nvSpPr>
          <p:cNvPr id="16" name="Text 10"/>
          <p:cNvSpPr/>
          <p:nvPr/>
        </p:nvSpPr>
        <p:spPr>
          <a:xfrm>
            <a:off x="3652738" y="3669605"/>
            <a:ext cx="2273079"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B4A42"/>
                </a:solidFill>
                <a:latin typeface="IBM Plex Sans" pitchFamily="34" charset="0"/>
                <a:ea typeface="IBM Plex Sans" pitchFamily="34" charset="-122"/>
                <a:cs typeface="IBM Plex Sans" pitchFamily="34" charset="-120"/>
              </a:rPr>
              <a:t>strategy · drain when wet</a:t>
            </a:r>
            <a:endParaRPr lang="en-US" sz="1200" dirty="0"/>
          </a:p>
        </p:txBody>
      </p:sp>
      <p:sp>
        <p:nvSpPr>
          <p:cNvPr id="17" name="Shape 11"/>
          <p:cNvSpPr/>
          <p:nvPr/>
        </p:nvSpPr>
        <p:spPr>
          <a:xfrm>
            <a:off x="6178500" y="3251671"/>
            <a:ext cx="2514650" cy="998463"/>
          </a:xfrm>
          <a:prstGeom prst="roundRect">
            <a:avLst>
              <a:gd name="adj" fmla="val 12084"/>
            </a:avLst>
          </a:prstGeom>
          <a:solidFill>
            <a:srgbClr val="FBF1DE"/>
          </a:solidFill>
          <a:ln w="12700">
            <a:solidFill>
              <a:srgbClr val="E3A33B"/>
            </a:solidFill>
            <a:prstDash val="solid"/>
          </a:ln>
        </p:spPr>
      </p:sp>
      <p:sp>
        <p:nvSpPr>
          <p:cNvPr id="18" name="Text 12"/>
          <p:cNvSpPr/>
          <p:nvPr/>
        </p:nvSpPr>
        <p:spPr>
          <a:xfrm>
            <a:off x="6332389" y="3405560"/>
            <a:ext cx="2273079"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3261F"/>
                </a:solidFill>
                <a:latin typeface="JetBrains Mono" pitchFamily="49" charset="0"/>
                <a:ea typeface="JetBrains Mono" pitchFamily="49" charset="-122"/>
                <a:cs typeface="JetBrains Mono" pitchFamily="49" charset="-120"/>
              </a:rPr>
              <a:t>TimeWindowStrategy</a:t>
            </a:r>
            <a:endParaRPr lang="en-US" sz="1200" dirty="0"/>
          </a:p>
        </p:txBody>
      </p:sp>
      <p:sp>
        <p:nvSpPr>
          <p:cNvPr id="19" name="Text 13"/>
          <p:cNvSpPr/>
          <p:nvPr/>
        </p:nvSpPr>
        <p:spPr>
          <a:xfrm>
            <a:off x="6332389" y="3669605"/>
            <a:ext cx="2273079"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B4A42"/>
                </a:solidFill>
                <a:latin typeface="IBM Plex Sans" pitchFamily="34" charset="0"/>
                <a:ea typeface="IBM Plex Sans" pitchFamily="34" charset="-122"/>
                <a:cs typeface="IBM Plex Sans" pitchFamily="34" charset="-120"/>
              </a:rPr>
              <a:t>decorator · only in HH:MM windows</a:t>
            </a:r>
            <a:endParaRPr lang="en-US" sz="1200" dirty="0"/>
          </a:p>
        </p:txBody>
      </p:sp>
      <p:sp>
        <p:nvSpPr>
          <p:cNvPr id="20" name="Shape 14"/>
          <p:cNvSpPr/>
          <p:nvPr/>
        </p:nvSpPr>
        <p:spPr>
          <a:xfrm>
            <a:off x="8858151" y="3251671"/>
            <a:ext cx="2514650" cy="998463"/>
          </a:xfrm>
          <a:prstGeom prst="roundRect">
            <a:avLst>
              <a:gd name="adj" fmla="val 12084"/>
            </a:avLst>
          </a:prstGeom>
          <a:solidFill>
            <a:srgbClr val="FBF1DE"/>
          </a:solidFill>
          <a:ln w="12700">
            <a:solidFill>
              <a:srgbClr val="E3A33B"/>
            </a:solidFill>
            <a:prstDash val="solid"/>
          </a:ln>
        </p:spPr>
      </p:sp>
      <p:sp>
        <p:nvSpPr>
          <p:cNvPr id="21" name="Text 15"/>
          <p:cNvSpPr/>
          <p:nvPr/>
        </p:nvSpPr>
        <p:spPr>
          <a:xfrm>
            <a:off x="9012039" y="3405560"/>
            <a:ext cx="2273079"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3261F"/>
                </a:solidFill>
                <a:latin typeface="JetBrains Mono" pitchFamily="49" charset="0"/>
                <a:ea typeface="JetBrains Mono" pitchFamily="49" charset="-122"/>
                <a:cs typeface="JetBrains Mono" pitchFamily="49" charset="-120"/>
              </a:rPr>
              <a:t>RainSkipStrategy</a:t>
            </a:r>
            <a:endParaRPr lang="en-US" sz="1200" dirty="0"/>
          </a:p>
        </p:txBody>
      </p:sp>
      <p:sp>
        <p:nvSpPr>
          <p:cNvPr id="22" name="Text 16"/>
          <p:cNvSpPr/>
          <p:nvPr/>
        </p:nvSpPr>
        <p:spPr>
          <a:xfrm>
            <a:off x="9012039" y="3669605"/>
            <a:ext cx="2273079"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B4A42"/>
                </a:solidFill>
                <a:latin typeface="IBM Plex Sans" pitchFamily="34" charset="0"/>
                <a:ea typeface="IBM Plex Sans" pitchFamily="34" charset="-122"/>
                <a:cs typeface="IBM Plex Sans" pitchFamily="34" charset="-120"/>
              </a:rPr>
              <a:t>decorator · skip while raining</a:t>
            </a:r>
            <a:endParaRPr lang="en-US" sz="1200" dirty="0"/>
          </a:p>
        </p:txBody>
      </p:sp>
      <p:sp>
        <p:nvSpPr>
          <p:cNvPr id="23" name="Shape 17"/>
          <p:cNvSpPr/>
          <p:nvPr/>
        </p:nvSpPr>
        <p:spPr>
          <a:xfrm>
            <a:off x="812726" y="4510484"/>
            <a:ext cx="7112248" cy="903883"/>
          </a:xfrm>
          <a:prstGeom prst="roundRect">
            <a:avLst>
              <a:gd name="adj" fmla="val 14050"/>
            </a:avLst>
          </a:prstGeom>
          <a:solidFill>
            <a:srgbClr val="EAE6D7"/>
          </a:solidFill>
          <a:ln/>
        </p:spPr>
      </p:sp>
      <p:sp>
        <p:nvSpPr>
          <p:cNvPr id="24" name="Text 18"/>
          <p:cNvSpPr/>
          <p:nvPr/>
        </p:nvSpPr>
        <p:spPr>
          <a:xfrm>
            <a:off x="1015876" y="4688210"/>
            <a:ext cx="6907126"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3B4A42"/>
                </a:solidFill>
                <a:latin typeface="IBM Plex Sans" pitchFamily="34" charset="0"/>
                <a:ea typeface="IBM Plex Sans" pitchFamily="34" charset="-122"/>
                <a:cs typeface="IBM Plex Sans" pitchFamily="34" charset="-120"/>
              </a:rPr>
              <a:t>Decorators wrap any strategy and stack</a:t>
            </a:r>
            <a:endParaRPr lang="en-US" sz="1200" dirty="0"/>
          </a:p>
        </p:txBody>
      </p:sp>
      <p:sp>
        <p:nvSpPr>
          <p:cNvPr id="25" name="Text 19"/>
          <p:cNvSpPr/>
          <p:nvPr/>
        </p:nvSpPr>
        <p:spPr>
          <a:xfrm>
            <a:off x="1015876" y="4952256"/>
            <a:ext cx="690712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3261F"/>
                </a:solidFill>
                <a:latin typeface="JetBrains Mono" pitchFamily="49" charset="0"/>
                <a:ea typeface="JetBrains Mono" pitchFamily="49" charset="-122"/>
                <a:cs typeface="JetBrains Mono" pitchFamily="49" charset="-120"/>
              </a:rPr>
              <a:t>RainSkip(TimeWindow(RaiseHysteresis()))</a:t>
            </a:r>
            <a:endParaRPr lang="en-US" sz="1200" dirty="0"/>
          </a:p>
        </p:txBody>
      </p:sp>
      <p:sp>
        <p:nvSpPr>
          <p:cNvPr id="26" name="Shape 20"/>
          <p:cNvSpPr/>
          <p:nvPr/>
        </p:nvSpPr>
        <p:spPr>
          <a:xfrm>
            <a:off x="8077274" y="4510484"/>
            <a:ext cx="3302000" cy="903883"/>
          </a:xfrm>
          <a:prstGeom prst="roundRect">
            <a:avLst>
              <a:gd name="adj" fmla="val 14050"/>
            </a:avLst>
          </a:prstGeom>
          <a:solidFill>
            <a:srgbClr val="13261F"/>
          </a:solidFill>
          <a:ln/>
        </p:spPr>
      </p:sp>
      <p:sp>
        <p:nvSpPr>
          <p:cNvPr id="27" name="Text 21"/>
          <p:cNvSpPr/>
          <p:nvPr/>
        </p:nvSpPr>
        <p:spPr>
          <a:xfrm>
            <a:off x="8280425" y="4688210"/>
            <a:ext cx="298257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C9D8CE"/>
                </a:solidFill>
                <a:latin typeface="IBM Plex Sans" pitchFamily="34" charset="0"/>
                <a:ea typeface="IBM Plex Sans" pitchFamily="34" charset="-122"/>
                <a:cs typeface="IBM Plex Sans" pitchFamily="34" charset="-120"/>
              </a:rPr>
              <a:t>loop() complexity after refactoring</a:t>
            </a:r>
            <a:endParaRPr lang="en-US" sz="1200" dirty="0"/>
          </a:p>
        </p:txBody>
      </p:sp>
      <p:sp>
        <p:nvSpPr>
          <p:cNvPr id="28" name="Text 22"/>
          <p:cNvSpPr/>
          <p:nvPr/>
        </p:nvSpPr>
        <p:spPr>
          <a:xfrm>
            <a:off x="8280425" y="4952256"/>
            <a:ext cx="2982570" cy="309786"/>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A8D672"/>
                </a:solidFill>
                <a:latin typeface="Space Grotesk" pitchFamily="34" charset="0"/>
                <a:ea typeface="Space Grotesk" pitchFamily="34" charset="-122"/>
                <a:cs typeface="Space Grotesk" pitchFamily="34" charset="-120"/>
              </a:rPr>
              <a:t>CCN 14 → 7</a:t>
            </a:r>
            <a:endParaRPr lang="en-US" sz="1600" dirty="0"/>
          </a:p>
        </p:txBody>
      </p:sp>
      <p:sp>
        <p:nvSpPr>
          <p:cNvPr id="29" name="Text 23"/>
          <p:cNvSpPr/>
          <p:nvPr/>
        </p:nvSpPr>
        <p:spPr>
          <a:xfrm>
            <a:off x="812726" y="6238379"/>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76F"/>
                </a:solidFill>
                <a:latin typeface="IBM Plex Sans" pitchFamily="34" charset="0"/>
                <a:ea typeface="IBM Plex Sans" pitchFamily="34" charset="-122"/>
                <a:cs typeface="IBM Plex Sans" pitchFamily="34" charset="-120"/>
              </a:rPr>
              <a:t>B10 · Design Patterns in Mycodo</a:t>
            </a:r>
            <a:endParaRPr lang="en-US" sz="1200" dirty="0"/>
          </a:p>
        </p:txBody>
      </p:sp>
      <p:sp>
        <p:nvSpPr>
          <p:cNvPr id="30" name="Text 24"/>
          <p:cNvSpPr/>
          <p:nvPr/>
        </p:nvSpPr>
        <p:spPr>
          <a:xfrm>
            <a:off x="10058474" y="6238379"/>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776F"/>
                </a:solidFill>
                <a:latin typeface="IBM Plex Sans" pitchFamily="34" charset="0"/>
                <a:ea typeface="IBM Plex Sans" pitchFamily="34" charset="-122"/>
                <a:cs typeface="IBM Plex Sans" pitchFamily="34" charset="-120"/>
              </a:rPr>
              <a:t>10</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1">
    <p:bg>
      <p:bgPr>
        <a:solidFill>
          <a:srgbClr val="F5F3EA"/>
        </a:solidFill>
        <a:effectLst/>
      </p:bgPr>
    </p:bg>
    <p:spTree>
      <p:nvGrpSpPr>
        <p:cNvPr id="1" name=""/>
        <p:cNvGrpSpPr/>
        <p:nvPr/>
      </p:nvGrpSpPr>
      <p:grpSpPr>
        <a:xfrm>
          <a:off x="0" y="0"/>
          <a:ext cx="0" cy="0"/>
          <a:chOff x="0" y="0"/>
          <a:chExt cx="0" cy="0"/>
        </a:xfrm>
      </p:grpSpPr>
      <p:sp>
        <p:nvSpPr>
          <p:cNvPr id="2" name="Text 0"/>
          <p:cNvSpPr/>
          <p:nvPr/>
        </p:nvSpPr>
        <p:spPr>
          <a:xfrm>
            <a:off x="812726" y="812726"/>
            <a:ext cx="10883545" cy="238720"/>
          </a:xfrm>
          <a:prstGeom prst="rect">
            <a:avLst/>
          </a:prstGeom>
          <a:noFill/>
          <a:ln/>
        </p:spPr>
        <p:txBody>
          <a:bodyPr wrap="square" lIns="0" tIns="0" rIns="0" bIns="0" rtlCol="0" anchor="t">
            <a:normAutofit/>
          </a:bodyPr>
          <a:lstStyle/>
          <a:p>
            <a:pPr marL="0" indent="0" algn="l">
              <a:lnSpc>
                <a:spcPts val="1680"/>
              </a:lnSpc>
              <a:buNone/>
            </a:pPr>
            <a:r>
              <a:rPr lang="en-US" sz="1200" b="1" kern="0" spc="200" dirty="0">
                <a:solidFill>
                  <a:srgbClr val="2F7D4A"/>
                </a:solidFill>
                <a:latin typeface="IBM Plex Sans" pitchFamily="34" charset="0"/>
                <a:ea typeface="IBM Plex Sans" pitchFamily="34" charset="-122"/>
                <a:cs typeface="IBM Plex Sans" pitchFamily="34" charset="-120"/>
              </a:rPr>
              <a:t>CH03 · OBSERVER</a:t>
            </a:r>
            <a:endParaRPr lang="en-US" sz="1200" dirty="0"/>
          </a:p>
        </p:txBody>
      </p:sp>
      <p:sp>
        <p:nvSpPr>
          <p:cNvPr id="3" name="Text 1"/>
          <p:cNvSpPr>
            <a:spLocks noGrp="1"/>
          </p:cNvSpPr>
          <p:nvPr>
            <p:ph type="title"/>
          </p:nvPr>
        </p:nvSpPr>
        <p:spPr>
          <a:xfrm>
            <a:off x="812726" y="1127621"/>
            <a:ext cx="10883545" cy="528191"/>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3261F"/>
                </a:solidFill>
                <a:latin typeface="Space Grotesk" pitchFamily="34" charset="0"/>
                <a:ea typeface="Space Grotesk" pitchFamily="34" charset="-122"/>
                <a:cs typeface="Space Grotesk" pitchFamily="34" charset="-120"/>
              </a:rPr>
              <a:t>Readings turn into alerts</a:t>
            </a:r>
            <a:endParaRPr lang="en-US" sz="3600" dirty="0"/>
          </a:p>
        </p:txBody>
      </p:sp>
      <p:sp>
        <p:nvSpPr>
          <p:cNvPr id="4" name="Shape 2"/>
          <p:cNvSpPr/>
          <p:nvPr/>
        </p:nvSpPr>
        <p:spPr>
          <a:xfrm>
            <a:off x="819076" y="2195860"/>
            <a:ext cx="2400300" cy="1049313"/>
          </a:xfrm>
          <a:prstGeom prst="roundRect">
            <a:avLst>
              <a:gd name="adj" fmla="val 11498"/>
            </a:avLst>
          </a:prstGeom>
          <a:solidFill>
            <a:srgbClr val="FBFAF4"/>
          </a:solidFill>
          <a:ln w="12700">
            <a:solidFill>
              <a:srgbClr val="DDD8C4"/>
            </a:solidFill>
            <a:prstDash val="solid"/>
          </a:ln>
        </p:spPr>
      </p:sp>
      <p:sp>
        <p:nvSpPr>
          <p:cNvPr id="5" name="Text 3"/>
          <p:cNvSpPr/>
          <p:nvPr/>
        </p:nvSpPr>
        <p:spPr>
          <a:xfrm>
            <a:off x="998389" y="2375173"/>
            <a:ext cx="2102924"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3261F"/>
                </a:solidFill>
                <a:latin typeface="JetBrains Mono" pitchFamily="49" charset="0"/>
                <a:ea typeface="JetBrains Mono" pitchFamily="49" charset="-122"/>
                <a:cs typeface="JetBrains Mono" pitchFamily="49" charset="-120"/>
              </a:rPr>
              <a:t>bang_bang.loop()</a:t>
            </a:r>
            <a:endParaRPr lang="en-US" sz="1200" dirty="0"/>
          </a:p>
        </p:txBody>
      </p:sp>
      <p:sp>
        <p:nvSpPr>
          <p:cNvPr id="6" name="Text 4"/>
          <p:cNvSpPr/>
          <p:nvPr/>
        </p:nvSpPr>
        <p:spPr>
          <a:xfrm>
            <a:off x="998389" y="2639219"/>
            <a:ext cx="2102924"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B4A42"/>
                </a:solidFill>
                <a:latin typeface="IBM Plex Sans" pitchFamily="34" charset="0"/>
                <a:ea typeface="IBM Plex Sans" pitchFamily="34" charset="-122"/>
                <a:cs typeface="IBM Plex Sans" pitchFamily="34" charset="-120"/>
              </a:rPr>
              <a:t>detects a missing reading or critically dry soil</a:t>
            </a:r>
            <a:endParaRPr lang="en-US" sz="1200" dirty="0"/>
          </a:p>
        </p:txBody>
      </p:sp>
      <p:pic>
        <p:nvPicPr>
          <p:cNvPr id="7" name="Image 0" descr="arrow-right"/>
          <p:cNvPicPr>
            <a:picLocks noChangeAspect="1"/>
          </p:cNvPicPr>
          <p:nvPr/>
        </p:nvPicPr>
        <p:blipFill>
          <a:blip r:embed="rId3"/>
          <a:srcRect l="-17" r="-17"/>
          <a:stretch/>
        </p:blipFill>
        <p:spPr>
          <a:xfrm>
            <a:off x="3378026" y="2631653"/>
            <a:ext cx="355575" cy="177726"/>
          </a:xfrm>
          <a:prstGeom prst="rect">
            <a:avLst/>
          </a:prstGeom>
        </p:spPr>
      </p:pic>
      <p:sp>
        <p:nvSpPr>
          <p:cNvPr id="8" name="Shape 5"/>
          <p:cNvSpPr/>
          <p:nvPr/>
        </p:nvSpPr>
        <p:spPr>
          <a:xfrm>
            <a:off x="3885902" y="2304107"/>
            <a:ext cx="3302000" cy="832817"/>
          </a:xfrm>
          <a:prstGeom prst="roundRect">
            <a:avLst>
              <a:gd name="adj" fmla="val 15249"/>
            </a:avLst>
          </a:prstGeom>
          <a:solidFill>
            <a:srgbClr val="13261F"/>
          </a:solidFill>
          <a:ln/>
        </p:spPr>
      </p:sp>
      <p:sp>
        <p:nvSpPr>
          <p:cNvPr id="9" name="Text 6"/>
          <p:cNvSpPr/>
          <p:nvPr/>
        </p:nvSpPr>
        <p:spPr>
          <a:xfrm>
            <a:off x="4063628" y="2481833"/>
            <a:ext cx="3034945"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A8D672"/>
                </a:solidFill>
                <a:latin typeface="JetBrains Mono" pitchFamily="49" charset="0"/>
                <a:ea typeface="JetBrains Mono" pitchFamily="49" charset="-122"/>
                <a:cs typeface="JetBrains Mono" pitchFamily="49" charset="-120"/>
              </a:rPr>
              <a:t>SensorAlertNotifier</a:t>
            </a:r>
            <a:endParaRPr lang="en-US" sz="1200" dirty="0"/>
          </a:p>
        </p:txBody>
      </p:sp>
      <p:sp>
        <p:nvSpPr>
          <p:cNvPr id="10" name="Text 7"/>
          <p:cNvSpPr/>
          <p:nvPr/>
        </p:nvSpPr>
        <p:spPr>
          <a:xfrm>
            <a:off x="4063628" y="2745879"/>
            <a:ext cx="3124274"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9D8CE"/>
                </a:solidFill>
                <a:latin typeface="IBM Plex Sans" pitchFamily="34" charset="0"/>
                <a:ea typeface="IBM Plex Sans" pitchFamily="34" charset="-122"/>
                <a:cs typeface="IBM Plex Sans" pitchFamily="34" charset="-120"/>
              </a:rPr>
              <a:t>subject: attach · detach · raise_alert · clear</a:t>
            </a:r>
            <a:endParaRPr lang="en-US" sz="1200" dirty="0"/>
          </a:p>
        </p:txBody>
      </p:sp>
      <p:pic>
        <p:nvPicPr>
          <p:cNvPr id="11" name="Image 1" descr="arrow-right"/>
          <p:cNvPicPr>
            <a:picLocks noChangeAspect="1"/>
          </p:cNvPicPr>
          <p:nvPr/>
        </p:nvPicPr>
        <p:blipFill>
          <a:blip r:embed="rId3"/>
          <a:srcRect l="-17" r="-17"/>
          <a:stretch/>
        </p:blipFill>
        <p:spPr>
          <a:xfrm>
            <a:off x="7340203" y="2631653"/>
            <a:ext cx="355575" cy="177726"/>
          </a:xfrm>
          <a:prstGeom prst="rect">
            <a:avLst/>
          </a:prstGeom>
        </p:spPr>
      </p:pic>
      <p:sp>
        <p:nvSpPr>
          <p:cNvPr id="12" name="Shape 8"/>
          <p:cNvSpPr/>
          <p:nvPr/>
        </p:nvSpPr>
        <p:spPr>
          <a:xfrm>
            <a:off x="7854429" y="1941488"/>
            <a:ext cx="3518495" cy="721891"/>
          </a:xfrm>
          <a:prstGeom prst="roundRect">
            <a:avLst>
              <a:gd name="adj" fmla="val 16713"/>
            </a:avLst>
          </a:prstGeom>
          <a:solidFill>
            <a:srgbClr val="FBF1DE"/>
          </a:solidFill>
          <a:ln w="12700">
            <a:solidFill>
              <a:srgbClr val="E3A33B"/>
            </a:solidFill>
            <a:prstDash val="solid"/>
          </a:ln>
        </p:spPr>
      </p:sp>
      <p:sp>
        <p:nvSpPr>
          <p:cNvPr id="13" name="Text 9"/>
          <p:cNvSpPr/>
          <p:nvPr/>
        </p:nvSpPr>
        <p:spPr>
          <a:xfrm>
            <a:off x="8008317" y="2070075"/>
            <a:ext cx="330704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3261F"/>
                </a:solidFill>
                <a:latin typeface="JetBrains Mono" pitchFamily="49" charset="0"/>
                <a:ea typeface="JetBrains Mono" pitchFamily="49" charset="-122"/>
                <a:cs typeface="JetBrains Mono" pitchFamily="49" charset="-120"/>
              </a:rPr>
              <a:t>LogAlertListener</a:t>
            </a:r>
            <a:endParaRPr lang="en-US" sz="1200" dirty="0"/>
          </a:p>
        </p:txBody>
      </p:sp>
      <p:sp>
        <p:nvSpPr>
          <p:cNvPr id="14" name="Text 10"/>
          <p:cNvSpPr/>
          <p:nvPr/>
        </p:nvSpPr>
        <p:spPr>
          <a:xfrm>
            <a:off x="8008317" y="2321471"/>
            <a:ext cx="330704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B4A42"/>
                </a:solidFill>
                <a:latin typeface="IBM Plex Sans" pitchFamily="34" charset="0"/>
                <a:ea typeface="IBM Plex Sans" pitchFamily="34" charset="-122"/>
                <a:cs typeface="IBM Plex Sans" pitchFamily="34" charset="-120"/>
              </a:rPr>
              <a:t>always attached</a:t>
            </a:r>
            <a:endParaRPr lang="en-US" sz="1200" dirty="0"/>
          </a:p>
        </p:txBody>
      </p:sp>
      <p:sp>
        <p:nvSpPr>
          <p:cNvPr id="15" name="Shape 11"/>
          <p:cNvSpPr/>
          <p:nvPr/>
        </p:nvSpPr>
        <p:spPr>
          <a:xfrm>
            <a:off x="7854429" y="2777654"/>
            <a:ext cx="3518495" cy="721891"/>
          </a:xfrm>
          <a:prstGeom prst="roundRect">
            <a:avLst>
              <a:gd name="adj" fmla="val 16713"/>
            </a:avLst>
          </a:prstGeom>
          <a:solidFill>
            <a:srgbClr val="FBF1DE"/>
          </a:solidFill>
          <a:ln w="12700">
            <a:solidFill>
              <a:srgbClr val="E3A33B"/>
            </a:solidFill>
            <a:prstDash val="solid"/>
          </a:ln>
        </p:spPr>
      </p:sp>
      <p:sp>
        <p:nvSpPr>
          <p:cNvPr id="16" name="Text 12"/>
          <p:cNvSpPr/>
          <p:nvPr/>
        </p:nvSpPr>
        <p:spPr>
          <a:xfrm>
            <a:off x="8008317" y="2906241"/>
            <a:ext cx="330704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3261F"/>
                </a:solidFill>
                <a:latin typeface="JetBrains Mono" pitchFamily="49" charset="0"/>
                <a:ea typeface="JetBrains Mono" pitchFamily="49" charset="-122"/>
                <a:cs typeface="JetBrains Mono" pitchFamily="49" charset="-120"/>
              </a:rPr>
              <a:t>EmailAlertListener</a:t>
            </a:r>
            <a:endParaRPr lang="en-US" sz="1200" dirty="0"/>
          </a:p>
        </p:txBody>
      </p:sp>
      <p:sp>
        <p:nvSpPr>
          <p:cNvPr id="17" name="Text 13"/>
          <p:cNvSpPr/>
          <p:nvPr/>
        </p:nvSpPr>
        <p:spPr>
          <a:xfrm>
            <a:off x="8008317" y="3157637"/>
            <a:ext cx="330704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B4A42"/>
                </a:solidFill>
                <a:latin typeface="IBM Plex Sans" pitchFamily="34" charset="0"/>
                <a:ea typeface="IBM Plex Sans" pitchFamily="34" charset="-122"/>
                <a:cs typeface="IBM Plex Sans" pitchFamily="34" charset="-120"/>
              </a:rPr>
              <a:t>when recipients are set</a:t>
            </a:r>
            <a:endParaRPr lang="en-US" sz="1200" dirty="0"/>
          </a:p>
        </p:txBody>
      </p:sp>
      <p:sp>
        <p:nvSpPr>
          <p:cNvPr id="18" name="Shape 14"/>
          <p:cNvSpPr/>
          <p:nvPr/>
        </p:nvSpPr>
        <p:spPr>
          <a:xfrm>
            <a:off x="812726" y="3810620"/>
            <a:ext cx="3420566" cy="903883"/>
          </a:xfrm>
          <a:prstGeom prst="roundRect">
            <a:avLst>
              <a:gd name="adj" fmla="val 14050"/>
            </a:avLst>
          </a:prstGeom>
          <a:solidFill>
            <a:srgbClr val="EAE6D7"/>
          </a:solidFill>
          <a:ln/>
        </p:spPr>
      </p:sp>
      <p:pic>
        <p:nvPicPr>
          <p:cNvPr id="19" name="Image 2" descr="Clock"/>
          <p:cNvPicPr>
            <a:picLocks noChangeAspect="1"/>
          </p:cNvPicPr>
          <p:nvPr/>
        </p:nvPicPr>
        <p:blipFill>
          <a:blip r:embed="rId4"/>
          <a:srcRect l="-232" r="-232"/>
          <a:stretch/>
        </p:blipFill>
        <p:spPr>
          <a:xfrm>
            <a:off x="990451" y="3988346"/>
            <a:ext cx="204143" cy="254000"/>
          </a:xfrm>
          <a:prstGeom prst="rect">
            <a:avLst/>
          </a:prstGeom>
        </p:spPr>
      </p:pic>
      <p:sp>
        <p:nvSpPr>
          <p:cNvPr id="20" name="Text 15"/>
          <p:cNvSpPr/>
          <p:nvPr/>
        </p:nvSpPr>
        <p:spPr>
          <a:xfrm>
            <a:off x="1296169" y="3988346"/>
            <a:ext cx="2842179" cy="573832"/>
          </a:xfrm>
          <a:prstGeom prst="rect">
            <a:avLst/>
          </a:prstGeom>
          <a:noFill/>
          <a:ln/>
        </p:spPr>
        <p:txBody>
          <a:bodyPr wrap="square" lIns="0" tIns="0" rIns="0" bIns="0" rtlCol="0" anchor="t">
            <a:normAutofit/>
          </a:bodyPr>
          <a:lstStyle/>
          <a:p>
            <a:pPr marL="0" indent="0" algn="l">
              <a:lnSpc>
                <a:spcPts val="2160"/>
              </a:lnSpc>
              <a:buNone/>
            </a:pPr>
            <a:r>
              <a:rPr lang="en-US" sz="1600" dirty="0">
                <a:solidFill>
                  <a:srgbClr val="13261F"/>
                </a:solidFill>
                <a:latin typeface="IBM Plex Sans" pitchFamily="34" charset="0"/>
                <a:ea typeface="IBM Plex Sans" pitchFamily="34" charset="-122"/>
                <a:cs typeface="IBM Plex Sans" pitchFamily="34" charset="-120"/>
              </a:rPr>
              <a:t>Once per episode; recovery re-arms it</a:t>
            </a:r>
            <a:endParaRPr lang="en-US" sz="1600" dirty="0"/>
          </a:p>
        </p:txBody>
      </p:sp>
      <p:sp>
        <p:nvSpPr>
          <p:cNvPr id="21" name="Shape 16"/>
          <p:cNvSpPr/>
          <p:nvPr/>
        </p:nvSpPr>
        <p:spPr>
          <a:xfrm>
            <a:off x="4385593" y="3810620"/>
            <a:ext cx="3420690" cy="903883"/>
          </a:xfrm>
          <a:prstGeom prst="roundRect">
            <a:avLst>
              <a:gd name="adj" fmla="val 14050"/>
            </a:avLst>
          </a:prstGeom>
          <a:solidFill>
            <a:srgbClr val="EAE6D7"/>
          </a:solidFill>
          <a:ln/>
        </p:spPr>
      </p:sp>
      <p:pic>
        <p:nvPicPr>
          <p:cNvPr id="22" name="Image 3" descr="Lock"/>
          <p:cNvPicPr>
            <a:picLocks noChangeAspect="1"/>
          </p:cNvPicPr>
          <p:nvPr/>
        </p:nvPicPr>
        <p:blipFill>
          <a:blip r:embed="rId5"/>
          <a:srcRect l="-171" r="-171"/>
          <a:stretch/>
        </p:blipFill>
        <p:spPr>
          <a:xfrm>
            <a:off x="4563318" y="3988346"/>
            <a:ext cx="203895" cy="254000"/>
          </a:xfrm>
          <a:prstGeom prst="rect">
            <a:avLst/>
          </a:prstGeom>
        </p:spPr>
      </p:pic>
      <p:sp>
        <p:nvSpPr>
          <p:cNvPr id="23" name="Text 17"/>
          <p:cNvSpPr/>
          <p:nvPr/>
        </p:nvSpPr>
        <p:spPr>
          <a:xfrm>
            <a:off x="4868788" y="3988346"/>
            <a:ext cx="2842563" cy="573832"/>
          </a:xfrm>
          <a:prstGeom prst="rect">
            <a:avLst/>
          </a:prstGeom>
          <a:noFill/>
          <a:ln/>
        </p:spPr>
        <p:txBody>
          <a:bodyPr wrap="square" lIns="0" tIns="0" rIns="0" bIns="0" rtlCol="0" anchor="t">
            <a:normAutofit/>
          </a:bodyPr>
          <a:lstStyle/>
          <a:p>
            <a:pPr marL="0" indent="0" algn="l">
              <a:lnSpc>
                <a:spcPts val="2160"/>
              </a:lnSpc>
              <a:buNone/>
            </a:pPr>
            <a:r>
              <a:rPr lang="en-US" sz="1600" dirty="0">
                <a:solidFill>
                  <a:srgbClr val="13261F"/>
                </a:solidFill>
                <a:latin typeface="IBM Plex Sans" pitchFamily="34" charset="0"/>
                <a:ea typeface="IBM Plex Sans" pitchFamily="34" charset="-122"/>
                <a:cs typeface="IBM Plex Sans" pitchFamily="34" charset="-120"/>
              </a:rPr>
              <a:t>A failing listener never stops irrigation</a:t>
            </a:r>
            <a:endParaRPr lang="en-US" sz="1600" dirty="0"/>
          </a:p>
        </p:txBody>
      </p:sp>
      <p:sp>
        <p:nvSpPr>
          <p:cNvPr id="24" name="Shape 18"/>
          <p:cNvSpPr/>
          <p:nvPr/>
        </p:nvSpPr>
        <p:spPr>
          <a:xfrm>
            <a:off x="7958584" y="3810620"/>
            <a:ext cx="3420690" cy="903883"/>
          </a:xfrm>
          <a:prstGeom prst="roundRect">
            <a:avLst>
              <a:gd name="adj" fmla="val 14050"/>
            </a:avLst>
          </a:prstGeom>
          <a:solidFill>
            <a:srgbClr val="EAE6D7"/>
          </a:solidFill>
          <a:ln/>
        </p:spPr>
      </p:sp>
      <p:pic>
        <p:nvPicPr>
          <p:cNvPr id="25" name="Image 4" descr="Wrench"/>
          <p:cNvPicPr>
            <a:picLocks noChangeAspect="1"/>
          </p:cNvPicPr>
          <p:nvPr/>
        </p:nvPicPr>
        <p:blipFill>
          <a:blip r:embed="rId6"/>
          <a:srcRect l="-367" r="-367"/>
          <a:stretch/>
        </p:blipFill>
        <p:spPr>
          <a:xfrm>
            <a:off x="8136310" y="3988346"/>
            <a:ext cx="211088" cy="254000"/>
          </a:xfrm>
          <a:prstGeom prst="rect">
            <a:avLst/>
          </a:prstGeom>
        </p:spPr>
      </p:pic>
      <p:sp>
        <p:nvSpPr>
          <p:cNvPr id="26" name="Text 19"/>
          <p:cNvSpPr/>
          <p:nvPr/>
        </p:nvSpPr>
        <p:spPr>
          <a:xfrm>
            <a:off x="8448973" y="3988346"/>
            <a:ext cx="2835153" cy="573832"/>
          </a:xfrm>
          <a:prstGeom prst="rect">
            <a:avLst/>
          </a:prstGeom>
          <a:noFill/>
          <a:ln/>
        </p:spPr>
        <p:txBody>
          <a:bodyPr wrap="square" lIns="0" tIns="0" rIns="0" bIns="0" rtlCol="0" anchor="t">
            <a:normAutofit/>
          </a:bodyPr>
          <a:lstStyle/>
          <a:p>
            <a:pPr marL="0" indent="0" algn="l">
              <a:lnSpc>
                <a:spcPts val="2160"/>
              </a:lnSpc>
              <a:buNone/>
            </a:pPr>
            <a:r>
              <a:rPr lang="en-US" sz="1600" dirty="0">
                <a:solidFill>
                  <a:srgbClr val="13261F"/>
                </a:solidFill>
                <a:latin typeface="IBM Plex Sans" pitchFamily="34" charset="0"/>
                <a:ea typeface="IBM Plex Sans" pitchFamily="34" charset="-122"/>
                <a:cs typeface="IBM Plex Sans" pitchFamily="34" charset="-120"/>
              </a:rPr>
              <a:t>Also fixes a crash on empty readings</a:t>
            </a:r>
            <a:endParaRPr lang="en-US" sz="1600" dirty="0"/>
          </a:p>
        </p:txBody>
      </p:sp>
      <p:sp>
        <p:nvSpPr>
          <p:cNvPr id="27" name="Text 20"/>
          <p:cNvSpPr/>
          <p:nvPr/>
        </p:nvSpPr>
        <p:spPr>
          <a:xfrm>
            <a:off x="812726" y="6238379"/>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76F"/>
                </a:solidFill>
                <a:latin typeface="IBM Plex Sans" pitchFamily="34" charset="0"/>
                <a:ea typeface="IBM Plex Sans" pitchFamily="34" charset="-122"/>
                <a:cs typeface="IBM Plex Sans" pitchFamily="34" charset="-120"/>
              </a:rPr>
              <a:t>B10 · Design Patterns in Mycodo</a:t>
            </a:r>
            <a:endParaRPr lang="en-US" sz="1200" dirty="0"/>
          </a:p>
        </p:txBody>
      </p:sp>
      <p:sp>
        <p:nvSpPr>
          <p:cNvPr id="28" name="Text 21"/>
          <p:cNvSpPr/>
          <p:nvPr/>
        </p:nvSpPr>
        <p:spPr>
          <a:xfrm>
            <a:off x="10058474" y="6238379"/>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776F"/>
                </a:solidFill>
                <a:latin typeface="IBM Plex Sans" pitchFamily="34" charset="0"/>
                <a:ea typeface="IBM Plex Sans" pitchFamily="34" charset="-122"/>
                <a:cs typeface="IBM Plex Sans" pitchFamily="34" charset="-120"/>
              </a:rPr>
              <a:t>11</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2">
    <p:bg>
      <p:bgPr>
        <a:solidFill>
          <a:srgbClr val="EAE6D7"/>
        </a:solidFill>
        <a:effectLst/>
      </p:bgPr>
    </p:bg>
    <p:spTree>
      <p:nvGrpSpPr>
        <p:cNvPr id="1" name=""/>
        <p:cNvGrpSpPr/>
        <p:nvPr/>
      </p:nvGrpSpPr>
      <p:grpSpPr>
        <a:xfrm>
          <a:off x="0" y="0"/>
          <a:ext cx="0" cy="0"/>
          <a:chOff x="0" y="0"/>
          <a:chExt cx="0" cy="0"/>
        </a:xfrm>
      </p:grpSpPr>
      <p:sp>
        <p:nvSpPr>
          <p:cNvPr id="2" name="Text 0"/>
          <p:cNvSpPr/>
          <p:nvPr/>
        </p:nvSpPr>
        <p:spPr>
          <a:xfrm>
            <a:off x="812726" y="812726"/>
            <a:ext cx="10883545" cy="238720"/>
          </a:xfrm>
          <a:prstGeom prst="rect">
            <a:avLst/>
          </a:prstGeom>
          <a:noFill/>
          <a:ln/>
        </p:spPr>
        <p:txBody>
          <a:bodyPr wrap="square" lIns="0" tIns="0" rIns="0" bIns="0" rtlCol="0" anchor="t">
            <a:normAutofit/>
          </a:bodyPr>
          <a:lstStyle/>
          <a:p>
            <a:pPr marL="0" indent="0" algn="l">
              <a:lnSpc>
                <a:spcPts val="1680"/>
              </a:lnSpc>
              <a:buNone/>
            </a:pPr>
            <a:r>
              <a:rPr lang="en-US" b="1" kern="0" spc="200" dirty="0">
                <a:solidFill>
                  <a:srgbClr val="2F7D4A"/>
                </a:solidFill>
                <a:latin typeface="IBM Plex Sans" pitchFamily="34" charset="0"/>
                <a:ea typeface="IBM Plex Sans" pitchFamily="34" charset="-122"/>
                <a:cs typeface="IBM Plex Sans" pitchFamily="34" charset="-120"/>
              </a:rPr>
              <a:t>EVOLUTION RESULTS</a:t>
            </a:r>
            <a:endParaRPr lang="en-US"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0663" y="1943075"/>
          <a:ext cx="10558610" cy="1905620"/>
        </p:xfrm>
        <a:graphic>
          <a:graphicData uri="http://schemas.openxmlformats.org/drawingml/2006/table">
            <a:tbl>
              <a:tblPr/>
              <a:tblGrid>
                <a:gridCol w="2322894">
                  <a:extLst>
                    <a:ext uri="{9D8B030D-6E8A-4147-A177-3AD203B41FA5}">
                      <a16:colId xmlns:a16="http://schemas.microsoft.com/office/drawing/2014/main" val="20000"/>
                    </a:ext>
                  </a:extLst>
                </a:gridCol>
                <a:gridCol w="1161447">
                  <a:extLst>
                    <a:ext uri="{9D8B030D-6E8A-4147-A177-3AD203B41FA5}">
                      <a16:colId xmlns:a16="http://schemas.microsoft.com/office/drawing/2014/main" val="20001"/>
                    </a:ext>
                  </a:extLst>
                </a:gridCol>
                <a:gridCol w="1478206">
                  <a:extLst>
                    <a:ext uri="{9D8B030D-6E8A-4147-A177-3AD203B41FA5}">
                      <a16:colId xmlns:a16="http://schemas.microsoft.com/office/drawing/2014/main" val="20002"/>
                    </a:ext>
                  </a:extLst>
                </a:gridCol>
                <a:gridCol w="2006136">
                  <a:extLst>
                    <a:ext uri="{9D8B030D-6E8A-4147-A177-3AD203B41FA5}">
                      <a16:colId xmlns:a16="http://schemas.microsoft.com/office/drawing/2014/main" val="20003"/>
                    </a:ext>
                  </a:extLst>
                </a:gridCol>
                <a:gridCol w="2322894">
                  <a:extLst>
                    <a:ext uri="{9D8B030D-6E8A-4147-A177-3AD203B41FA5}">
                      <a16:colId xmlns:a16="http://schemas.microsoft.com/office/drawing/2014/main" val="20004"/>
                    </a:ext>
                  </a:extLst>
                </a:gridCol>
                <a:gridCol w="1267033">
                  <a:extLst>
                    <a:ext uri="{9D8B030D-6E8A-4147-A177-3AD203B41FA5}">
                      <a16:colId xmlns:a16="http://schemas.microsoft.com/office/drawing/2014/main" val="20005"/>
                    </a:ext>
                  </a:extLst>
                </a:gridCol>
              </a:tblGrid>
              <a:tr h="381124">
                <a:tc>
                  <a:txBody>
                    <a:bodyPr/>
                    <a:lstStyle/>
                    <a:p>
                      <a:pPr marL="0" indent="0">
                        <a:lnSpc>
                          <a:spcPts val="1960"/>
                        </a:lnSpc>
                        <a:buNone/>
                      </a:pPr>
                      <a:r>
                        <a:rPr lang="en-US" sz="1400" b="1" dirty="0">
                          <a:solidFill>
                            <a:srgbClr val="F5F3EA"/>
                          </a:solidFill>
                          <a:latin typeface="IBM Plex Sans" pitchFamily="34" charset="0"/>
                          <a:ea typeface="IBM Plex Sans" pitchFamily="34" charset="-122"/>
                          <a:cs typeface="IBM Plex Sans" pitchFamily="34" charset="-120"/>
                        </a:rPr>
                        <a:t>Snapshot</a:t>
                      </a:r>
                      <a:endParaRPr lang="en-US" sz="1400" dirty="0">
                        <a:latin typeface="IBM Plex Sans" charset="0"/>
                        <a:ea typeface="IBM Plex Sans" charset="0"/>
                        <a:cs typeface="IBM Plex Sans" charset="0"/>
                      </a:endParaRPr>
                    </a:p>
                  </a:txBody>
                  <a:tcPr marL="62230" marR="62230" marT="62230" marB="62230">
                    <a:lnL w="12700" cap="flat" cmpd="sng" algn="ctr">
                      <a:solidFill>
                        <a:srgbClr val="BBB8AC"/>
                      </a:solidFill>
                      <a:prstDash val="solid"/>
                      <a:round/>
                      <a:headEnd type="none" w="med" len="med"/>
                      <a:tailEnd type="none" w="med" len="med"/>
                    </a:lnL>
                    <a:lnR w="12700" cap="flat" cmpd="sng" algn="ctr">
                      <a:solidFill>
                        <a:srgbClr val="13221C"/>
                      </a:solidFill>
                      <a:prstDash val="solid"/>
                      <a:round/>
                      <a:headEnd type="none" w="med" len="med"/>
                      <a:tailEnd type="none" w="med" len="med"/>
                    </a:lnR>
                    <a:lnT w="12700" cap="flat" cmpd="sng" algn="ctr">
                      <a:solidFill>
                        <a:srgbClr val="BBB8AC"/>
                      </a:solidFill>
                      <a:prstDash val="solid"/>
                      <a:round/>
                      <a:headEnd type="none" w="med" len="med"/>
                      <a:tailEnd type="none" w="med" len="med"/>
                    </a:lnT>
                    <a:lnB w="12700" cap="flat" cmpd="sng" algn="ctr">
                      <a:solidFill>
                        <a:srgbClr val="13221C"/>
                      </a:solidFill>
                      <a:prstDash val="solid"/>
                      <a:round/>
                      <a:headEnd type="none" w="med" len="med"/>
                      <a:tailEnd type="none" w="med" len="med"/>
                    </a:lnB>
                    <a:solidFill>
                      <a:srgbClr val="13261F"/>
                    </a:solidFill>
                  </a:tcPr>
                </a:tc>
                <a:tc>
                  <a:txBody>
                    <a:bodyPr/>
                    <a:lstStyle/>
                    <a:p>
                      <a:pPr marL="0" indent="0" algn="r">
                        <a:lnSpc>
                          <a:spcPts val="1960"/>
                        </a:lnSpc>
                        <a:buNone/>
                      </a:pPr>
                      <a:r>
                        <a:rPr lang="en-US" sz="1400" b="1" dirty="0">
                          <a:solidFill>
                            <a:srgbClr val="F5F3EA"/>
                          </a:solidFill>
                          <a:latin typeface="IBM Plex Sans" pitchFamily="34" charset="0"/>
                          <a:ea typeface="IBM Plex Sans" pitchFamily="34" charset="-122"/>
                          <a:cs typeface="IBM Plex Sans" pitchFamily="34" charset="-120"/>
                        </a:rPr>
                        <a:t>Types</a:t>
                      </a:r>
                      <a:endParaRPr lang="en-US" sz="1400" dirty="0">
                        <a:latin typeface="IBM Plex Sans" charset="0"/>
                        <a:ea typeface="IBM Plex Sans" charset="0"/>
                        <a:cs typeface="IBM Plex Sans" charset="0"/>
                      </a:endParaRPr>
                    </a:p>
                  </a:txBody>
                  <a:tcPr marL="62230" marR="62230" marT="62230" marB="62230">
                    <a:lnL w="12700" cap="flat" cmpd="sng" algn="ctr">
                      <a:solidFill>
                        <a:srgbClr val="13221C"/>
                      </a:solidFill>
                      <a:prstDash val="solid"/>
                      <a:round/>
                      <a:headEnd type="none" w="med" len="med"/>
                      <a:tailEnd type="none" w="med" len="med"/>
                    </a:lnL>
                    <a:lnR w="12700" cap="flat" cmpd="sng" algn="ctr">
                      <a:solidFill>
                        <a:srgbClr val="13221C"/>
                      </a:solidFill>
                      <a:prstDash val="solid"/>
                      <a:round/>
                      <a:headEnd type="none" w="med" len="med"/>
                      <a:tailEnd type="none" w="med" len="med"/>
                    </a:lnR>
                    <a:lnT w="12700" cap="flat" cmpd="sng" algn="ctr">
                      <a:solidFill>
                        <a:srgbClr val="BBB8AC"/>
                      </a:solidFill>
                      <a:prstDash val="solid"/>
                      <a:round/>
                      <a:headEnd type="none" w="med" len="med"/>
                      <a:tailEnd type="none" w="med" len="med"/>
                    </a:lnT>
                    <a:lnB w="12700" cap="flat" cmpd="sng" algn="ctr">
                      <a:solidFill>
                        <a:srgbClr val="13221C"/>
                      </a:solidFill>
                      <a:prstDash val="solid"/>
                      <a:round/>
                      <a:headEnd type="none" w="med" len="med"/>
                      <a:tailEnd type="none" w="med" len="med"/>
                    </a:lnB>
                    <a:solidFill>
                      <a:srgbClr val="13261F"/>
                    </a:solidFill>
                  </a:tcPr>
                </a:tc>
                <a:tc>
                  <a:txBody>
                    <a:bodyPr/>
                    <a:lstStyle/>
                    <a:p>
                      <a:pPr marL="0" indent="0" algn="r">
                        <a:lnSpc>
                          <a:spcPts val="1960"/>
                        </a:lnSpc>
                        <a:buNone/>
                      </a:pPr>
                      <a:r>
                        <a:rPr lang="en-US" sz="1400" b="1" dirty="0">
                          <a:solidFill>
                            <a:srgbClr val="F5F3EA"/>
                          </a:solidFill>
                          <a:latin typeface="IBM Plex Sans" pitchFamily="34" charset="0"/>
                          <a:ea typeface="IBM Plex Sans" pitchFamily="34" charset="-122"/>
                          <a:cs typeface="IBM Plex Sans" pitchFamily="34" charset="-120"/>
                        </a:rPr>
                        <a:t>Instances</a:t>
                      </a:r>
                      <a:endParaRPr lang="en-US" sz="1400" dirty="0">
                        <a:latin typeface="IBM Plex Sans" charset="0"/>
                        <a:ea typeface="IBM Plex Sans" charset="0"/>
                        <a:cs typeface="IBM Plex Sans" charset="0"/>
                      </a:endParaRPr>
                    </a:p>
                  </a:txBody>
                  <a:tcPr marL="62230" marR="62230" marT="62230" marB="62230">
                    <a:lnL w="12700" cap="flat" cmpd="sng" algn="ctr">
                      <a:solidFill>
                        <a:srgbClr val="13221C"/>
                      </a:solidFill>
                      <a:prstDash val="solid"/>
                      <a:round/>
                      <a:headEnd type="none" w="med" len="med"/>
                      <a:tailEnd type="none" w="med" len="med"/>
                    </a:lnL>
                    <a:lnR w="12700" cap="flat" cmpd="sng" algn="ctr">
                      <a:solidFill>
                        <a:srgbClr val="13221C"/>
                      </a:solidFill>
                      <a:prstDash val="solid"/>
                      <a:round/>
                      <a:headEnd type="none" w="med" len="med"/>
                      <a:tailEnd type="none" w="med" len="med"/>
                    </a:lnR>
                    <a:lnT w="12700" cap="flat" cmpd="sng" algn="ctr">
                      <a:solidFill>
                        <a:srgbClr val="BBB8AC"/>
                      </a:solidFill>
                      <a:prstDash val="solid"/>
                      <a:round/>
                      <a:headEnd type="none" w="med" len="med"/>
                      <a:tailEnd type="none" w="med" len="med"/>
                    </a:lnT>
                    <a:lnB w="12700" cap="flat" cmpd="sng" algn="ctr">
                      <a:solidFill>
                        <a:srgbClr val="13221C"/>
                      </a:solidFill>
                      <a:prstDash val="solid"/>
                      <a:round/>
                      <a:headEnd type="none" w="med" len="med"/>
                      <a:tailEnd type="none" w="med" len="med"/>
                    </a:lnB>
                    <a:solidFill>
                      <a:srgbClr val="13261F"/>
                    </a:solidFill>
                  </a:tcPr>
                </a:tc>
                <a:tc>
                  <a:txBody>
                    <a:bodyPr/>
                    <a:lstStyle/>
                    <a:p>
                      <a:pPr marL="0" indent="0" algn="r">
                        <a:lnSpc>
                          <a:spcPts val="1960"/>
                        </a:lnSpc>
                        <a:buNone/>
                      </a:pPr>
                      <a:r>
                        <a:rPr lang="en-US" sz="1400" b="1" dirty="0">
                          <a:solidFill>
                            <a:srgbClr val="F5F3EA"/>
                          </a:solidFill>
                          <a:latin typeface="IBM Plex Sans" pitchFamily="34" charset="0"/>
                          <a:ea typeface="IBM Plex Sans" pitchFamily="34" charset="-122"/>
                          <a:cs typeface="IBM Plex Sans" pitchFamily="34" charset="-120"/>
                        </a:rPr>
                        <a:t>Concrete classes</a:t>
                      </a:r>
                      <a:endParaRPr lang="en-US" sz="1400" dirty="0">
                        <a:latin typeface="IBM Plex Sans" charset="0"/>
                        <a:ea typeface="IBM Plex Sans" charset="0"/>
                        <a:cs typeface="IBM Plex Sans" charset="0"/>
                      </a:endParaRPr>
                    </a:p>
                  </a:txBody>
                  <a:tcPr marL="62230" marR="62230" marT="62230" marB="62230">
                    <a:lnL w="12700" cap="flat" cmpd="sng" algn="ctr">
                      <a:solidFill>
                        <a:srgbClr val="13221C"/>
                      </a:solidFill>
                      <a:prstDash val="solid"/>
                      <a:round/>
                      <a:headEnd type="none" w="med" len="med"/>
                      <a:tailEnd type="none" w="med" len="med"/>
                    </a:lnL>
                    <a:lnR w="12700" cap="flat" cmpd="sng" algn="ctr">
                      <a:solidFill>
                        <a:srgbClr val="13221C"/>
                      </a:solidFill>
                      <a:prstDash val="solid"/>
                      <a:round/>
                      <a:headEnd type="none" w="med" len="med"/>
                      <a:tailEnd type="none" w="med" len="med"/>
                    </a:lnR>
                    <a:lnT w="12700" cap="flat" cmpd="sng" algn="ctr">
                      <a:solidFill>
                        <a:srgbClr val="BBB8AC"/>
                      </a:solidFill>
                      <a:prstDash val="solid"/>
                      <a:round/>
                      <a:headEnd type="none" w="med" len="med"/>
                      <a:tailEnd type="none" w="med" len="med"/>
                    </a:lnT>
                    <a:lnB w="12700" cap="flat" cmpd="sng" algn="ctr">
                      <a:solidFill>
                        <a:srgbClr val="13221C"/>
                      </a:solidFill>
                      <a:prstDash val="solid"/>
                      <a:round/>
                      <a:headEnd type="none" w="med" len="med"/>
                      <a:tailEnd type="none" w="med" len="med"/>
                    </a:lnB>
                    <a:solidFill>
                      <a:srgbClr val="13261F"/>
                    </a:solidFill>
                  </a:tcPr>
                </a:tc>
                <a:tc>
                  <a:txBody>
                    <a:bodyPr/>
                    <a:lstStyle/>
                    <a:p>
                      <a:pPr marL="0" indent="0">
                        <a:lnSpc>
                          <a:spcPts val="1960"/>
                        </a:lnSpc>
                        <a:buNone/>
                      </a:pPr>
                      <a:r>
                        <a:rPr lang="en-US" sz="1400" b="1" dirty="0">
                          <a:solidFill>
                            <a:srgbClr val="F5F3EA"/>
                          </a:solidFill>
                          <a:latin typeface="IBM Plex Sans" pitchFamily="34" charset="0"/>
                          <a:ea typeface="IBM Plex Sans" pitchFamily="34" charset="-122"/>
                          <a:cs typeface="IBM Plex Sans" pitchFamily="34" charset="-120"/>
                        </a:rPr>
                        <a:t>New patterns</a:t>
                      </a:r>
                      <a:endParaRPr lang="en-US" sz="1400" dirty="0">
                        <a:latin typeface="IBM Plex Sans" charset="0"/>
                        <a:ea typeface="IBM Plex Sans" charset="0"/>
                        <a:cs typeface="IBM Plex Sans" charset="0"/>
                      </a:endParaRPr>
                    </a:p>
                  </a:txBody>
                  <a:tcPr marL="62230" marR="62230" marT="62230" marB="62230">
                    <a:lnL w="12700" cap="flat" cmpd="sng" algn="ctr">
                      <a:solidFill>
                        <a:srgbClr val="13221C"/>
                      </a:solidFill>
                      <a:prstDash val="solid"/>
                      <a:round/>
                      <a:headEnd type="none" w="med" len="med"/>
                      <a:tailEnd type="none" w="med" len="med"/>
                    </a:lnL>
                    <a:lnR w="12700" cap="flat" cmpd="sng" algn="ctr">
                      <a:solidFill>
                        <a:srgbClr val="13221C"/>
                      </a:solidFill>
                      <a:prstDash val="solid"/>
                      <a:round/>
                      <a:headEnd type="none" w="med" len="med"/>
                      <a:tailEnd type="none" w="med" len="med"/>
                    </a:lnR>
                    <a:lnT w="12700" cap="flat" cmpd="sng" algn="ctr">
                      <a:solidFill>
                        <a:srgbClr val="BBB8AC"/>
                      </a:solidFill>
                      <a:prstDash val="solid"/>
                      <a:round/>
                      <a:headEnd type="none" w="med" len="med"/>
                      <a:tailEnd type="none" w="med" len="med"/>
                    </a:lnT>
                    <a:lnB w="12700" cap="flat" cmpd="sng" algn="ctr">
                      <a:solidFill>
                        <a:srgbClr val="13221C"/>
                      </a:solidFill>
                      <a:prstDash val="solid"/>
                      <a:round/>
                      <a:headEnd type="none" w="med" len="med"/>
                      <a:tailEnd type="none" w="med" len="med"/>
                    </a:lnB>
                    <a:solidFill>
                      <a:srgbClr val="13261F"/>
                    </a:solidFill>
                  </a:tcPr>
                </a:tc>
                <a:tc>
                  <a:txBody>
                    <a:bodyPr/>
                    <a:lstStyle/>
                    <a:p>
                      <a:pPr marL="0" indent="0" algn="r">
                        <a:lnSpc>
                          <a:spcPts val="1960"/>
                        </a:lnSpc>
                        <a:buNone/>
                      </a:pPr>
                      <a:r>
                        <a:rPr lang="en-US" sz="1400" b="1" dirty="0">
                          <a:solidFill>
                            <a:srgbClr val="F5F3EA"/>
                          </a:solidFill>
                          <a:latin typeface="IBM Plex Sans" pitchFamily="34" charset="0"/>
                          <a:ea typeface="IBM Plex Sans" pitchFamily="34" charset="-122"/>
                          <a:cs typeface="IBM Plex Sans" pitchFamily="34" charset="-120"/>
                        </a:rPr>
                        <a:t>Tests</a:t>
                      </a:r>
                      <a:endParaRPr lang="en-US" sz="1400" dirty="0">
                        <a:latin typeface="IBM Plex Sans" charset="0"/>
                        <a:ea typeface="IBM Plex Sans" charset="0"/>
                        <a:cs typeface="IBM Plex Sans" charset="0"/>
                      </a:endParaRPr>
                    </a:p>
                  </a:txBody>
                  <a:tcPr marL="62230" marR="62230" marT="62230" marB="62230">
                    <a:lnL w="12700" cap="flat" cmpd="sng" algn="ctr">
                      <a:solidFill>
                        <a:srgbClr val="13221C"/>
                      </a:solidFill>
                      <a:prstDash val="solid"/>
                      <a:round/>
                      <a:headEnd type="none" w="med" len="med"/>
                      <a:tailEnd type="none" w="med" len="med"/>
                    </a:lnL>
                    <a:lnR w="12700" cap="flat" cmpd="sng" algn="ctr">
                      <a:solidFill>
                        <a:srgbClr val="13221C"/>
                      </a:solidFill>
                      <a:prstDash val="solid"/>
                      <a:round/>
                      <a:headEnd type="none" w="med" len="med"/>
                      <a:tailEnd type="none" w="med" len="med"/>
                    </a:lnR>
                    <a:lnT w="12700" cap="flat" cmpd="sng" algn="ctr">
                      <a:solidFill>
                        <a:srgbClr val="BBB8AC"/>
                      </a:solidFill>
                      <a:prstDash val="solid"/>
                      <a:round/>
                      <a:headEnd type="none" w="med" len="med"/>
                      <a:tailEnd type="none" w="med" len="med"/>
                    </a:lnT>
                    <a:lnB w="12700" cap="flat" cmpd="sng" algn="ctr">
                      <a:solidFill>
                        <a:srgbClr val="13221C"/>
                      </a:solidFill>
                      <a:prstDash val="solid"/>
                      <a:round/>
                      <a:headEnd type="none" w="med" len="med"/>
                      <a:tailEnd type="none" w="med" len="med"/>
                    </a:lnB>
                    <a:solidFill>
                      <a:srgbClr val="13261F"/>
                    </a:solidFill>
                  </a:tcPr>
                </a:tc>
                <a:extLst>
                  <a:ext uri="{0D108BD9-81ED-4DB2-BD59-A6C34878D82A}">
                    <a16:rowId xmlns:a16="http://schemas.microsoft.com/office/drawing/2014/main" val="10000"/>
                  </a:ext>
                </a:extLst>
              </a:tr>
              <a:tr h="381124">
                <a:tc>
                  <a:txBody>
                    <a:bodyPr/>
                    <a:lstStyle/>
                    <a:p>
                      <a:pPr marL="0" indent="0">
                        <a:lnSpc>
                          <a:spcPts val="1960"/>
                        </a:lnSpc>
                        <a:buNone/>
                      </a:pPr>
                      <a:r>
                        <a:rPr lang="en-US" sz="1400" dirty="0">
                          <a:solidFill>
                            <a:srgbClr val="13261F"/>
                          </a:solidFill>
                          <a:latin typeface="IBM Plex Sans" pitchFamily="34" charset="0"/>
                          <a:ea typeface="IBM Plex Sans" pitchFamily="34" charset="-122"/>
                          <a:cs typeface="IBM Plex Sans" pitchFamily="34" charset="-120"/>
                        </a:rPr>
                        <a:t>Original code</a:t>
                      </a:r>
                      <a:endParaRPr lang="en-US" sz="1400" dirty="0">
                        <a:latin typeface="IBM Plex Sans" charset="0"/>
                        <a:ea typeface="IBM Plex Sans" charset="0"/>
                        <a:cs typeface="IBM Plex Sans" charset="0"/>
                      </a:endParaRPr>
                    </a:p>
                  </a:txBody>
                  <a:tcPr marL="62230" marR="62230" marT="62230" marB="62230">
                    <a:lnL w="12700" cap="flat" cmpd="sng" algn="ctr">
                      <a:solidFill>
                        <a:srgbClr val="BBB8AC"/>
                      </a:solidFill>
                      <a:prstDash val="solid"/>
                      <a:round/>
                      <a:headEnd type="none" w="med" len="med"/>
                      <a:tailEnd type="none" w="med" len="med"/>
                    </a:lnL>
                    <a:lnR w="12700" cap="flat" cmpd="sng" algn="ctr">
                      <a:solidFill>
                        <a:srgbClr val="C8C7C3"/>
                      </a:solidFill>
                      <a:prstDash val="solid"/>
                      <a:round/>
                      <a:headEnd type="none" w="med" len="med"/>
                      <a:tailEnd type="none" w="med" len="med"/>
                    </a:lnR>
                    <a:lnT w="12700" cap="flat" cmpd="sng" algn="ctr">
                      <a:solidFill>
                        <a:srgbClr val="13221C"/>
                      </a:solidFill>
                      <a:prstDash val="solid"/>
                      <a:round/>
                      <a:headEnd type="none" w="med" len="med"/>
                      <a:tailEnd type="none" w="med" len="med"/>
                    </a:lnT>
                    <a:lnB w="12700" cap="flat" cmpd="sng" algn="ctr">
                      <a:solidFill>
                        <a:srgbClr val="C8C7C3"/>
                      </a:solidFill>
                      <a:prstDash val="solid"/>
                      <a:round/>
                      <a:headEnd type="none" w="med" len="med"/>
                      <a:tailEnd type="none" w="med" len="med"/>
                    </a:lnB>
                    <a:solidFill>
                      <a:srgbClr val="FBFAF4"/>
                    </a:solidFill>
                  </a:tcPr>
                </a:tc>
                <a:tc>
                  <a:txBody>
                    <a:bodyPr/>
                    <a:lstStyle/>
                    <a:p>
                      <a:pPr marL="0" indent="0" algn="r">
                        <a:lnSpc>
                          <a:spcPts val="1960"/>
                        </a:lnSpc>
                        <a:buNone/>
                      </a:pPr>
                      <a:r>
                        <a:rPr lang="en-US" sz="1400" dirty="0">
                          <a:solidFill>
                            <a:srgbClr val="13261F"/>
                          </a:solidFill>
                          <a:latin typeface="IBM Plex Sans" pitchFamily="34" charset="0"/>
                          <a:ea typeface="IBM Plex Sans" pitchFamily="34" charset="-122"/>
                          <a:cs typeface="IBM Plex Sans" pitchFamily="34" charset="-120"/>
                        </a:rPr>
                        <a:t>8</a:t>
                      </a:r>
                      <a:endParaRPr lang="en-US" sz="1400" dirty="0">
                        <a:latin typeface="IBM Plex Sans" charset="0"/>
                        <a:ea typeface="IBM Plex Sans" charset="0"/>
                        <a:cs typeface="IBM Plex Sans" charset="0"/>
                      </a:endParaRPr>
                    </a:p>
                  </a:txBody>
                  <a:tcPr marL="62230" marR="62230" marT="62230" marB="62230">
                    <a:lnL w="12700" cap="flat" cmpd="sng" algn="ctr">
                      <a:solidFill>
                        <a:srgbClr val="C8C7C3"/>
                      </a:solidFill>
                      <a:prstDash val="solid"/>
                      <a:round/>
                      <a:headEnd type="none" w="med" len="med"/>
                      <a:tailEnd type="none" w="med" len="med"/>
                    </a:lnL>
                    <a:lnR w="12700" cap="flat" cmpd="sng" algn="ctr">
                      <a:solidFill>
                        <a:srgbClr val="C8C7C3"/>
                      </a:solidFill>
                      <a:prstDash val="solid"/>
                      <a:round/>
                      <a:headEnd type="none" w="med" len="med"/>
                      <a:tailEnd type="none" w="med" len="med"/>
                    </a:lnR>
                    <a:lnT w="12700" cap="flat" cmpd="sng" algn="ctr">
                      <a:solidFill>
                        <a:srgbClr val="13221C"/>
                      </a:solidFill>
                      <a:prstDash val="solid"/>
                      <a:round/>
                      <a:headEnd type="none" w="med" len="med"/>
                      <a:tailEnd type="none" w="med" len="med"/>
                    </a:lnT>
                    <a:lnB w="12700" cap="flat" cmpd="sng" algn="ctr">
                      <a:solidFill>
                        <a:srgbClr val="C8C7C3"/>
                      </a:solidFill>
                      <a:prstDash val="solid"/>
                      <a:round/>
                      <a:headEnd type="none" w="med" len="med"/>
                      <a:tailEnd type="none" w="med" len="med"/>
                    </a:lnB>
                    <a:solidFill>
                      <a:srgbClr val="FBFAF4"/>
                    </a:solidFill>
                  </a:tcPr>
                </a:tc>
                <a:tc>
                  <a:txBody>
                    <a:bodyPr/>
                    <a:lstStyle/>
                    <a:p>
                      <a:pPr marL="0" indent="0" algn="r">
                        <a:lnSpc>
                          <a:spcPts val="1960"/>
                        </a:lnSpc>
                        <a:buNone/>
                      </a:pPr>
                      <a:r>
                        <a:rPr lang="en-US" sz="1400" dirty="0">
                          <a:solidFill>
                            <a:srgbClr val="13261F"/>
                          </a:solidFill>
                          <a:latin typeface="IBM Plex Sans" pitchFamily="34" charset="0"/>
                          <a:ea typeface="IBM Plex Sans" pitchFamily="34" charset="-122"/>
                          <a:cs typeface="IBM Plex Sans" pitchFamily="34" charset="-120"/>
                        </a:rPr>
                        <a:t>13</a:t>
                      </a:r>
                      <a:endParaRPr lang="en-US" sz="1400" dirty="0">
                        <a:latin typeface="IBM Plex Sans" charset="0"/>
                        <a:ea typeface="IBM Plex Sans" charset="0"/>
                        <a:cs typeface="IBM Plex Sans" charset="0"/>
                      </a:endParaRPr>
                    </a:p>
                  </a:txBody>
                  <a:tcPr marL="62230" marR="62230" marT="62230" marB="62230">
                    <a:lnL w="12700" cap="flat" cmpd="sng" algn="ctr">
                      <a:solidFill>
                        <a:srgbClr val="C8C7C3"/>
                      </a:solidFill>
                      <a:prstDash val="solid"/>
                      <a:round/>
                      <a:headEnd type="none" w="med" len="med"/>
                      <a:tailEnd type="none" w="med" len="med"/>
                    </a:lnL>
                    <a:lnR w="12700" cap="flat" cmpd="sng" algn="ctr">
                      <a:solidFill>
                        <a:srgbClr val="C8C7C3"/>
                      </a:solidFill>
                      <a:prstDash val="solid"/>
                      <a:round/>
                      <a:headEnd type="none" w="med" len="med"/>
                      <a:tailEnd type="none" w="med" len="med"/>
                    </a:lnR>
                    <a:lnT w="12700" cap="flat" cmpd="sng" algn="ctr">
                      <a:solidFill>
                        <a:srgbClr val="13221C"/>
                      </a:solidFill>
                      <a:prstDash val="solid"/>
                      <a:round/>
                      <a:headEnd type="none" w="med" len="med"/>
                      <a:tailEnd type="none" w="med" len="med"/>
                    </a:lnT>
                    <a:lnB w="12700" cap="flat" cmpd="sng" algn="ctr">
                      <a:solidFill>
                        <a:srgbClr val="C8C7C3"/>
                      </a:solidFill>
                      <a:prstDash val="solid"/>
                      <a:round/>
                      <a:headEnd type="none" w="med" len="med"/>
                      <a:tailEnd type="none" w="med" len="med"/>
                    </a:lnB>
                    <a:solidFill>
                      <a:srgbClr val="FBFAF4"/>
                    </a:solidFill>
                  </a:tcPr>
                </a:tc>
                <a:tc>
                  <a:txBody>
                    <a:bodyPr/>
                    <a:lstStyle/>
                    <a:p>
                      <a:pPr marL="0" indent="0" algn="r">
                        <a:lnSpc>
                          <a:spcPts val="1960"/>
                        </a:lnSpc>
                        <a:buNone/>
                      </a:pPr>
                      <a:r>
                        <a:rPr lang="en-US" sz="1400" dirty="0">
                          <a:solidFill>
                            <a:srgbClr val="13261F"/>
                          </a:solidFill>
                          <a:latin typeface="IBM Plex Sans" pitchFamily="34" charset="0"/>
                          <a:ea typeface="IBM Plex Sans" pitchFamily="34" charset="-122"/>
                          <a:cs typeface="IBM Plex Sans" pitchFamily="34" charset="-120"/>
                        </a:rPr>
                        <a:t>18</a:t>
                      </a:r>
                      <a:endParaRPr lang="en-US" sz="1400" dirty="0">
                        <a:latin typeface="IBM Plex Sans" charset="0"/>
                        <a:ea typeface="IBM Plex Sans" charset="0"/>
                        <a:cs typeface="IBM Plex Sans" charset="0"/>
                      </a:endParaRPr>
                    </a:p>
                  </a:txBody>
                  <a:tcPr marL="62230" marR="62230" marT="62230" marB="62230">
                    <a:lnL w="12700" cap="flat" cmpd="sng" algn="ctr">
                      <a:solidFill>
                        <a:srgbClr val="C8C7C3"/>
                      </a:solidFill>
                      <a:prstDash val="solid"/>
                      <a:round/>
                      <a:headEnd type="none" w="med" len="med"/>
                      <a:tailEnd type="none" w="med" len="med"/>
                    </a:lnL>
                    <a:lnR w="12700" cap="flat" cmpd="sng" algn="ctr">
                      <a:solidFill>
                        <a:srgbClr val="C8C7C3"/>
                      </a:solidFill>
                      <a:prstDash val="solid"/>
                      <a:round/>
                      <a:headEnd type="none" w="med" len="med"/>
                      <a:tailEnd type="none" w="med" len="med"/>
                    </a:lnR>
                    <a:lnT w="12700" cap="flat" cmpd="sng" algn="ctr">
                      <a:solidFill>
                        <a:srgbClr val="13221C"/>
                      </a:solidFill>
                      <a:prstDash val="solid"/>
                      <a:round/>
                      <a:headEnd type="none" w="med" len="med"/>
                      <a:tailEnd type="none" w="med" len="med"/>
                    </a:lnT>
                    <a:lnB w="12700" cap="flat" cmpd="sng" algn="ctr">
                      <a:solidFill>
                        <a:srgbClr val="C8C7C3"/>
                      </a:solidFill>
                      <a:prstDash val="solid"/>
                      <a:round/>
                      <a:headEnd type="none" w="med" len="med"/>
                      <a:tailEnd type="none" w="med" len="med"/>
                    </a:lnB>
                    <a:solidFill>
                      <a:srgbClr val="FBFAF4"/>
                    </a:solidFill>
                  </a:tcPr>
                </a:tc>
                <a:tc>
                  <a:txBody>
                    <a:bodyPr/>
                    <a:lstStyle/>
                    <a:p>
                      <a:pPr marL="0" indent="0">
                        <a:lnSpc>
                          <a:spcPts val="1960"/>
                        </a:lnSpc>
                        <a:buNone/>
                      </a:pPr>
                      <a:r>
                        <a:rPr lang="en-US" sz="1400" dirty="0">
                          <a:solidFill>
                            <a:srgbClr val="13261F"/>
                          </a:solidFill>
                          <a:latin typeface="IBM Plex Sans" pitchFamily="34" charset="0"/>
                          <a:ea typeface="IBM Plex Sans" pitchFamily="34" charset="-122"/>
                          <a:cs typeface="IBM Plex Sans" pitchFamily="34" charset="-120"/>
                        </a:rPr>
                        <a:t>none</a:t>
                      </a:r>
                      <a:endParaRPr lang="en-US" sz="1400" dirty="0">
                        <a:latin typeface="IBM Plex Sans" charset="0"/>
                        <a:ea typeface="IBM Plex Sans" charset="0"/>
                        <a:cs typeface="IBM Plex Sans" charset="0"/>
                      </a:endParaRPr>
                    </a:p>
                  </a:txBody>
                  <a:tcPr marL="62230" marR="62230" marT="62230" marB="62230">
                    <a:lnL w="12700" cap="flat" cmpd="sng" algn="ctr">
                      <a:solidFill>
                        <a:srgbClr val="C8C7C3"/>
                      </a:solidFill>
                      <a:prstDash val="solid"/>
                      <a:round/>
                      <a:headEnd type="none" w="med" len="med"/>
                      <a:tailEnd type="none" w="med" len="med"/>
                    </a:lnL>
                    <a:lnR w="12700" cap="flat" cmpd="sng" algn="ctr">
                      <a:solidFill>
                        <a:srgbClr val="C8C7C3"/>
                      </a:solidFill>
                      <a:prstDash val="solid"/>
                      <a:round/>
                      <a:headEnd type="none" w="med" len="med"/>
                      <a:tailEnd type="none" w="med" len="med"/>
                    </a:lnR>
                    <a:lnT w="12700" cap="flat" cmpd="sng" algn="ctr">
                      <a:solidFill>
                        <a:srgbClr val="13221C"/>
                      </a:solidFill>
                      <a:prstDash val="solid"/>
                      <a:round/>
                      <a:headEnd type="none" w="med" len="med"/>
                      <a:tailEnd type="none" w="med" len="med"/>
                    </a:lnT>
                    <a:lnB w="12700" cap="flat" cmpd="sng" algn="ctr">
                      <a:solidFill>
                        <a:srgbClr val="C8C7C3"/>
                      </a:solidFill>
                      <a:prstDash val="solid"/>
                      <a:round/>
                      <a:headEnd type="none" w="med" len="med"/>
                      <a:tailEnd type="none" w="med" len="med"/>
                    </a:lnB>
                    <a:solidFill>
                      <a:srgbClr val="FBFAF4"/>
                    </a:solidFill>
                  </a:tcPr>
                </a:tc>
                <a:tc>
                  <a:txBody>
                    <a:bodyPr/>
                    <a:lstStyle/>
                    <a:p>
                      <a:pPr marL="0" indent="0" algn="r">
                        <a:lnSpc>
                          <a:spcPts val="1960"/>
                        </a:lnSpc>
                        <a:buNone/>
                      </a:pPr>
                      <a:r>
                        <a:rPr lang="en-US" sz="1400" dirty="0">
                          <a:solidFill>
                            <a:srgbClr val="13261F"/>
                          </a:solidFill>
                          <a:latin typeface="IBM Plex Sans" pitchFamily="34" charset="0"/>
                          <a:ea typeface="IBM Plex Sans" pitchFamily="34" charset="-122"/>
                          <a:cs typeface="IBM Plex Sans" pitchFamily="34" charset="-120"/>
                        </a:rPr>
                        <a:t>25</a:t>
                      </a:r>
                      <a:endParaRPr lang="en-US" sz="1400" dirty="0">
                        <a:latin typeface="IBM Plex Sans" charset="0"/>
                        <a:ea typeface="IBM Plex Sans" charset="0"/>
                        <a:cs typeface="IBM Plex Sans" charset="0"/>
                      </a:endParaRPr>
                    </a:p>
                  </a:txBody>
                  <a:tcPr marL="62230" marR="62230" marT="62230" marB="62230">
                    <a:lnL w="12700" cap="flat" cmpd="sng" algn="ctr">
                      <a:solidFill>
                        <a:srgbClr val="C8C7C3"/>
                      </a:solidFill>
                      <a:prstDash val="solid"/>
                      <a:round/>
                      <a:headEnd type="none" w="med" len="med"/>
                      <a:tailEnd type="none" w="med" len="med"/>
                    </a:lnL>
                    <a:lnR w="12700" cap="flat" cmpd="sng" algn="ctr">
                      <a:solidFill>
                        <a:srgbClr val="C8C7C3"/>
                      </a:solidFill>
                      <a:prstDash val="solid"/>
                      <a:round/>
                      <a:headEnd type="none" w="med" len="med"/>
                      <a:tailEnd type="none" w="med" len="med"/>
                    </a:lnR>
                    <a:lnT w="12700" cap="flat" cmpd="sng" algn="ctr">
                      <a:solidFill>
                        <a:srgbClr val="13221C"/>
                      </a:solidFill>
                      <a:prstDash val="solid"/>
                      <a:round/>
                      <a:headEnd type="none" w="med" len="med"/>
                      <a:tailEnd type="none" w="med" len="med"/>
                    </a:lnT>
                    <a:lnB w="12700" cap="flat" cmpd="sng" algn="ctr">
                      <a:solidFill>
                        <a:srgbClr val="C8C7C3"/>
                      </a:solidFill>
                      <a:prstDash val="solid"/>
                      <a:round/>
                      <a:headEnd type="none" w="med" len="med"/>
                      <a:tailEnd type="none" w="med" len="med"/>
                    </a:lnB>
                    <a:solidFill>
                      <a:srgbClr val="FBFAF4"/>
                    </a:solidFill>
                  </a:tcPr>
                </a:tc>
                <a:extLst>
                  <a:ext uri="{0D108BD9-81ED-4DB2-BD59-A6C34878D82A}">
                    <a16:rowId xmlns:a16="http://schemas.microsoft.com/office/drawing/2014/main" val="10001"/>
                  </a:ext>
                </a:extLst>
              </a:tr>
              <a:tr h="381124">
                <a:tc>
                  <a:txBody>
                    <a:bodyPr/>
                    <a:lstStyle/>
                    <a:p>
                      <a:pPr marL="0" indent="0">
                        <a:lnSpc>
                          <a:spcPts val="1960"/>
                        </a:lnSpc>
                        <a:buNone/>
                      </a:pPr>
                      <a:r>
                        <a:rPr lang="en-US" sz="1400" dirty="0">
                          <a:solidFill>
                            <a:srgbClr val="13261F"/>
                          </a:solidFill>
                          <a:latin typeface="IBM Plex Sans" pitchFamily="34" charset="0"/>
                          <a:ea typeface="IBM Plex Sans" pitchFamily="34" charset="-122"/>
                          <a:cs typeface="IBM Plex Sans" pitchFamily="34" charset="-120"/>
                        </a:rPr>
                        <a:t>After CH01</a:t>
                      </a:r>
                      <a:endParaRPr lang="en-US" sz="1400" dirty="0">
                        <a:latin typeface="IBM Plex Sans" charset="0"/>
                        <a:ea typeface="IBM Plex Sans" charset="0"/>
                        <a:cs typeface="IBM Plex Sans" charset="0"/>
                      </a:endParaRPr>
                    </a:p>
                  </a:txBody>
                  <a:tcPr marL="62230" marR="62230" marT="62230" marB="62230">
                    <a:lnL w="12700" cap="flat" cmpd="sng" algn="ctr">
                      <a:solidFill>
                        <a:srgbClr val="BBB8AC"/>
                      </a:solidFill>
                      <a:prstDash val="solid"/>
                      <a:round/>
                      <a:headEnd type="none" w="med" len="med"/>
                      <a:tailEnd type="none" w="med" len="med"/>
                    </a:lnL>
                    <a:lnR w="12700" cap="flat" cmpd="sng" algn="ctr">
                      <a:solidFill>
                        <a:srgbClr val="C4C2BB"/>
                      </a:solidFill>
                      <a:prstDash val="solid"/>
                      <a:round/>
                      <a:headEnd type="none" w="med" len="med"/>
                      <a:tailEnd type="none" w="med" len="med"/>
                    </a:lnR>
                    <a:lnT w="12700" cap="flat" cmpd="sng" algn="ctr">
                      <a:solidFill>
                        <a:srgbClr val="C8C7C3"/>
                      </a:solidFill>
                      <a:prstDash val="solid"/>
                      <a:round/>
                      <a:headEnd type="none" w="med" len="med"/>
                      <a:tailEnd type="none" w="med" len="med"/>
                    </a:lnT>
                    <a:lnB w="12700" cap="flat" cmpd="sng" algn="ctr">
                      <a:solidFill>
                        <a:srgbClr val="C4C2BB"/>
                      </a:solidFill>
                      <a:prstDash val="solid"/>
                      <a:round/>
                      <a:headEnd type="none" w="med" len="med"/>
                      <a:tailEnd type="none" w="med" len="med"/>
                    </a:lnB>
                    <a:solidFill>
                      <a:srgbClr val="F5F3EA"/>
                    </a:solidFill>
                  </a:tcPr>
                </a:tc>
                <a:tc>
                  <a:txBody>
                    <a:bodyPr/>
                    <a:lstStyle/>
                    <a:p>
                      <a:pPr marL="0" indent="0" algn="r">
                        <a:lnSpc>
                          <a:spcPts val="1960"/>
                        </a:lnSpc>
                        <a:buNone/>
                      </a:pPr>
                      <a:r>
                        <a:rPr lang="en-US" sz="1400" dirty="0">
                          <a:solidFill>
                            <a:srgbClr val="13261F"/>
                          </a:solidFill>
                          <a:latin typeface="IBM Plex Sans" pitchFamily="34" charset="0"/>
                          <a:ea typeface="IBM Plex Sans" pitchFamily="34" charset="-122"/>
                          <a:cs typeface="IBM Plex Sans" pitchFamily="34" charset="-120"/>
                        </a:rPr>
                        <a:t>8</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2BB"/>
                      </a:solidFill>
                      <a:prstDash val="solid"/>
                      <a:round/>
                      <a:headEnd type="none" w="med" len="med"/>
                      <a:tailEnd type="none" w="med" len="med"/>
                    </a:lnL>
                    <a:lnR w="12700" cap="flat" cmpd="sng" algn="ctr">
                      <a:solidFill>
                        <a:srgbClr val="C4C2BB"/>
                      </a:solidFill>
                      <a:prstDash val="solid"/>
                      <a:round/>
                      <a:headEnd type="none" w="med" len="med"/>
                      <a:tailEnd type="none" w="med" len="med"/>
                    </a:lnR>
                    <a:lnT w="12700" cap="flat" cmpd="sng" algn="ctr">
                      <a:solidFill>
                        <a:srgbClr val="C8C7C3"/>
                      </a:solidFill>
                      <a:prstDash val="solid"/>
                      <a:round/>
                      <a:headEnd type="none" w="med" len="med"/>
                      <a:tailEnd type="none" w="med" len="med"/>
                    </a:lnT>
                    <a:lnB w="12700" cap="flat" cmpd="sng" algn="ctr">
                      <a:solidFill>
                        <a:srgbClr val="C4C2BB"/>
                      </a:solidFill>
                      <a:prstDash val="solid"/>
                      <a:round/>
                      <a:headEnd type="none" w="med" len="med"/>
                      <a:tailEnd type="none" w="med" len="med"/>
                    </a:lnB>
                    <a:solidFill>
                      <a:srgbClr val="F5F3EA"/>
                    </a:solidFill>
                  </a:tcPr>
                </a:tc>
                <a:tc>
                  <a:txBody>
                    <a:bodyPr/>
                    <a:lstStyle/>
                    <a:p>
                      <a:pPr marL="0" indent="0" algn="r">
                        <a:lnSpc>
                          <a:spcPts val="1960"/>
                        </a:lnSpc>
                        <a:buNone/>
                      </a:pPr>
                      <a:r>
                        <a:rPr lang="en-US" sz="1400" dirty="0">
                          <a:solidFill>
                            <a:srgbClr val="13261F"/>
                          </a:solidFill>
                          <a:latin typeface="IBM Plex Sans" pitchFamily="34" charset="0"/>
                          <a:ea typeface="IBM Plex Sans" pitchFamily="34" charset="-122"/>
                          <a:cs typeface="IBM Plex Sans" pitchFamily="34" charset="-120"/>
                        </a:rPr>
                        <a:t>13</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2BB"/>
                      </a:solidFill>
                      <a:prstDash val="solid"/>
                      <a:round/>
                      <a:headEnd type="none" w="med" len="med"/>
                      <a:tailEnd type="none" w="med" len="med"/>
                    </a:lnL>
                    <a:lnR w="12700" cap="flat" cmpd="sng" algn="ctr">
                      <a:solidFill>
                        <a:srgbClr val="C4C2BB"/>
                      </a:solidFill>
                      <a:prstDash val="solid"/>
                      <a:round/>
                      <a:headEnd type="none" w="med" len="med"/>
                      <a:tailEnd type="none" w="med" len="med"/>
                    </a:lnR>
                    <a:lnT w="12700" cap="flat" cmpd="sng" algn="ctr">
                      <a:solidFill>
                        <a:srgbClr val="C8C7C3"/>
                      </a:solidFill>
                      <a:prstDash val="solid"/>
                      <a:round/>
                      <a:headEnd type="none" w="med" len="med"/>
                      <a:tailEnd type="none" w="med" len="med"/>
                    </a:lnT>
                    <a:lnB w="12700" cap="flat" cmpd="sng" algn="ctr">
                      <a:solidFill>
                        <a:srgbClr val="C4C2BB"/>
                      </a:solidFill>
                      <a:prstDash val="solid"/>
                      <a:round/>
                      <a:headEnd type="none" w="med" len="med"/>
                      <a:tailEnd type="none" w="med" len="med"/>
                    </a:lnB>
                    <a:solidFill>
                      <a:srgbClr val="F5F3EA"/>
                    </a:solidFill>
                  </a:tcPr>
                </a:tc>
                <a:tc>
                  <a:txBody>
                    <a:bodyPr/>
                    <a:lstStyle/>
                    <a:p>
                      <a:pPr marL="0" indent="0" algn="r">
                        <a:lnSpc>
                          <a:spcPts val="1960"/>
                        </a:lnSpc>
                        <a:buNone/>
                      </a:pPr>
                      <a:r>
                        <a:rPr lang="en-US" sz="1400" dirty="0">
                          <a:solidFill>
                            <a:srgbClr val="13261F"/>
                          </a:solidFill>
                          <a:latin typeface="IBM Plex Sans" pitchFamily="34" charset="0"/>
                          <a:ea typeface="IBM Plex Sans" pitchFamily="34" charset="-122"/>
                          <a:cs typeface="IBM Plex Sans" pitchFamily="34" charset="-120"/>
                        </a:rPr>
                        <a:t>18</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2BB"/>
                      </a:solidFill>
                      <a:prstDash val="solid"/>
                      <a:round/>
                      <a:headEnd type="none" w="med" len="med"/>
                      <a:tailEnd type="none" w="med" len="med"/>
                    </a:lnL>
                    <a:lnR w="12700" cap="flat" cmpd="sng" algn="ctr">
                      <a:solidFill>
                        <a:srgbClr val="C4C2BB"/>
                      </a:solidFill>
                      <a:prstDash val="solid"/>
                      <a:round/>
                      <a:headEnd type="none" w="med" len="med"/>
                      <a:tailEnd type="none" w="med" len="med"/>
                    </a:lnR>
                    <a:lnT w="12700" cap="flat" cmpd="sng" algn="ctr">
                      <a:solidFill>
                        <a:srgbClr val="C8C7C3"/>
                      </a:solidFill>
                      <a:prstDash val="solid"/>
                      <a:round/>
                      <a:headEnd type="none" w="med" len="med"/>
                      <a:tailEnd type="none" w="med" len="med"/>
                    </a:lnT>
                    <a:lnB w="12700" cap="flat" cmpd="sng" algn="ctr">
                      <a:solidFill>
                        <a:srgbClr val="C4C2BB"/>
                      </a:solidFill>
                      <a:prstDash val="solid"/>
                      <a:round/>
                      <a:headEnd type="none" w="med" len="med"/>
                      <a:tailEnd type="none" w="med" len="med"/>
                    </a:lnB>
                    <a:solidFill>
                      <a:srgbClr val="F5F3EA"/>
                    </a:solidFill>
                  </a:tcPr>
                </a:tc>
                <a:tc>
                  <a:txBody>
                    <a:bodyPr/>
                    <a:lstStyle/>
                    <a:p>
                      <a:pPr marL="0" indent="0">
                        <a:lnSpc>
                          <a:spcPts val="1960"/>
                        </a:lnSpc>
                        <a:buNone/>
                      </a:pPr>
                      <a:r>
                        <a:rPr lang="en-US" sz="1400" dirty="0">
                          <a:solidFill>
                            <a:srgbClr val="13261F"/>
                          </a:solidFill>
                          <a:latin typeface="IBM Plex Sans" pitchFamily="34" charset="0"/>
                          <a:ea typeface="IBM Plex Sans" pitchFamily="34" charset="-122"/>
                          <a:cs typeface="IBM Plex Sans" pitchFamily="34" charset="-120"/>
                        </a:rPr>
                        <a:t>none</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2BB"/>
                      </a:solidFill>
                      <a:prstDash val="solid"/>
                      <a:round/>
                      <a:headEnd type="none" w="med" len="med"/>
                      <a:tailEnd type="none" w="med" len="med"/>
                    </a:lnL>
                    <a:lnR w="12700" cap="flat" cmpd="sng" algn="ctr">
                      <a:solidFill>
                        <a:srgbClr val="C4C2BB"/>
                      </a:solidFill>
                      <a:prstDash val="solid"/>
                      <a:round/>
                      <a:headEnd type="none" w="med" len="med"/>
                      <a:tailEnd type="none" w="med" len="med"/>
                    </a:lnR>
                    <a:lnT w="12700" cap="flat" cmpd="sng" algn="ctr">
                      <a:solidFill>
                        <a:srgbClr val="C8C7C3"/>
                      </a:solidFill>
                      <a:prstDash val="solid"/>
                      <a:round/>
                      <a:headEnd type="none" w="med" len="med"/>
                      <a:tailEnd type="none" w="med" len="med"/>
                    </a:lnT>
                    <a:lnB w="12700" cap="flat" cmpd="sng" algn="ctr">
                      <a:solidFill>
                        <a:srgbClr val="C4C2BB"/>
                      </a:solidFill>
                      <a:prstDash val="solid"/>
                      <a:round/>
                      <a:headEnd type="none" w="med" len="med"/>
                      <a:tailEnd type="none" w="med" len="med"/>
                    </a:lnB>
                    <a:solidFill>
                      <a:srgbClr val="F5F3EA"/>
                    </a:solidFill>
                  </a:tcPr>
                </a:tc>
                <a:tc>
                  <a:txBody>
                    <a:bodyPr/>
                    <a:lstStyle/>
                    <a:p>
                      <a:pPr marL="0" indent="0" algn="r">
                        <a:lnSpc>
                          <a:spcPts val="1960"/>
                        </a:lnSpc>
                        <a:buNone/>
                      </a:pPr>
                      <a:r>
                        <a:rPr lang="en-US" sz="1400" dirty="0">
                          <a:solidFill>
                            <a:srgbClr val="13261F"/>
                          </a:solidFill>
                          <a:latin typeface="IBM Plex Sans" pitchFamily="34" charset="0"/>
                          <a:ea typeface="IBM Plex Sans" pitchFamily="34" charset="-122"/>
                          <a:cs typeface="IBM Plex Sans" pitchFamily="34" charset="-120"/>
                        </a:rPr>
                        <a:t>42</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2BB"/>
                      </a:solidFill>
                      <a:prstDash val="solid"/>
                      <a:round/>
                      <a:headEnd type="none" w="med" len="med"/>
                      <a:tailEnd type="none" w="med" len="med"/>
                    </a:lnL>
                    <a:lnR w="12700" cap="flat" cmpd="sng" algn="ctr">
                      <a:solidFill>
                        <a:srgbClr val="C4C2BB"/>
                      </a:solidFill>
                      <a:prstDash val="solid"/>
                      <a:round/>
                      <a:headEnd type="none" w="med" len="med"/>
                      <a:tailEnd type="none" w="med" len="med"/>
                    </a:lnR>
                    <a:lnT w="12700" cap="flat" cmpd="sng" algn="ctr">
                      <a:solidFill>
                        <a:srgbClr val="C8C7C3"/>
                      </a:solidFill>
                      <a:prstDash val="solid"/>
                      <a:round/>
                      <a:headEnd type="none" w="med" len="med"/>
                      <a:tailEnd type="none" w="med" len="med"/>
                    </a:lnT>
                    <a:lnB w="12700" cap="flat" cmpd="sng" algn="ctr">
                      <a:solidFill>
                        <a:srgbClr val="C4C2BB"/>
                      </a:solidFill>
                      <a:prstDash val="solid"/>
                      <a:round/>
                      <a:headEnd type="none" w="med" len="med"/>
                      <a:tailEnd type="none" w="med" len="med"/>
                    </a:lnB>
                    <a:solidFill>
                      <a:srgbClr val="F5F3EA"/>
                    </a:solidFill>
                  </a:tcPr>
                </a:tc>
                <a:extLst>
                  <a:ext uri="{0D108BD9-81ED-4DB2-BD59-A6C34878D82A}">
                    <a16:rowId xmlns:a16="http://schemas.microsoft.com/office/drawing/2014/main" val="10002"/>
                  </a:ext>
                </a:extLst>
              </a:tr>
              <a:tr h="381124">
                <a:tc>
                  <a:txBody>
                    <a:bodyPr/>
                    <a:lstStyle/>
                    <a:p>
                      <a:pPr marL="0" indent="0">
                        <a:lnSpc>
                          <a:spcPts val="1960"/>
                        </a:lnSpc>
                        <a:buNone/>
                      </a:pPr>
                      <a:r>
                        <a:rPr lang="en-US" sz="1400" dirty="0">
                          <a:solidFill>
                            <a:srgbClr val="13261F"/>
                          </a:solidFill>
                          <a:latin typeface="IBM Plex Sans" pitchFamily="34" charset="0"/>
                          <a:ea typeface="IBM Plex Sans" pitchFamily="34" charset="-122"/>
                          <a:cs typeface="IBM Plex Sans" pitchFamily="34" charset="-120"/>
                        </a:rPr>
                        <a:t>After CH02</a:t>
                      </a:r>
                      <a:endParaRPr lang="en-US" sz="1400" dirty="0">
                        <a:latin typeface="IBM Plex Sans" charset="0"/>
                        <a:ea typeface="IBM Plex Sans" charset="0"/>
                        <a:cs typeface="IBM Plex Sans" charset="0"/>
                      </a:endParaRPr>
                    </a:p>
                  </a:txBody>
                  <a:tcPr marL="62230" marR="62230" marT="62230" marB="62230">
                    <a:lnL w="12700" cap="flat" cmpd="sng" algn="ctr">
                      <a:solidFill>
                        <a:srgbClr val="BBB8AC"/>
                      </a:solidFill>
                      <a:prstDash val="solid"/>
                      <a:round/>
                      <a:headEnd type="none" w="med" len="med"/>
                      <a:tailEnd type="none" w="med" len="med"/>
                    </a:lnL>
                    <a:lnR w="12700" cap="flat" cmpd="sng" algn="ctr">
                      <a:solidFill>
                        <a:srgbClr val="C8C7C3"/>
                      </a:solidFill>
                      <a:prstDash val="solid"/>
                      <a:round/>
                      <a:headEnd type="none" w="med" len="med"/>
                      <a:tailEnd type="none" w="med" len="med"/>
                    </a:lnR>
                    <a:lnT w="12700" cap="flat" cmpd="sng" algn="ctr">
                      <a:solidFill>
                        <a:srgbClr val="C4C2BB"/>
                      </a:solidFill>
                      <a:prstDash val="solid"/>
                      <a:round/>
                      <a:headEnd type="none" w="med" len="med"/>
                      <a:tailEnd type="none" w="med" len="med"/>
                    </a:lnT>
                    <a:lnB w="12700" cap="flat" cmpd="sng" algn="ctr">
                      <a:solidFill>
                        <a:srgbClr val="C8C7C3"/>
                      </a:solidFill>
                      <a:prstDash val="solid"/>
                      <a:round/>
                      <a:headEnd type="none" w="med" len="med"/>
                      <a:tailEnd type="none" w="med" len="med"/>
                    </a:lnB>
                    <a:solidFill>
                      <a:srgbClr val="FBFAF4"/>
                    </a:solidFill>
                  </a:tcPr>
                </a:tc>
                <a:tc>
                  <a:txBody>
                    <a:bodyPr/>
                    <a:lstStyle/>
                    <a:p>
                      <a:pPr marL="0" indent="0" algn="r">
                        <a:lnSpc>
                          <a:spcPts val="1960"/>
                        </a:lnSpc>
                        <a:buNone/>
                      </a:pPr>
                      <a:r>
                        <a:rPr lang="en-US" sz="1400" dirty="0">
                          <a:solidFill>
                            <a:srgbClr val="13261F"/>
                          </a:solidFill>
                          <a:latin typeface="IBM Plex Sans" pitchFamily="34" charset="0"/>
                          <a:ea typeface="IBM Plex Sans" pitchFamily="34" charset="-122"/>
                          <a:cs typeface="IBM Plex Sans" pitchFamily="34" charset="-120"/>
                        </a:rPr>
                        <a:t>9</a:t>
                      </a:r>
                      <a:endParaRPr lang="en-US" sz="1400" dirty="0">
                        <a:latin typeface="IBM Plex Sans" charset="0"/>
                        <a:ea typeface="IBM Plex Sans" charset="0"/>
                        <a:cs typeface="IBM Plex Sans" charset="0"/>
                      </a:endParaRPr>
                    </a:p>
                  </a:txBody>
                  <a:tcPr marL="62230" marR="62230" marT="62230" marB="62230">
                    <a:lnL w="12700" cap="flat" cmpd="sng" algn="ctr">
                      <a:solidFill>
                        <a:srgbClr val="C8C7C3"/>
                      </a:solidFill>
                      <a:prstDash val="solid"/>
                      <a:round/>
                      <a:headEnd type="none" w="med" len="med"/>
                      <a:tailEnd type="none" w="med" len="med"/>
                    </a:lnL>
                    <a:lnR w="12700" cap="flat" cmpd="sng" algn="ctr">
                      <a:solidFill>
                        <a:srgbClr val="C8C7C3"/>
                      </a:solidFill>
                      <a:prstDash val="solid"/>
                      <a:round/>
                      <a:headEnd type="none" w="med" len="med"/>
                      <a:tailEnd type="none" w="med" len="med"/>
                    </a:lnR>
                    <a:lnT w="12700" cap="flat" cmpd="sng" algn="ctr">
                      <a:solidFill>
                        <a:srgbClr val="C4C2BB"/>
                      </a:solidFill>
                      <a:prstDash val="solid"/>
                      <a:round/>
                      <a:headEnd type="none" w="med" len="med"/>
                      <a:tailEnd type="none" w="med" len="med"/>
                    </a:lnT>
                    <a:lnB w="12700" cap="flat" cmpd="sng" algn="ctr">
                      <a:solidFill>
                        <a:srgbClr val="C8C7C3"/>
                      </a:solidFill>
                      <a:prstDash val="solid"/>
                      <a:round/>
                      <a:headEnd type="none" w="med" len="med"/>
                      <a:tailEnd type="none" w="med" len="med"/>
                    </a:lnB>
                    <a:solidFill>
                      <a:srgbClr val="FBFAF4"/>
                    </a:solidFill>
                  </a:tcPr>
                </a:tc>
                <a:tc>
                  <a:txBody>
                    <a:bodyPr/>
                    <a:lstStyle/>
                    <a:p>
                      <a:pPr marL="0" indent="0" algn="r">
                        <a:lnSpc>
                          <a:spcPts val="1960"/>
                        </a:lnSpc>
                        <a:buNone/>
                      </a:pPr>
                      <a:r>
                        <a:rPr lang="en-US" sz="1400" dirty="0">
                          <a:solidFill>
                            <a:srgbClr val="13261F"/>
                          </a:solidFill>
                          <a:latin typeface="IBM Plex Sans" pitchFamily="34" charset="0"/>
                          <a:ea typeface="IBM Plex Sans" pitchFamily="34" charset="-122"/>
                          <a:cs typeface="IBM Plex Sans" pitchFamily="34" charset="-120"/>
                        </a:rPr>
                        <a:t>15</a:t>
                      </a:r>
                      <a:endParaRPr lang="en-US" sz="1400" dirty="0">
                        <a:latin typeface="IBM Plex Sans" charset="0"/>
                        <a:ea typeface="IBM Plex Sans" charset="0"/>
                        <a:cs typeface="IBM Plex Sans" charset="0"/>
                      </a:endParaRPr>
                    </a:p>
                  </a:txBody>
                  <a:tcPr marL="62230" marR="62230" marT="62230" marB="62230">
                    <a:lnL w="12700" cap="flat" cmpd="sng" algn="ctr">
                      <a:solidFill>
                        <a:srgbClr val="C8C7C3"/>
                      </a:solidFill>
                      <a:prstDash val="solid"/>
                      <a:round/>
                      <a:headEnd type="none" w="med" len="med"/>
                      <a:tailEnd type="none" w="med" len="med"/>
                    </a:lnL>
                    <a:lnR w="12700" cap="flat" cmpd="sng" algn="ctr">
                      <a:solidFill>
                        <a:srgbClr val="C8C7C3"/>
                      </a:solidFill>
                      <a:prstDash val="solid"/>
                      <a:round/>
                      <a:headEnd type="none" w="med" len="med"/>
                      <a:tailEnd type="none" w="med" len="med"/>
                    </a:lnR>
                    <a:lnT w="12700" cap="flat" cmpd="sng" algn="ctr">
                      <a:solidFill>
                        <a:srgbClr val="C4C2BB"/>
                      </a:solidFill>
                      <a:prstDash val="solid"/>
                      <a:round/>
                      <a:headEnd type="none" w="med" len="med"/>
                      <a:tailEnd type="none" w="med" len="med"/>
                    </a:lnT>
                    <a:lnB w="12700" cap="flat" cmpd="sng" algn="ctr">
                      <a:solidFill>
                        <a:srgbClr val="C8C7C3"/>
                      </a:solidFill>
                      <a:prstDash val="solid"/>
                      <a:round/>
                      <a:headEnd type="none" w="med" len="med"/>
                      <a:tailEnd type="none" w="med" len="med"/>
                    </a:lnB>
                    <a:solidFill>
                      <a:srgbClr val="FBFAF4"/>
                    </a:solidFill>
                  </a:tcPr>
                </a:tc>
                <a:tc>
                  <a:txBody>
                    <a:bodyPr/>
                    <a:lstStyle/>
                    <a:p>
                      <a:pPr marL="0" indent="0" algn="r">
                        <a:lnSpc>
                          <a:spcPts val="1960"/>
                        </a:lnSpc>
                        <a:buNone/>
                      </a:pPr>
                      <a:r>
                        <a:rPr lang="en-US" sz="1400" dirty="0">
                          <a:solidFill>
                            <a:srgbClr val="13261F"/>
                          </a:solidFill>
                          <a:latin typeface="IBM Plex Sans" pitchFamily="34" charset="0"/>
                          <a:ea typeface="IBM Plex Sans" pitchFamily="34" charset="-122"/>
                          <a:cs typeface="IBM Plex Sans" pitchFamily="34" charset="-120"/>
                        </a:rPr>
                        <a:t>22</a:t>
                      </a:r>
                      <a:endParaRPr lang="en-US" sz="1400" dirty="0">
                        <a:latin typeface="IBM Plex Sans" charset="0"/>
                        <a:ea typeface="IBM Plex Sans" charset="0"/>
                        <a:cs typeface="IBM Plex Sans" charset="0"/>
                      </a:endParaRPr>
                    </a:p>
                  </a:txBody>
                  <a:tcPr marL="62230" marR="62230" marT="62230" marB="62230">
                    <a:lnL w="12700" cap="flat" cmpd="sng" algn="ctr">
                      <a:solidFill>
                        <a:srgbClr val="C8C7C3"/>
                      </a:solidFill>
                      <a:prstDash val="solid"/>
                      <a:round/>
                      <a:headEnd type="none" w="med" len="med"/>
                      <a:tailEnd type="none" w="med" len="med"/>
                    </a:lnL>
                    <a:lnR w="12700" cap="flat" cmpd="sng" algn="ctr">
                      <a:solidFill>
                        <a:srgbClr val="C8C7C3"/>
                      </a:solidFill>
                      <a:prstDash val="solid"/>
                      <a:round/>
                      <a:headEnd type="none" w="med" len="med"/>
                      <a:tailEnd type="none" w="med" len="med"/>
                    </a:lnR>
                    <a:lnT w="12700" cap="flat" cmpd="sng" algn="ctr">
                      <a:solidFill>
                        <a:srgbClr val="C4C2BB"/>
                      </a:solidFill>
                      <a:prstDash val="solid"/>
                      <a:round/>
                      <a:headEnd type="none" w="med" len="med"/>
                      <a:tailEnd type="none" w="med" len="med"/>
                    </a:lnT>
                    <a:lnB w="12700" cap="flat" cmpd="sng" algn="ctr">
                      <a:solidFill>
                        <a:srgbClr val="C8C7C3"/>
                      </a:solidFill>
                      <a:prstDash val="solid"/>
                      <a:round/>
                      <a:headEnd type="none" w="med" len="med"/>
                      <a:tailEnd type="none" w="med" len="med"/>
                    </a:lnB>
                    <a:solidFill>
                      <a:srgbClr val="FBFAF4"/>
                    </a:solidFill>
                  </a:tcPr>
                </a:tc>
                <a:tc>
                  <a:txBody>
                    <a:bodyPr/>
                    <a:lstStyle/>
                    <a:p>
                      <a:pPr marL="0" indent="0">
                        <a:lnSpc>
                          <a:spcPts val="1960"/>
                        </a:lnSpc>
                        <a:buNone/>
                      </a:pPr>
                      <a:r>
                        <a:rPr lang="en-US" sz="1400" dirty="0">
                          <a:solidFill>
                            <a:srgbClr val="13261F"/>
                          </a:solidFill>
                          <a:latin typeface="IBM Plex Sans" pitchFamily="34" charset="0"/>
                          <a:ea typeface="IBM Plex Sans" pitchFamily="34" charset="-122"/>
                          <a:cs typeface="IBM Plex Sans" pitchFamily="34" charset="-120"/>
                        </a:rPr>
                        <a:t>Strategy, Decorator</a:t>
                      </a:r>
                      <a:endParaRPr lang="en-US" sz="1400" dirty="0">
                        <a:latin typeface="IBM Plex Sans" charset="0"/>
                        <a:ea typeface="IBM Plex Sans" charset="0"/>
                        <a:cs typeface="IBM Plex Sans" charset="0"/>
                      </a:endParaRPr>
                    </a:p>
                  </a:txBody>
                  <a:tcPr marL="62230" marR="62230" marT="62230" marB="62230">
                    <a:lnL w="12700" cap="flat" cmpd="sng" algn="ctr">
                      <a:solidFill>
                        <a:srgbClr val="C8C7C3"/>
                      </a:solidFill>
                      <a:prstDash val="solid"/>
                      <a:round/>
                      <a:headEnd type="none" w="med" len="med"/>
                      <a:tailEnd type="none" w="med" len="med"/>
                    </a:lnL>
                    <a:lnR w="12700" cap="flat" cmpd="sng" algn="ctr">
                      <a:solidFill>
                        <a:srgbClr val="C8C7C3"/>
                      </a:solidFill>
                      <a:prstDash val="solid"/>
                      <a:round/>
                      <a:headEnd type="none" w="med" len="med"/>
                      <a:tailEnd type="none" w="med" len="med"/>
                    </a:lnR>
                    <a:lnT w="12700" cap="flat" cmpd="sng" algn="ctr">
                      <a:solidFill>
                        <a:srgbClr val="C4C2BB"/>
                      </a:solidFill>
                      <a:prstDash val="solid"/>
                      <a:round/>
                      <a:headEnd type="none" w="med" len="med"/>
                      <a:tailEnd type="none" w="med" len="med"/>
                    </a:lnT>
                    <a:lnB w="12700" cap="flat" cmpd="sng" algn="ctr">
                      <a:solidFill>
                        <a:srgbClr val="C8C7C3"/>
                      </a:solidFill>
                      <a:prstDash val="solid"/>
                      <a:round/>
                      <a:headEnd type="none" w="med" len="med"/>
                      <a:tailEnd type="none" w="med" len="med"/>
                    </a:lnB>
                    <a:solidFill>
                      <a:srgbClr val="FBFAF4"/>
                    </a:solidFill>
                  </a:tcPr>
                </a:tc>
                <a:tc>
                  <a:txBody>
                    <a:bodyPr/>
                    <a:lstStyle/>
                    <a:p>
                      <a:pPr marL="0" indent="0" algn="r">
                        <a:lnSpc>
                          <a:spcPts val="1960"/>
                        </a:lnSpc>
                        <a:buNone/>
                      </a:pPr>
                      <a:r>
                        <a:rPr lang="en-US" sz="1400" dirty="0">
                          <a:solidFill>
                            <a:srgbClr val="13261F"/>
                          </a:solidFill>
                          <a:latin typeface="IBM Plex Sans" pitchFamily="34" charset="0"/>
                          <a:ea typeface="IBM Plex Sans" pitchFamily="34" charset="-122"/>
                          <a:cs typeface="IBM Plex Sans" pitchFamily="34" charset="-120"/>
                        </a:rPr>
                        <a:t>64</a:t>
                      </a:r>
                      <a:endParaRPr lang="en-US" sz="1400" dirty="0">
                        <a:latin typeface="IBM Plex Sans" charset="0"/>
                        <a:ea typeface="IBM Plex Sans" charset="0"/>
                        <a:cs typeface="IBM Plex Sans" charset="0"/>
                      </a:endParaRPr>
                    </a:p>
                  </a:txBody>
                  <a:tcPr marL="62230" marR="62230" marT="62230" marB="62230">
                    <a:lnL w="12700" cap="flat" cmpd="sng" algn="ctr">
                      <a:solidFill>
                        <a:srgbClr val="C8C7C3"/>
                      </a:solidFill>
                      <a:prstDash val="solid"/>
                      <a:round/>
                      <a:headEnd type="none" w="med" len="med"/>
                      <a:tailEnd type="none" w="med" len="med"/>
                    </a:lnL>
                    <a:lnR w="12700" cap="flat" cmpd="sng" algn="ctr">
                      <a:solidFill>
                        <a:srgbClr val="C8C7C3"/>
                      </a:solidFill>
                      <a:prstDash val="solid"/>
                      <a:round/>
                      <a:headEnd type="none" w="med" len="med"/>
                      <a:tailEnd type="none" w="med" len="med"/>
                    </a:lnR>
                    <a:lnT w="12700" cap="flat" cmpd="sng" algn="ctr">
                      <a:solidFill>
                        <a:srgbClr val="C4C2BB"/>
                      </a:solidFill>
                      <a:prstDash val="solid"/>
                      <a:round/>
                      <a:headEnd type="none" w="med" len="med"/>
                      <a:tailEnd type="none" w="med" len="med"/>
                    </a:lnT>
                    <a:lnB w="12700" cap="flat" cmpd="sng" algn="ctr">
                      <a:solidFill>
                        <a:srgbClr val="C8C7C3"/>
                      </a:solidFill>
                      <a:prstDash val="solid"/>
                      <a:round/>
                      <a:headEnd type="none" w="med" len="med"/>
                      <a:tailEnd type="none" w="med" len="med"/>
                    </a:lnB>
                    <a:solidFill>
                      <a:srgbClr val="FBFAF4"/>
                    </a:solidFill>
                  </a:tcPr>
                </a:tc>
                <a:extLst>
                  <a:ext uri="{0D108BD9-81ED-4DB2-BD59-A6C34878D82A}">
                    <a16:rowId xmlns:a16="http://schemas.microsoft.com/office/drawing/2014/main" val="10003"/>
                  </a:ext>
                </a:extLst>
              </a:tr>
              <a:tr h="381124">
                <a:tc>
                  <a:txBody>
                    <a:bodyPr/>
                    <a:lstStyle/>
                    <a:p>
                      <a:pPr marL="0" indent="0">
                        <a:lnSpc>
                          <a:spcPts val="1960"/>
                        </a:lnSpc>
                        <a:buNone/>
                      </a:pPr>
                      <a:r>
                        <a:rPr lang="en-US" sz="1400" dirty="0">
                          <a:solidFill>
                            <a:srgbClr val="13261F"/>
                          </a:solidFill>
                          <a:latin typeface="IBM Plex Sans" pitchFamily="34" charset="0"/>
                          <a:ea typeface="IBM Plex Sans" pitchFamily="34" charset="-122"/>
                          <a:cs typeface="IBM Plex Sans" pitchFamily="34" charset="-120"/>
                        </a:rPr>
                        <a:t>After CH03</a:t>
                      </a:r>
                      <a:endParaRPr lang="en-US" sz="1400" dirty="0">
                        <a:latin typeface="IBM Plex Sans" charset="0"/>
                        <a:ea typeface="IBM Plex Sans" charset="0"/>
                        <a:cs typeface="IBM Plex Sans" charset="0"/>
                      </a:endParaRPr>
                    </a:p>
                  </a:txBody>
                  <a:tcPr marL="62230" marR="62230" marT="62230" marB="62230">
                    <a:lnL w="12700" cap="flat" cmpd="sng" algn="ctr">
                      <a:solidFill>
                        <a:srgbClr val="BBB8AC"/>
                      </a:solidFill>
                      <a:prstDash val="solid"/>
                      <a:round/>
                      <a:headEnd type="none" w="med" len="med"/>
                      <a:tailEnd type="none" w="med" len="med"/>
                    </a:lnL>
                    <a:lnR w="12700" cap="flat" cmpd="sng" algn="ctr">
                      <a:solidFill>
                        <a:srgbClr val="C4C2BB"/>
                      </a:solidFill>
                      <a:prstDash val="solid"/>
                      <a:round/>
                      <a:headEnd type="none" w="med" len="med"/>
                      <a:tailEnd type="none" w="med" len="med"/>
                    </a:lnR>
                    <a:lnT w="12700" cap="flat" cmpd="sng" algn="ctr">
                      <a:solidFill>
                        <a:srgbClr val="C8C7C3"/>
                      </a:solidFill>
                      <a:prstDash val="solid"/>
                      <a:round/>
                      <a:headEnd type="none" w="med" len="med"/>
                      <a:tailEnd type="none" w="med" len="med"/>
                    </a:lnT>
                    <a:lnB w="12700" cap="flat" cmpd="sng" algn="ctr">
                      <a:solidFill>
                        <a:srgbClr val="C4C2BB"/>
                      </a:solidFill>
                      <a:prstDash val="solid"/>
                      <a:round/>
                      <a:headEnd type="none" w="med" len="med"/>
                      <a:tailEnd type="none" w="med" len="med"/>
                    </a:lnB>
                    <a:solidFill>
                      <a:srgbClr val="F5F3EA"/>
                    </a:solidFill>
                  </a:tcPr>
                </a:tc>
                <a:tc>
                  <a:txBody>
                    <a:bodyPr/>
                    <a:lstStyle/>
                    <a:p>
                      <a:pPr marL="0" indent="0" algn="r">
                        <a:lnSpc>
                          <a:spcPts val="1960"/>
                        </a:lnSpc>
                        <a:buNone/>
                      </a:pPr>
                      <a:r>
                        <a:rPr lang="en-US" sz="1400" dirty="0">
                          <a:solidFill>
                            <a:srgbClr val="13261F"/>
                          </a:solidFill>
                          <a:latin typeface="IBM Plex Sans" pitchFamily="34" charset="0"/>
                          <a:ea typeface="IBM Plex Sans" pitchFamily="34" charset="-122"/>
                          <a:cs typeface="IBM Plex Sans" pitchFamily="34" charset="-120"/>
                        </a:rPr>
                        <a:t>10</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2BB"/>
                      </a:solidFill>
                      <a:prstDash val="solid"/>
                      <a:round/>
                      <a:headEnd type="none" w="med" len="med"/>
                      <a:tailEnd type="none" w="med" len="med"/>
                    </a:lnL>
                    <a:lnR w="12700" cap="flat" cmpd="sng" algn="ctr">
                      <a:solidFill>
                        <a:srgbClr val="C4C2BB"/>
                      </a:solidFill>
                      <a:prstDash val="solid"/>
                      <a:round/>
                      <a:headEnd type="none" w="med" len="med"/>
                      <a:tailEnd type="none" w="med" len="med"/>
                    </a:lnR>
                    <a:lnT w="12700" cap="flat" cmpd="sng" algn="ctr">
                      <a:solidFill>
                        <a:srgbClr val="C8C7C3"/>
                      </a:solidFill>
                      <a:prstDash val="solid"/>
                      <a:round/>
                      <a:headEnd type="none" w="med" len="med"/>
                      <a:tailEnd type="none" w="med" len="med"/>
                    </a:lnT>
                    <a:lnB w="12700" cap="flat" cmpd="sng" algn="ctr">
                      <a:solidFill>
                        <a:srgbClr val="C4C2BB"/>
                      </a:solidFill>
                      <a:prstDash val="solid"/>
                      <a:round/>
                      <a:headEnd type="none" w="med" len="med"/>
                      <a:tailEnd type="none" w="med" len="med"/>
                    </a:lnB>
                    <a:solidFill>
                      <a:srgbClr val="F5F3EA"/>
                    </a:solidFill>
                  </a:tcPr>
                </a:tc>
                <a:tc>
                  <a:txBody>
                    <a:bodyPr/>
                    <a:lstStyle/>
                    <a:p>
                      <a:pPr marL="0" indent="0" algn="r">
                        <a:lnSpc>
                          <a:spcPts val="1960"/>
                        </a:lnSpc>
                        <a:buNone/>
                      </a:pPr>
                      <a:r>
                        <a:rPr lang="en-US" sz="1400" dirty="0">
                          <a:solidFill>
                            <a:srgbClr val="13261F"/>
                          </a:solidFill>
                          <a:latin typeface="IBM Plex Sans" pitchFamily="34" charset="0"/>
                          <a:ea typeface="IBM Plex Sans" pitchFamily="34" charset="-122"/>
                          <a:cs typeface="IBM Plex Sans" pitchFamily="34" charset="-120"/>
                        </a:rPr>
                        <a:t>16</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2BB"/>
                      </a:solidFill>
                      <a:prstDash val="solid"/>
                      <a:round/>
                      <a:headEnd type="none" w="med" len="med"/>
                      <a:tailEnd type="none" w="med" len="med"/>
                    </a:lnL>
                    <a:lnR w="12700" cap="flat" cmpd="sng" algn="ctr">
                      <a:solidFill>
                        <a:srgbClr val="C4C2BB"/>
                      </a:solidFill>
                      <a:prstDash val="solid"/>
                      <a:round/>
                      <a:headEnd type="none" w="med" len="med"/>
                      <a:tailEnd type="none" w="med" len="med"/>
                    </a:lnR>
                    <a:lnT w="12700" cap="flat" cmpd="sng" algn="ctr">
                      <a:solidFill>
                        <a:srgbClr val="C8C7C3"/>
                      </a:solidFill>
                      <a:prstDash val="solid"/>
                      <a:round/>
                      <a:headEnd type="none" w="med" len="med"/>
                      <a:tailEnd type="none" w="med" len="med"/>
                    </a:lnT>
                    <a:lnB w="12700" cap="flat" cmpd="sng" algn="ctr">
                      <a:solidFill>
                        <a:srgbClr val="C4C2BB"/>
                      </a:solidFill>
                      <a:prstDash val="solid"/>
                      <a:round/>
                      <a:headEnd type="none" w="med" len="med"/>
                      <a:tailEnd type="none" w="med" len="med"/>
                    </a:lnB>
                    <a:solidFill>
                      <a:srgbClr val="F5F3EA"/>
                    </a:solidFill>
                  </a:tcPr>
                </a:tc>
                <a:tc>
                  <a:txBody>
                    <a:bodyPr/>
                    <a:lstStyle/>
                    <a:p>
                      <a:pPr marL="0" indent="0" algn="r">
                        <a:lnSpc>
                          <a:spcPts val="1960"/>
                        </a:lnSpc>
                        <a:buNone/>
                      </a:pPr>
                      <a:r>
                        <a:rPr lang="en-US" sz="1400" dirty="0">
                          <a:solidFill>
                            <a:srgbClr val="13261F"/>
                          </a:solidFill>
                          <a:latin typeface="IBM Plex Sans" pitchFamily="34" charset="0"/>
                          <a:ea typeface="IBM Plex Sans" pitchFamily="34" charset="-122"/>
                          <a:cs typeface="IBM Plex Sans" pitchFamily="34" charset="-120"/>
                        </a:rPr>
                        <a:t>24</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2BB"/>
                      </a:solidFill>
                      <a:prstDash val="solid"/>
                      <a:round/>
                      <a:headEnd type="none" w="med" len="med"/>
                      <a:tailEnd type="none" w="med" len="med"/>
                    </a:lnL>
                    <a:lnR w="12700" cap="flat" cmpd="sng" algn="ctr">
                      <a:solidFill>
                        <a:srgbClr val="C4C2BB"/>
                      </a:solidFill>
                      <a:prstDash val="solid"/>
                      <a:round/>
                      <a:headEnd type="none" w="med" len="med"/>
                      <a:tailEnd type="none" w="med" len="med"/>
                    </a:lnR>
                    <a:lnT w="12700" cap="flat" cmpd="sng" algn="ctr">
                      <a:solidFill>
                        <a:srgbClr val="C8C7C3"/>
                      </a:solidFill>
                      <a:prstDash val="solid"/>
                      <a:round/>
                      <a:headEnd type="none" w="med" len="med"/>
                      <a:tailEnd type="none" w="med" len="med"/>
                    </a:lnT>
                    <a:lnB w="12700" cap="flat" cmpd="sng" algn="ctr">
                      <a:solidFill>
                        <a:srgbClr val="C4C2BB"/>
                      </a:solidFill>
                      <a:prstDash val="solid"/>
                      <a:round/>
                      <a:headEnd type="none" w="med" len="med"/>
                      <a:tailEnd type="none" w="med" len="med"/>
                    </a:lnB>
                    <a:solidFill>
                      <a:srgbClr val="F5F3EA"/>
                    </a:solidFill>
                  </a:tcPr>
                </a:tc>
                <a:tc>
                  <a:txBody>
                    <a:bodyPr/>
                    <a:lstStyle/>
                    <a:p>
                      <a:pPr marL="0" indent="0">
                        <a:lnSpc>
                          <a:spcPts val="1960"/>
                        </a:lnSpc>
                        <a:buNone/>
                      </a:pPr>
                      <a:r>
                        <a:rPr lang="en-US" sz="1400" dirty="0">
                          <a:solidFill>
                            <a:srgbClr val="13261F"/>
                          </a:solidFill>
                          <a:latin typeface="IBM Plex Sans" pitchFamily="34" charset="0"/>
                          <a:ea typeface="IBM Plex Sans" pitchFamily="34" charset="-122"/>
                          <a:cs typeface="IBM Plex Sans" pitchFamily="34" charset="-120"/>
                        </a:rPr>
                        <a:t>Observer</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2BB"/>
                      </a:solidFill>
                      <a:prstDash val="solid"/>
                      <a:round/>
                      <a:headEnd type="none" w="med" len="med"/>
                      <a:tailEnd type="none" w="med" len="med"/>
                    </a:lnL>
                    <a:lnR w="12700" cap="flat" cmpd="sng" algn="ctr">
                      <a:solidFill>
                        <a:srgbClr val="C4C2BB"/>
                      </a:solidFill>
                      <a:prstDash val="solid"/>
                      <a:round/>
                      <a:headEnd type="none" w="med" len="med"/>
                      <a:tailEnd type="none" w="med" len="med"/>
                    </a:lnR>
                    <a:lnT w="12700" cap="flat" cmpd="sng" algn="ctr">
                      <a:solidFill>
                        <a:srgbClr val="C8C7C3"/>
                      </a:solidFill>
                      <a:prstDash val="solid"/>
                      <a:round/>
                      <a:headEnd type="none" w="med" len="med"/>
                      <a:tailEnd type="none" w="med" len="med"/>
                    </a:lnT>
                    <a:lnB w="12700" cap="flat" cmpd="sng" algn="ctr">
                      <a:solidFill>
                        <a:srgbClr val="C4C2BB"/>
                      </a:solidFill>
                      <a:prstDash val="solid"/>
                      <a:round/>
                      <a:headEnd type="none" w="med" len="med"/>
                      <a:tailEnd type="none" w="med" len="med"/>
                    </a:lnB>
                    <a:solidFill>
                      <a:srgbClr val="F5F3EA"/>
                    </a:solidFill>
                  </a:tcPr>
                </a:tc>
                <a:tc>
                  <a:txBody>
                    <a:bodyPr/>
                    <a:lstStyle/>
                    <a:p>
                      <a:pPr marL="0" indent="0" algn="r">
                        <a:lnSpc>
                          <a:spcPts val="1960"/>
                        </a:lnSpc>
                        <a:buNone/>
                      </a:pPr>
                      <a:r>
                        <a:rPr lang="en-US" sz="1400" dirty="0">
                          <a:solidFill>
                            <a:srgbClr val="13261F"/>
                          </a:solidFill>
                          <a:latin typeface="IBM Plex Sans" pitchFamily="34" charset="0"/>
                          <a:ea typeface="IBM Plex Sans" pitchFamily="34" charset="-122"/>
                          <a:cs typeface="IBM Plex Sans" pitchFamily="34" charset="-120"/>
                        </a:rPr>
                        <a:t>83</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2BB"/>
                      </a:solidFill>
                      <a:prstDash val="solid"/>
                      <a:round/>
                      <a:headEnd type="none" w="med" len="med"/>
                      <a:tailEnd type="none" w="med" len="med"/>
                    </a:lnL>
                    <a:lnR w="12700" cap="flat" cmpd="sng" algn="ctr">
                      <a:solidFill>
                        <a:srgbClr val="C4C2BB"/>
                      </a:solidFill>
                      <a:prstDash val="solid"/>
                      <a:round/>
                      <a:headEnd type="none" w="med" len="med"/>
                      <a:tailEnd type="none" w="med" len="med"/>
                    </a:lnR>
                    <a:lnT w="12700" cap="flat" cmpd="sng" algn="ctr">
                      <a:solidFill>
                        <a:srgbClr val="C8C7C3"/>
                      </a:solidFill>
                      <a:prstDash val="solid"/>
                      <a:round/>
                      <a:headEnd type="none" w="med" len="med"/>
                      <a:tailEnd type="none" w="med" len="med"/>
                    </a:lnT>
                    <a:lnB w="12700" cap="flat" cmpd="sng" algn="ctr">
                      <a:solidFill>
                        <a:srgbClr val="C4C2BB"/>
                      </a:solidFill>
                      <a:prstDash val="solid"/>
                      <a:round/>
                      <a:headEnd type="none" w="med" len="med"/>
                      <a:tailEnd type="none" w="med" len="med"/>
                    </a:lnB>
                    <a:solidFill>
                      <a:srgbClr val="F5F3EA"/>
                    </a:solidFill>
                  </a:tcPr>
                </a:tc>
                <a:extLst>
                  <a:ext uri="{0D108BD9-81ED-4DB2-BD59-A6C34878D82A}">
                    <a16:rowId xmlns:a16="http://schemas.microsoft.com/office/drawing/2014/main" val="10004"/>
                  </a:ext>
                </a:extLst>
              </a:tr>
            </a:tbl>
          </a:graphicData>
        </a:graphic>
      </p:graphicFrame>
      <p:sp>
        <p:nvSpPr>
          <p:cNvPr id="14" name="Text 11"/>
          <p:cNvSpPr/>
          <p:nvPr/>
        </p:nvSpPr>
        <p:spPr>
          <a:xfrm>
            <a:off x="812726" y="6238379"/>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76F"/>
                </a:solidFill>
                <a:latin typeface="IBM Plex Sans" pitchFamily="34" charset="0"/>
                <a:ea typeface="IBM Plex Sans" pitchFamily="34" charset="-122"/>
                <a:cs typeface="IBM Plex Sans" pitchFamily="34" charset="-120"/>
              </a:rPr>
              <a:t>B10 · Design Patterns in Mycodo</a:t>
            </a:r>
            <a:endParaRPr lang="en-US" sz="1200" dirty="0"/>
          </a:p>
        </p:txBody>
      </p:sp>
      <p:sp>
        <p:nvSpPr>
          <p:cNvPr id="15" name="Text 12"/>
          <p:cNvSpPr/>
          <p:nvPr/>
        </p:nvSpPr>
        <p:spPr>
          <a:xfrm>
            <a:off x="10058474" y="6238379"/>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776F"/>
                </a:solidFill>
                <a:latin typeface="IBM Plex Sans" pitchFamily="34" charset="0"/>
                <a:ea typeface="IBM Plex Sans" pitchFamily="34" charset="-122"/>
                <a:cs typeface="IBM Plex Sans" pitchFamily="34" charset="-120"/>
              </a:rPr>
              <a:t>12</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3">
    <p:bg>
      <p:bgPr>
        <a:solidFill>
          <a:srgbClr val="13261F"/>
        </a:solidFill>
        <a:effectLst/>
      </p:bgPr>
    </p:bg>
    <p:spTree>
      <p:nvGrpSpPr>
        <p:cNvPr id="1" name=""/>
        <p:cNvGrpSpPr/>
        <p:nvPr/>
      </p:nvGrpSpPr>
      <p:grpSpPr>
        <a:xfrm>
          <a:off x="0" y="0"/>
          <a:ext cx="0" cy="0"/>
          <a:chOff x="0" y="0"/>
          <a:chExt cx="0" cy="0"/>
        </a:xfrm>
      </p:grpSpPr>
      <p:sp>
        <p:nvSpPr>
          <p:cNvPr id="2" name="Text 0"/>
          <p:cNvSpPr/>
          <p:nvPr/>
        </p:nvSpPr>
        <p:spPr>
          <a:xfrm>
            <a:off x="812726" y="812726"/>
            <a:ext cx="10883545" cy="238720"/>
          </a:xfrm>
          <a:prstGeom prst="rect">
            <a:avLst/>
          </a:prstGeom>
          <a:noFill/>
          <a:ln/>
        </p:spPr>
        <p:txBody>
          <a:bodyPr wrap="square" lIns="0" tIns="0" rIns="0" bIns="0" rtlCol="0" anchor="t">
            <a:normAutofit/>
          </a:bodyPr>
          <a:lstStyle/>
          <a:p>
            <a:pPr marL="0" indent="0" algn="l">
              <a:lnSpc>
                <a:spcPts val="1680"/>
              </a:lnSpc>
              <a:buNone/>
            </a:pPr>
            <a:r>
              <a:rPr lang="en-US" sz="1200" b="1" kern="0" spc="200" dirty="0">
                <a:solidFill>
                  <a:srgbClr val="A8D672"/>
                </a:solidFill>
                <a:latin typeface="IBM Plex Sans" pitchFamily="34" charset="0"/>
                <a:ea typeface="IBM Plex Sans" pitchFamily="34" charset="-122"/>
                <a:cs typeface="IBM Plex Sans" pitchFamily="34" charset="-120"/>
              </a:rPr>
              <a:t>PART 3 · CROSS-LANGUAGE COMPARISON</a:t>
            </a:r>
            <a:endParaRPr lang="en-US" sz="1200" dirty="0"/>
          </a:p>
        </p:txBody>
      </p:sp>
      <p:sp>
        <p:nvSpPr>
          <p:cNvPr id="3" name="Text 1"/>
          <p:cNvSpPr>
            <a:spLocks noGrp="1"/>
          </p:cNvSpPr>
          <p:nvPr>
            <p:ph type="title"/>
          </p:nvPr>
        </p:nvSpPr>
        <p:spPr>
          <a:xfrm>
            <a:off x="812726" y="1127621"/>
            <a:ext cx="10883545" cy="528191"/>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F5F3EA"/>
                </a:solidFill>
                <a:latin typeface="Space Grotesk" pitchFamily="34" charset="0"/>
                <a:ea typeface="Space Grotesk" pitchFamily="34" charset="-122"/>
                <a:cs typeface="Space Grotesk" pitchFamily="34" charset="-120"/>
              </a:rPr>
              <a:t>One problem per pattern, four languages</a:t>
            </a:r>
            <a:endParaRPr lang="en-US" sz="3600" dirty="0"/>
          </a:p>
        </p:txBody>
      </p:sp>
      <p:sp>
        <p:nvSpPr>
          <p:cNvPr id="4" name="Text 2"/>
          <p:cNvSpPr/>
          <p:nvPr/>
        </p:nvSpPr>
        <p:spPr>
          <a:xfrm>
            <a:off x="812726" y="2758653"/>
            <a:ext cx="817761" cy="787400"/>
          </a:xfrm>
          <a:prstGeom prst="rect">
            <a:avLst/>
          </a:prstGeom>
          <a:noFill/>
          <a:ln/>
        </p:spPr>
        <p:txBody>
          <a:bodyPr wrap="square" lIns="0" tIns="0" rIns="0" bIns="0" rtlCol="0" anchor="t">
            <a:normAutofit/>
          </a:bodyPr>
          <a:lstStyle/>
          <a:p>
            <a:pPr marL="0" indent="0" algn="l">
              <a:lnSpc>
                <a:spcPts val="6000"/>
              </a:lnSpc>
              <a:buNone/>
            </a:pPr>
            <a:r>
              <a:rPr lang="en-US" sz="6000" b="1" dirty="0">
                <a:solidFill>
                  <a:srgbClr val="A8D672"/>
                </a:solidFill>
                <a:latin typeface="Space Grotesk" pitchFamily="34" charset="0"/>
                <a:ea typeface="Space Grotesk" pitchFamily="34" charset="-122"/>
                <a:cs typeface="Space Grotesk" pitchFamily="34" charset="-120"/>
              </a:rPr>
              <a:t>8</a:t>
            </a:r>
            <a:endParaRPr lang="en-US" sz="6000" dirty="0"/>
          </a:p>
        </p:txBody>
      </p:sp>
      <p:sp>
        <p:nvSpPr>
          <p:cNvPr id="5" name="Text 3"/>
          <p:cNvSpPr/>
          <p:nvPr/>
        </p:nvSpPr>
        <p:spPr>
          <a:xfrm>
            <a:off x="812726" y="3545954"/>
            <a:ext cx="920353" cy="309786"/>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C9D8CE"/>
                </a:solidFill>
                <a:latin typeface="IBM Plex Sans" pitchFamily="34" charset="0"/>
                <a:ea typeface="IBM Plex Sans" pitchFamily="34" charset="-122"/>
                <a:cs typeface="IBM Plex Sans" pitchFamily="34" charset="-120"/>
              </a:rPr>
              <a:t>patterns</a:t>
            </a:r>
            <a:endParaRPr lang="en-US" sz="1600" dirty="0"/>
          </a:p>
        </p:txBody>
      </p:sp>
      <p:sp>
        <p:nvSpPr>
          <p:cNvPr id="6" name="Text 4"/>
          <p:cNvSpPr/>
          <p:nvPr/>
        </p:nvSpPr>
        <p:spPr>
          <a:xfrm>
            <a:off x="1833687" y="2885653"/>
            <a:ext cx="340221" cy="665287"/>
          </a:xfrm>
          <a:prstGeom prst="rect">
            <a:avLst/>
          </a:prstGeom>
          <a:noFill/>
          <a:ln/>
        </p:spPr>
        <p:txBody>
          <a:bodyPr wrap="square" lIns="0" tIns="0" rIns="0" bIns="0" rtlCol="0" anchor="t">
            <a:normAutofit/>
          </a:bodyPr>
          <a:lstStyle/>
          <a:p>
            <a:pPr marL="0" indent="0" algn="l">
              <a:lnSpc>
                <a:spcPts val="5040"/>
              </a:lnSpc>
              <a:buNone/>
            </a:pPr>
            <a:r>
              <a:rPr lang="en-US" sz="3600" dirty="0">
                <a:solidFill>
                  <a:srgbClr val="5E7A6C"/>
                </a:solidFill>
                <a:latin typeface="Space Grotesk" pitchFamily="34" charset="0"/>
                <a:ea typeface="Space Grotesk" pitchFamily="34" charset="-122"/>
                <a:cs typeface="Space Grotesk" pitchFamily="34" charset="-120"/>
              </a:rPr>
              <a:t>×</a:t>
            </a:r>
            <a:endParaRPr lang="en-US" sz="3600" dirty="0"/>
          </a:p>
        </p:txBody>
      </p:sp>
      <p:sp>
        <p:nvSpPr>
          <p:cNvPr id="7" name="Text 5"/>
          <p:cNvSpPr/>
          <p:nvPr/>
        </p:nvSpPr>
        <p:spPr>
          <a:xfrm>
            <a:off x="2371204" y="2758653"/>
            <a:ext cx="977007" cy="787400"/>
          </a:xfrm>
          <a:prstGeom prst="rect">
            <a:avLst/>
          </a:prstGeom>
          <a:noFill/>
          <a:ln/>
        </p:spPr>
        <p:txBody>
          <a:bodyPr wrap="square" lIns="0" tIns="0" rIns="0" bIns="0" rtlCol="0" anchor="t">
            <a:normAutofit/>
          </a:bodyPr>
          <a:lstStyle/>
          <a:p>
            <a:pPr marL="0" indent="0" algn="l">
              <a:lnSpc>
                <a:spcPts val="6000"/>
              </a:lnSpc>
              <a:buNone/>
            </a:pPr>
            <a:r>
              <a:rPr lang="en-US" sz="6000" b="1" dirty="0">
                <a:solidFill>
                  <a:srgbClr val="A8D672"/>
                </a:solidFill>
                <a:latin typeface="Space Grotesk" pitchFamily="34" charset="0"/>
                <a:ea typeface="Space Grotesk" pitchFamily="34" charset="-122"/>
                <a:cs typeface="Space Grotesk" pitchFamily="34" charset="-120"/>
              </a:rPr>
              <a:t>4</a:t>
            </a:r>
            <a:endParaRPr lang="en-US" sz="6000" dirty="0"/>
          </a:p>
        </p:txBody>
      </p:sp>
      <p:sp>
        <p:nvSpPr>
          <p:cNvPr id="8" name="Text 6"/>
          <p:cNvSpPr/>
          <p:nvPr/>
        </p:nvSpPr>
        <p:spPr>
          <a:xfrm>
            <a:off x="2371204" y="3545954"/>
            <a:ext cx="1111448" cy="309786"/>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C9D8CE"/>
                </a:solidFill>
                <a:latin typeface="IBM Plex Sans" pitchFamily="34" charset="0"/>
                <a:ea typeface="IBM Plex Sans" pitchFamily="34" charset="-122"/>
                <a:cs typeface="IBM Plex Sans" pitchFamily="34" charset="-120"/>
              </a:rPr>
              <a:t>languages</a:t>
            </a:r>
            <a:endParaRPr lang="en-US" sz="1600" dirty="0"/>
          </a:p>
        </p:txBody>
      </p:sp>
      <p:sp>
        <p:nvSpPr>
          <p:cNvPr id="9" name="Text 7"/>
          <p:cNvSpPr/>
          <p:nvPr/>
        </p:nvSpPr>
        <p:spPr>
          <a:xfrm>
            <a:off x="3551411" y="2885653"/>
            <a:ext cx="340221" cy="665287"/>
          </a:xfrm>
          <a:prstGeom prst="rect">
            <a:avLst/>
          </a:prstGeom>
          <a:noFill/>
          <a:ln/>
        </p:spPr>
        <p:txBody>
          <a:bodyPr wrap="square" lIns="0" tIns="0" rIns="0" bIns="0" rtlCol="0" anchor="t">
            <a:normAutofit/>
          </a:bodyPr>
          <a:lstStyle/>
          <a:p>
            <a:pPr marL="0" indent="0" algn="l">
              <a:lnSpc>
                <a:spcPts val="5040"/>
              </a:lnSpc>
              <a:buNone/>
            </a:pPr>
            <a:r>
              <a:rPr lang="en-US" sz="3600" dirty="0">
                <a:solidFill>
                  <a:srgbClr val="5E7A6C"/>
                </a:solidFill>
                <a:latin typeface="Space Grotesk" pitchFamily="34" charset="0"/>
                <a:ea typeface="Space Grotesk" pitchFamily="34" charset="-122"/>
                <a:cs typeface="Space Grotesk" pitchFamily="34" charset="-120"/>
              </a:rPr>
              <a:t>=</a:t>
            </a:r>
            <a:endParaRPr lang="en-US" sz="3600" dirty="0"/>
          </a:p>
        </p:txBody>
      </p:sp>
      <p:sp>
        <p:nvSpPr>
          <p:cNvPr id="10" name="Text 8"/>
          <p:cNvSpPr/>
          <p:nvPr/>
        </p:nvSpPr>
        <p:spPr>
          <a:xfrm>
            <a:off x="4088929" y="2758653"/>
            <a:ext cx="1100138" cy="787400"/>
          </a:xfrm>
          <a:prstGeom prst="rect">
            <a:avLst/>
          </a:prstGeom>
          <a:noFill/>
          <a:ln/>
        </p:spPr>
        <p:txBody>
          <a:bodyPr wrap="square" lIns="0" tIns="0" rIns="0" bIns="0" rtlCol="0" anchor="t">
            <a:normAutofit/>
          </a:bodyPr>
          <a:lstStyle/>
          <a:p>
            <a:pPr marL="0" indent="0" algn="l">
              <a:lnSpc>
                <a:spcPts val="6000"/>
              </a:lnSpc>
              <a:buNone/>
            </a:pPr>
            <a:r>
              <a:rPr lang="en-US" sz="6000" b="1" dirty="0">
                <a:solidFill>
                  <a:srgbClr val="E3A33B"/>
                </a:solidFill>
                <a:latin typeface="Space Grotesk" pitchFamily="34" charset="0"/>
                <a:ea typeface="Space Grotesk" pitchFamily="34" charset="-122"/>
                <a:cs typeface="Space Grotesk" pitchFamily="34" charset="-120"/>
              </a:rPr>
              <a:t>32</a:t>
            </a:r>
            <a:endParaRPr lang="en-US" sz="6000" dirty="0"/>
          </a:p>
        </p:txBody>
      </p:sp>
      <p:sp>
        <p:nvSpPr>
          <p:cNvPr id="11" name="Text 9"/>
          <p:cNvSpPr/>
          <p:nvPr/>
        </p:nvSpPr>
        <p:spPr>
          <a:xfrm>
            <a:off x="4088929" y="3545954"/>
            <a:ext cx="967581" cy="309786"/>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C9D8CE"/>
                </a:solidFill>
                <a:latin typeface="IBM Plex Sans" pitchFamily="34" charset="0"/>
                <a:ea typeface="IBM Plex Sans" pitchFamily="34" charset="-122"/>
                <a:cs typeface="IBM Plex Sans" pitchFamily="34" charset="-120"/>
              </a:rPr>
              <a:t>programs</a:t>
            </a:r>
            <a:endParaRPr lang="en-US" sz="1600" dirty="0"/>
          </a:p>
        </p:txBody>
      </p:sp>
      <p:sp>
        <p:nvSpPr>
          <p:cNvPr id="12" name="Text 10"/>
          <p:cNvSpPr/>
          <p:nvPr/>
        </p:nvSpPr>
        <p:spPr>
          <a:xfrm>
            <a:off x="9848428" y="2804542"/>
            <a:ext cx="1530846" cy="665361"/>
          </a:xfrm>
          <a:prstGeom prst="rect">
            <a:avLst/>
          </a:prstGeom>
          <a:noFill/>
          <a:ln/>
        </p:spPr>
        <p:txBody>
          <a:bodyPr wrap="square" lIns="0" tIns="0" rIns="0" bIns="0" rtlCol="0" anchor="t">
            <a:normAutofit/>
          </a:bodyPr>
          <a:lstStyle/>
          <a:p>
            <a:pPr marL="0" indent="0" algn="r">
              <a:lnSpc>
                <a:spcPts val="5040"/>
              </a:lnSpc>
              <a:buNone/>
            </a:pPr>
            <a:r>
              <a:rPr lang="en-US" sz="3600" b="1" dirty="0">
                <a:solidFill>
                  <a:srgbClr val="F5F3EA"/>
                </a:solidFill>
                <a:latin typeface="Space Grotesk" pitchFamily="34" charset="0"/>
                <a:ea typeface="Space Grotesk" pitchFamily="34" charset="-122"/>
                <a:cs typeface="Space Grotesk" pitchFamily="34" charset="-120"/>
              </a:rPr>
              <a:t>32/32</a:t>
            </a:r>
            <a:endParaRPr lang="en-US" sz="3600" dirty="0"/>
          </a:p>
        </p:txBody>
      </p:sp>
      <p:sp>
        <p:nvSpPr>
          <p:cNvPr id="13" name="Text 11"/>
          <p:cNvSpPr/>
          <p:nvPr/>
        </p:nvSpPr>
        <p:spPr>
          <a:xfrm>
            <a:off x="9803433" y="3495229"/>
            <a:ext cx="1891010" cy="309786"/>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C9D8CE"/>
                </a:solidFill>
                <a:latin typeface="IBM Plex Sans" pitchFamily="34" charset="0"/>
                <a:ea typeface="IBM Plex Sans" pitchFamily="34" charset="-122"/>
                <a:cs typeface="IBM Plex Sans" pitchFamily="34" charset="-120"/>
              </a:rPr>
              <a:t>test runners pass</a:t>
            </a:r>
            <a:endParaRPr lang="en-US" sz="1600" dirty="0"/>
          </a:p>
        </p:txBody>
      </p:sp>
      <p:sp>
        <p:nvSpPr>
          <p:cNvPr id="14" name="Text 12"/>
          <p:cNvSpPr/>
          <p:nvPr/>
        </p:nvSpPr>
        <p:spPr>
          <a:xfrm>
            <a:off x="812726" y="4958581"/>
            <a:ext cx="1618754" cy="365621"/>
          </a:xfrm>
          <a:prstGeom prst="roundRect">
            <a:avLst>
              <a:gd name="adj" fmla="val 50000"/>
            </a:avLst>
          </a:prstGeom>
          <a:solidFill>
            <a:srgbClr val="1C3A2E"/>
          </a:solidFill>
          <a:ln/>
        </p:spPr>
        <p:txBody>
          <a:bodyPr wrap="none" lIns="0" tIns="0" rIns="0" bIns="0" rtlCol="0" anchor="ctr">
            <a:normAutofit/>
          </a:bodyPr>
          <a:lstStyle/>
          <a:p>
            <a:pPr marL="0" indent="0" algn="ctr">
              <a:lnSpc>
                <a:spcPts val="1680"/>
              </a:lnSpc>
              <a:buNone/>
            </a:pPr>
            <a:r>
              <a:rPr lang="en-US" sz="1200" b="1" dirty="0">
                <a:solidFill>
                  <a:srgbClr val="F5F3EA"/>
                </a:solidFill>
                <a:latin typeface="IBM Plex Sans" pitchFamily="34" charset="0"/>
                <a:ea typeface="IBM Plex Sans" pitchFamily="34" charset="-122"/>
                <a:cs typeface="IBM Plex Sans" pitchFamily="34" charset="-120"/>
              </a:rPr>
              <a:t>Java</a:t>
            </a:r>
            <a:r>
              <a:rPr lang="en-US" sz="1200" dirty="0">
                <a:solidFill>
                  <a:srgbClr val="F5F3EA"/>
                </a:solidFill>
                <a:latin typeface="IBM Plex Sans" pitchFamily="34" charset="0"/>
                <a:ea typeface="IBM Plex Sans" pitchFamily="34" charset="-122"/>
                <a:cs typeface="IBM Plex Sans" pitchFamily="34" charset="-120"/>
              </a:rPr>
              <a:t> · OpenJDK 21</a:t>
            </a:r>
            <a:endParaRPr lang="en-US" sz="1200" dirty="0"/>
          </a:p>
        </p:txBody>
      </p:sp>
      <p:sp>
        <p:nvSpPr>
          <p:cNvPr id="15" name="Text 13"/>
          <p:cNvSpPr/>
          <p:nvPr/>
        </p:nvSpPr>
        <p:spPr>
          <a:xfrm>
            <a:off x="2533055" y="4958581"/>
            <a:ext cx="1241723" cy="365621"/>
          </a:xfrm>
          <a:prstGeom prst="roundRect">
            <a:avLst>
              <a:gd name="adj" fmla="val 50000"/>
            </a:avLst>
          </a:prstGeom>
          <a:solidFill>
            <a:srgbClr val="1C3A2E"/>
          </a:solidFill>
          <a:ln/>
        </p:spPr>
        <p:txBody>
          <a:bodyPr wrap="none" lIns="0" tIns="0" rIns="0" bIns="0" rtlCol="0" anchor="ctr">
            <a:normAutofit/>
          </a:bodyPr>
          <a:lstStyle/>
          <a:p>
            <a:pPr marL="0" indent="0" algn="ctr">
              <a:lnSpc>
                <a:spcPts val="1680"/>
              </a:lnSpc>
              <a:buNone/>
            </a:pPr>
            <a:r>
              <a:rPr lang="en-US" sz="1200" b="1" dirty="0">
                <a:solidFill>
                  <a:srgbClr val="F5F3EA"/>
                </a:solidFill>
                <a:latin typeface="IBM Plex Sans" pitchFamily="34" charset="0"/>
                <a:ea typeface="IBM Plex Sans" pitchFamily="34" charset="-122"/>
                <a:cs typeface="IBM Plex Sans" pitchFamily="34" charset="-120"/>
              </a:rPr>
              <a:t>Python</a:t>
            </a:r>
            <a:r>
              <a:rPr lang="en-US" sz="1200" dirty="0">
                <a:solidFill>
                  <a:srgbClr val="F5F3EA"/>
                </a:solidFill>
                <a:latin typeface="IBM Plex Sans" pitchFamily="34" charset="0"/>
                <a:ea typeface="IBM Plex Sans" pitchFamily="34" charset="-122"/>
                <a:cs typeface="IBM Plex Sans" pitchFamily="34" charset="-120"/>
              </a:rPr>
              <a:t> · 3.12</a:t>
            </a:r>
            <a:endParaRPr lang="en-US" sz="1200" dirty="0"/>
          </a:p>
        </p:txBody>
      </p:sp>
      <p:sp>
        <p:nvSpPr>
          <p:cNvPr id="16" name="Text 14"/>
          <p:cNvSpPr/>
          <p:nvPr/>
        </p:nvSpPr>
        <p:spPr>
          <a:xfrm>
            <a:off x="3876353" y="4958581"/>
            <a:ext cx="1761505" cy="365621"/>
          </a:xfrm>
          <a:prstGeom prst="roundRect">
            <a:avLst>
              <a:gd name="adj" fmla="val 50000"/>
            </a:avLst>
          </a:prstGeom>
          <a:solidFill>
            <a:srgbClr val="1C3A2E"/>
          </a:solidFill>
          <a:ln/>
        </p:spPr>
        <p:txBody>
          <a:bodyPr wrap="none" lIns="0" tIns="0" rIns="0" bIns="0" rtlCol="0" anchor="ctr">
            <a:normAutofit/>
          </a:bodyPr>
          <a:lstStyle/>
          <a:p>
            <a:pPr marL="0" indent="0" algn="ctr">
              <a:lnSpc>
                <a:spcPts val="1680"/>
              </a:lnSpc>
              <a:buNone/>
            </a:pPr>
            <a:r>
              <a:rPr lang="en-US" sz="1200" b="1" dirty="0">
                <a:solidFill>
                  <a:srgbClr val="F5F3EA"/>
                </a:solidFill>
                <a:latin typeface="IBM Plex Sans" pitchFamily="34" charset="0"/>
                <a:ea typeface="IBM Plex Sans" pitchFamily="34" charset="-122"/>
                <a:cs typeface="IBM Plex Sans" pitchFamily="34" charset="-120"/>
              </a:rPr>
              <a:t>JavaScript</a:t>
            </a:r>
            <a:r>
              <a:rPr lang="en-US" sz="1200" dirty="0">
                <a:solidFill>
                  <a:srgbClr val="F5F3EA"/>
                </a:solidFill>
                <a:latin typeface="IBM Plex Sans" pitchFamily="34" charset="0"/>
                <a:ea typeface="IBM Plex Sans" pitchFamily="34" charset="-122"/>
                <a:cs typeface="IBM Plex Sans" pitchFamily="34" charset="-120"/>
              </a:rPr>
              <a:t> · Node 23</a:t>
            </a:r>
            <a:endParaRPr lang="en-US" sz="1200" dirty="0"/>
          </a:p>
        </p:txBody>
      </p:sp>
      <p:sp>
        <p:nvSpPr>
          <p:cNvPr id="17" name="Text 15"/>
          <p:cNvSpPr/>
          <p:nvPr/>
        </p:nvSpPr>
        <p:spPr>
          <a:xfrm>
            <a:off x="5739433" y="4958581"/>
            <a:ext cx="1413619" cy="365621"/>
          </a:xfrm>
          <a:prstGeom prst="roundRect">
            <a:avLst>
              <a:gd name="adj" fmla="val 50000"/>
            </a:avLst>
          </a:prstGeom>
          <a:solidFill>
            <a:srgbClr val="1C3A2E"/>
          </a:solidFill>
          <a:ln/>
        </p:spPr>
        <p:txBody>
          <a:bodyPr wrap="none" lIns="0" tIns="0" rIns="0" bIns="0" rtlCol="0" anchor="ctr">
            <a:normAutofit/>
          </a:bodyPr>
          <a:lstStyle/>
          <a:p>
            <a:pPr marL="0" indent="0" algn="ctr">
              <a:lnSpc>
                <a:spcPts val="1680"/>
              </a:lnSpc>
              <a:buNone/>
            </a:pPr>
            <a:r>
              <a:rPr lang="en-US" sz="1200" b="1" dirty="0">
                <a:solidFill>
                  <a:srgbClr val="F5F3EA"/>
                </a:solidFill>
                <a:latin typeface="IBM Plex Sans" pitchFamily="34" charset="0"/>
                <a:ea typeface="IBM Plex Sans" pitchFamily="34" charset="-122"/>
                <a:cs typeface="IBM Plex Sans" pitchFamily="34" charset="-120"/>
              </a:rPr>
              <a:t>C++14</a:t>
            </a:r>
            <a:r>
              <a:rPr lang="en-US" sz="1200" dirty="0">
                <a:solidFill>
                  <a:srgbClr val="F5F3EA"/>
                </a:solidFill>
                <a:latin typeface="IBM Plex Sans" pitchFamily="34" charset="0"/>
                <a:ea typeface="IBM Plex Sans" pitchFamily="34" charset="-122"/>
                <a:cs typeface="IBM Plex Sans" pitchFamily="34" charset="-120"/>
              </a:rPr>
              <a:t> · g++ 6.3</a:t>
            </a:r>
            <a:endParaRPr lang="en-US" sz="1200" dirty="0"/>
          </a:p>
        </p:txBody>
      </p:sp>
      <p:sp>
        <p:nvSpPr>
          <p:cNvPr id="18" name="Text 16"/>
          <p:cNvSpPr/>
          <p:nvPr/>
        </p:nvSpPr>
        <p:spPr>
          <a:xfrm>
            <a:off x="812726" y="5476503"/>
            <a:ext cx="9810750" cy="594171"/>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C9D8CE"/>
                </a:solidFill>
                <a:latin typeface="IBM Plex Sans" pitchFamily="34" charset="0"/>
                <a:ea typeface="IBM Plex Sans" pitchFamily="34" charset="-122"/>
                <a:cs typeface="IBM Plex Sans" pitchFamily="34" charset="-120"/>
              </a:rPr>
              <a:t>Each language reads the same CSV of 9–12 cases, including error cases, so every implementation is judged on identical inputs and expected outputs.</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4">
    <p:bg>
      <p:bgPr>
        <a:solidFill>
          <a:srgbClr val="F5F3EA"/>
        </a:solidFill>
        <a:effectLst/>
      </p:bgPr>
    </p:bg>
    <p:spTree>
      <p:nvGrpSpPr>
        <p:cNvPr id="1" name=""/>
        <p:cNvGrpSpPr/>
        <p:nvPr/>
      </p:nvGrpSpPr>
      <p:grpSpPr>
        <a:xfrm>
          <a:off x="0" y="0"/>
          <a:ext cx="0" cy="0"/>
          <a:chOff x="0" y="0"/>
          <a:chExt cx="0" cy="0"/>
        </a:xfrm>
      </p:grpSpPr>
      <p:sp>
        <p:nvSpPr>
          <p:cNvPr id="2" name="Text 0"/>
          <p:cNvSpPr/>
          <p:nvPr/>
        </p:nvSpPr>
        <p:spPr>
          <a:xfrm>
            <a:off x="812726" y="812726"/>
            <a:ext cx="10883545" cy="238720"/>
          </a:xfrm>
          <a:prstGeom prst="rect">
            <a:avLst/>
          </a:prstGeom>
          <a:noFill/>
          <a:ln/>
        </p:spPr>
        <p:txBody>
          <a:bodyPr wrap="square" lIns="0" tIns="0" rIns="0" bIns="0" rtlCol="0" anchor="t">
            <a:normAutofit/>
          </a:bodyPr>
          <a:lstStyle/>
          <a:p>
            <a:pPr marL="0" indent="0" algn="l">
              <a:lnSpc>
                <a:spcPts val="1680"/>
              </a:lnSpc>
              <a:buNone/>
            </a:pPr>
            <a:r>
              <a:rPr lang="en-US" sz="1200" b="1" kern="0" spc="200" dirty="0">
                <a:solidFill>
                  <a:srgbClr val="2F7D4A"/>
                </a:solidFill>
                <a:latin typeface="IBM Plex Sans" pitchFamily="34" charset="0"/>
                <a:ea typeface="IBM Plex Sans" pitchFamily="34" charset="-122"/>
                <a:cs typeface="IBM Plex Sans" pitchFamily="34" charset="-120"/>
              </a:rPr>
              <a:t>STATIC MEASURES</a:t>
            </a:r>
            <a:endParaRPr lang="en-US" sz="1200" dirty="0"/>
          </a:p>
        </p:txBody>
      </p:sp>
      <p:sp>
        <p:nvSpPr>
          <p:cNvPr id="4" name="Text 2"/>
          <p:cNvSpPr/>
          <p:nvPr/>
        </p:nvSpPr>
        <p:spPr>
          <a:xfrm>
            <a:off x="812726" y="1935138"/>
            <a:ext cx="6802375"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3B4A42"/>
                </a:solidFill>
                <a:latin typeface="IBM Plex Sans" pitchFamily="34" charset="0"/>
                <a:ea typeface="IBM Plex Sans" pitchFamily="34" charset="-122"/>
                <a:cs typeface="IBM Plex Sans" pitchFamily="34" charset="-120"/>
              </a:rPr>
              <a:t>Mean source lines per production file (8 patterns)</a:t>
            </a:r>
            <a:endParaRPr lang="en-US" sz="1200" dirty="0"/>
          </a:p>
        </p:txBody>
      </p:sp>
      <p:sp>
        <p:nvSpPr>
          <p:cNvPr id="5" name="Text 3"/>
          <p:cNvSpPr/>
          <p:nvPr/>
        </p:nvSpPr>
        <p:spPr>
          <a:xfrm>
            <a:off x="812726" y="2275458"/>
            <a:ext cx="1320800" cy="309786"/>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13261F"/>
                </a:solidFill>
                <a:latin typeface="IBM Plex Sans" pitchFamily="34" charset="0"/>
                <a:ea typeface="IBM Plex Sans" pitchFamily="34" charset="-122"/>
                <a:cs typeface="IBM Plex Sans" pitchFamily="34" charset="-120"/>
              </a:rPr>
              <a:t>Python</a:t>
            </a:r>
            <a:endParaRPr lang="en-US" sz="1600" dirty="0"/>
          </a:p>
        </p:txBody>
      </p:sp>
      <p:sp>
        <p:nvSpPr>
          <p:cNvPr id="6" name="Shape 4"/>
          <p:cNvSpPr/>
          <p:nvPr/>
        </p:nvSpPr>
        <p:spPr>
          <a:xfrm>
            <a:off x="2235026" y="2277938"/>
            <a:ext cx="2698750" cy="279301"/>
          </a:xfrm>
          <a:prstGeom prst="roundRect">
            <a:avLst>
              <a:gd name="adj" fmla="val 13641"/>
            </a:avLst>
          </a:prstGeom>
          <a:solidFill>
            <a:srgbClr val="2F7D4A"/>
          </a:solidFill>
          <a:ln/>
        </p:spPr>
      </p:sp>
      <p:sp>
        <p:nvSpPr>
          <p:cNvPr id="7" name="Text 5"/>
          <p:cNvSpPr/>
          <p:nvPr/>
        </p:nvSpPr>
        <p:spPr>
          <a:xfrm>
            <a:off x="5086077" y="2275458"/>
            <a:ext cx="294754" cy="309786"/>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13261F"/>
                </a:solidFill>
                <a:latin typeface="IBM Plex Sans" pitchFamily="34" charset="0"/>
                <a:ea typeface="IBM Plex Sans" pitchFamily="34" charset="-122"/>
                <a:cs typeface="IBM Plex Sans" pitchFamily="34" charset="-120"/>
              </a:rPr>
              <a:t>62</a:t>
            </a:r>
            <a:endParaRPr lang="en-US" sz="1600" dirty="0"/>
          </a:p>
        </p:txBody>
      </p:sp>
      <p:sp>
        <p:nvSpPr>
          <p:cNvPr id="8" name="Text 6"/>
          <p:cNvSpPr/>
          <p:nvPr/>
        </p:nvSpPr>
        <p:spPr>
          <a:xfrm>
            <a:off x="812726" y="2686844"/>
            <a:ext cx="1320800" cy="309786"/>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13261F"/>
                </a:solidFill>
                <a:latin typeface="IBM Plex Sans" pitchFamily="34" charset="0"/>
                <a:ea typeface="IBM Plex Sans" pitchFamily="34" charset="-122"/>
                <a:cs typeface="IBM Plex Sans" pitchFamily="34" charset="-120"/>
              </a:rPr>
              <a:t>JavaScript</a:t>
            </a:r>
            <a:endParaRPr lang="en-US" sz="1600" dirty="0"/>
          </a:p>
        </p:txBody>
      </p:sp>
      <p:sp>
        <p:nvSpPr>
          <p:cNvPr id="9" name="Shape 7"/>
          <p:cNvSpPr/>
          <p:nvPr/>
        </p:nvSpPr>
        <p:spPr>
          <a:xfrm>
            <a:off x="2235026" y="2689324"/>
            <a:ext cx="3314650" cy="279301"/>
          </a:xfrm>
          <a:prstGeom prst="roundRect">
            <a:avLst>
              <a:gd name="adj" fmla="val 13641"/>
            </a:avLst>
          </a:prstGeom>
          <a:solidFill>
            <a:srgbClr val="2F7D4A"/>
          </a:solidFill>
          <a:ln/>
        </p:spPr>
      </p:sp>
      <p:sp>
        <p:nvSpPr>
          <p:cNvPr id="10" name="Text 8"/>
          <p:cNvSpPr/>
          <p:nvPr/>
        </p:nvSpPr>
        <p:spPr>
          <a:xfrm>
            <a:off x="5701978" y="2686844"/>
            <a:ext cx="294754" cy="309786"/>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13261F"/>
                </a:solidFill>
                <a:latin typeface="IBM Plex Sans" pitchFamily="34" charset="0"/>
                <a:ea typeface="IBM Plex Sans" pitchFamily="34" charset="-122"/>
                <a:cs typeface="IBM Plex Sans" pitchFamily="34" charset="-120"/>
              </a:rPr>
              <a:t>76</a:t>
            </a:r>
            <a:endParaRPr lang="en-US" sz="1600" dirty="0"/>
          </a:p>
        </p:txBody>
      </p:sp>
      <p:sp>
        <p:nvSpPr>
          <p:cNvPr id="11" name="Text 9"/>
          <p:cNvSpPr/>
          <p:nvPr/>
        </p:nvSpPr>
        <p:spPr>
          <a:xfrm>
            <a:off x="812726" y="3098229"/>
            <a:ext cx="1320800" cy="309786"/>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13261F"/>
                </a:solidFill>
                <a:latin typeface="IBM Plex Sans" pitchFamily="34" charset="0"/>
                <a:ea typeface="IBM Plex Sans" pitchFamily="34" charset="-122"/>
                <a:cs typeface="IBM Plex Sans" pitchFamily="34" charset="-120"/>
              </a:rPr>
              <a:t>Java</a:t>
            </a:r>
            <a:endParaRPr lang="en-US" sz="1600" dirty="0"/>
          </a:p>
        </p:txBody>
      </p:sp>
      <p:sp>
        <p:nvSpPr>
          <p:cNvPr id="12" name="Shape 10"/>
          <p:cNvSpPr/>
          <p:nvPr/>
        </p:nvSpPr>
        <p:spPr>
          <a:xfrm>
            <a:off x="2235026" y="3100710"/>
            <a:ext cx="4273476" cy="279301"/>
          </a:xfrm>
          <a:prstGeom prst="roundRect">
            <a:avLst>
              <a:gd name="adj" fmla="val 13641"/>
            </a:avLst>
          </a:prstGeom>
          <a:solidFill>
            <a:srgbClr val="5B7480"/>
          </a:solidFill>
          <a:ln/>
        </p:spPr>
      </p:sp>
      <p:sp>
        <p:nvSpPr>
          <p:cNvPr id="13" name="Text 11"/>
          <p:cNvSpPr/>
          <p:nvPr/>
        </p:nvSpPr>
        <p:spPr>
          <a:xfrm>
            <a:off x="6660803" y="3098229"/>
            <a:ext cx="294754" cy="309786"/>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13261F"/>
                </a:solidFill>
                <a:latin typeface="IBM Plex Sans" pitchFamily="34" charset="0"/>
                <a:ea typeface="IBM Plex Sans" pitchFamily="34" charset="-122"/>
                <a:cs typeface="IBM Plex Sans" pitchFamily="34" charset="-120"/>
              </a:rPr>
              <a:t>98</a:t>
            </a:r>
            <a:endParaRPr lang="en-US" sz="1600" dirty="0"/>
          </a:p>
        </p:txBody>
      </p:sp>
      <p:sp>
        <p:nvSpPr>
          <p:cNvPr id="14" name="Text 12"/>
          <p:cNvSpPr/>
          <p:nvPr/>
        </p:nvSpPr>
        <p:spPr>
          <a:xfrm>
            <a:off x="812726" y="3509615"/>
            <a:ext cx="1320800" cy="309786"/>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13261F"/>
                </a:solidFill>
                <a:latin typeface="IBM Plex Sans" pitchFamily="34" charset="0"/>
                <a:ea typeface="IBM Plex Sans" pitchFamily="34" charset="-122"/>
                <a:cs typeface="IBM Plex Sans" pitchFamily="34" charset="-120"/>
              </a:rPr>
              <a:t>C++</a:t>
            </a:r>
            <a:endParaRPr lang="en-US" sz="1600" dirty="0"/>
          </a:p>
        </p:txBody>
      </p:sp>
      <p:sp>
        <p:nvSpPr>
          <p:cNvPr id="15" name="Shape 13"/>
          <p:cNvSpPr/>
          <p:nvPr/>
        </p:nvSpPr>
        <p:spPr>
          <a:xfrm>
            <a:off x="2235026" y="3512096"/>
            <a:ext cx="4445000" cy="279301"/>
          </a:xfrm>
          <a:prstGeom prst="roundRect">
            <a:avLst>
              <a:gd name="adj" fmla="val 13641"/>
            </a:avLst>
          </a:prstGeom>
          <a:solidFill>
            <a:srgbClr val="5B7480"/>
          </a:solidFill>
          <a:ln/>
        </p:spPr>
      </p:sp>
      <p:sp>
        <p:nvSpPr>
          <p:cNvPr id="16" name="Text 14"/>
          <p:cNvSpPr/>
          <p:nvPr/>
        </p:nvSpPr>
        <p:spPr>
          <a:xfrm>
            <a:off x="6832327" y="3509615"/>
            <a:ext cx="439043" cy="309786"/>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13261F"/>
                </a:solidFill>
                <a:latin typeface="IBM Plex Sans" pitchFamily="34" charset="0"/>
                <a:ea typeface="IBM Plex Sans" pitchFamily="34" charset="-122"/>
                <a:cs typeface="IBM Plex Sans" pitchFamily="34" charset="-120"/>
              </a:rPr>
              <a:t>102</a:t>
            </a:r>
            <a:endParaRPr lang="en-US" sz="1600" dirty="0"/>
          </a:p>
        </p:txBody>
      </p:sp>
      <p:sp>
        <p:nvSpPr>
          <p:cNvPr id="17" name="Shape 15"/>
          <p:cNvSpPr/>
          <p:nvPr/>
        </p:nvSpPr>
        <p:spPr>
          <a:xfrm>
            <a:off x="812726" y="3951511"/>
            <a:ext cx="152301" cy="152301"/>
          </a:xfrm>
          <a:prstGeom prst="roundRect">
            <a:avLst>
              <a:gd name="adj" fmla="val 16678"/>
            </a:avLst>
          </a:prstGeom>
          <a:solidFill>
            <a:srgbClr val="2F7D4A"/>
          </a:solidFill>
          <a:ln/>
        </p:spPr>
      </p:sp>
      <p:sp>
        <p:nvSpPr>
          <p:cNvPr id="18" name="Text 16"/>
          <p:cNvSpPr/>
          <p:nvPr/>
        </p:nvSpPr>
        <p:spPr>
          <a:xfrm>
            <a:off x="1028526" y="3921001"/>
            <a:ext cx="1242467"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B4A42"/>
                </a:solidFill>
                <a:latin typeface="IBM Plex Sans" pitchFamily="34" charset="0"/>
                <a:ea typeface="IBM Plex Sans" pitchFamily="34" charset="-122"/>
                <a:cs typeface="IBM Plex Sans" pitchFamily="34" charset="-120"/>
              </a:rPr>
              <a:t>dynamic typing</a:t>
            </a:r>
            <a:endParaRPr lang="en-US" sz="1200" dirty="0"/>
          </a:p>
        </p:txBody>
      </p:sp>
      <p:sp>
        <p:nvSpPr>
          <p:cNvPr id="19" name="Shape 17"/>
          <p:cNvSpPr/>
          <p:nvPr/>
        </p:nvSpPr>
        <p:spPr>
          <a:xfrm>
            <a:off x="2270993" y="3951511"/>
            <a:ext cx="152301" cy="152301"/>
          </a:xfrm>
          <a:prstGeom prst="roundRect">
            <a:avLst>
              <a:gd name="adj" fmla="val 16678"/>
            </a:avLst>
          </a:prstGeom>
          <a:solidFill>
            <a:srgbClr val="5B7480"/>
          </a:solidFill>
          <a:ln/>
        </p:spPr>
      </p:sp>
      <p:sp>
        <p:nvSpPr>
          <p:cNvPr id="20" name="Text 18"/>
          <p:cNvSpPr/>
          <p:nvPr/>
        </p:nvSpPr>
        <p:spPr>
          <a:xfrm>
            <a:off x="2486794" y="3921001"/>
            <a:ext cx="100250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B4A42"/>
                </a:solidFill>
                <a:latin typeface="IBM Plex Sans" pitchFamily="34" charset="0"/>
                <a:ea typeface="IBM Plex Sans" pitchFamily="34" charset="-122"/>
                <a:cs typeface="IBM Plex Sans" pitchFamily="34" charset="-120"/>
              </a:rPr>
              <a:t>static typing</a:t>
            </a:r>
            <a:endParaRPr lang="en-US" sz="1200" dirty="0"/>
          </a:p>
        </p:txBody>
      </p:sp>
      <p:sp>
        <p:nvSpPr>
          <p:cNvPr id="21" name="Text 19"/>
          <p:cNvSpPr/>
          <p:nvPr/>
        </p:nvSpPr>
        <p:spPr>
          <a:xfrm>
            <a:off x="812726" y="4261321"/>
            <a:ext cx="6802375"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B4A42"/>
                </a:solidFill>
                <a:latin typeface="IBM Plex Sans" pitchFamily="34" charset="0"/>
                <a:ea typeface="IBM Plex Sans" pitchFamily="34" charset="-122"/>
                <a:cs typeface="IBM Plex Sans" pitchFamily="34" charset="-120"/>
              </a:rPr>
              <a:t>Highest function complexity per file stays close: Python 6–19 · JavaScript 5–22 · Java 7–23 · C++ 7–25.</a:t>
            </a:r>
            <a:endParaRPr lang="en-US" sz="1200" dirty="0"/>
          </a:p>
        </p:txBody>
      </p:sp>
      <p:sp>
        <p:nvSpPr>
          <p:cNvPr id="22" name="Shape 20"/>
          <p:cNvSpPr/>
          <p:nvPr/>
        </p:nvSpPr>
        <p:spPr>
          <a:xfrm>
            <a:off x="7823274" y="1935138"/>
            <a:ext cx="3556000" cy="2311053"/>
          </a:xfrm>
          <a:prstGeom prst="roundRect">
            <a:avLst>
              <a:gd name="adj" fmla="val 6594"/>
            </a:avLst>
          </a:prstGeom>
          <a:solidFill>
            <a:srgbClr val="13261F"/>
          </a:solidFill>
          <a:ln/>
        </p:spPr>
      </p:sp>
      <p:sp>
        <p:nvSpPr>
          <p:cNvPr id="23" name="Text 21"/>
          <p:cNvSpPr/>
          <p:nvPr/>
        </p:nvSpPr>
        <p:spPr>
          <a:xfrm>
            <a:off x="8077274" y="2189138"/>
            <a:ext cx="3139440"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E3A33B"/>
                </a:solidFill>
                <a:latin typeface="IBM Plex Sans" pitchFamily="34" charset="0"/>
                <a:ea typeface="IBM Plex Sans" pitchFamily="34" charset="-122"/>
                <a:cs typeface="IBM Plex Sans" pitchFamily="34" charset="-120"/>
              </a:rPr>
              <a:t>BIGGEST GAP: PROXY</a:t>
            </a:r>
            <a:endParaRPr lang="en-US" sz="1200" dirty="0"/>
          </a:p>
        </p:txBody>
      </p:sp>
      <p:sp>
        <p:nvSpPr>
          <p:cNvPr id="24" name="Text 22"/>
          <p:cNvSpPr/>
          <p:nvPr/>
        </p:nvSpPr>
        <p:spPr>
          <a:xfrm>
            <a:off x="8077274" y="2529458"/>
            <a:ext cx="1498650" cy="482550"/>
          </a:xfrm>
          <a:prstGeom prst="rect">
            <a:avLst/>
          </a:prstGeom>
          <a:noFill/>
          <a:ln/>
        </p:spPr>
        <p:txBody>
          <a:bodyPr wrap="square" lIns="0" tIns="0" rIns="0" bIns="0" rtlCol="0" anchor="t">
            <a:normAutofit/>
          </a:bodyPr>
          <a:lstStyle/>
          <a:p>
            <a:pPr marL="0" indent="0" algn="l">
              <a:lnSpc>
                <a:spcPts val="3600"/>
              </a:lnSpc>
              <a:buNone/>
            </a:pPr>
            <a:r>
              <a:rPr lang="en-US" sz="3600" b="1" dirty="0">
                <a:solidFill>
                  <a:srgbClr val="A8D672"/>
                </a:solidFill>
                <a:latin typeface="Space Grotesk" pitchFamily="34" charset="0"/>
                <a:ea typeface="Space Grotesk" pitchFamily="34" charset="-122"/>
                <a:cs typeface="Space Grotesk" pitchFamily="34" charset="-120"/>
              </a:rPr>
              <a:t>60</a:t>
            </a:r>
            <a:endParaRPr lang="en-US" sz="3600" dirty="0"/>
          </a:p>
        </p:txBody>
      </p:sp>
      <p:sp>
        <p:nvSpPr>
          <p:cNvPr id="25" name="Text 23"/>
          <p:cNvSpPr/>
          <p:nvPr/>
        </p:nvSpPr>
        <p:spPr>
          <a:xfrm>
            <a:off x="8077274" y="3011909"/>
            <a:ext cx="14986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9D8CE"/>
                </a:solidFill>
                <a:latin typeface="IBM Plex Sans" pitchFamily="34" charset="0"/>
                <a:ea typeface="IBM Plex Sans" pitchFamily="34" charset="-122"/>
                <a:cs typeface="IBM Plex Sans" pitchFamily="34" charset="-120"/>
              </a:rPr>
              <a:t>Python</a:t>
            </a:r>
            <a:endParaRPr lang="en-US" sz="1200" dirty="0"/>
          </a:p>
        </p:txBody>
      </p:sp>
      <p:sp>
        <p:nvSpPr>
          <p:cNvPr id="26" name="Text 24"/>
          <p:cNvSpPr/>
          <p:nvPr/>
        </p:nvSpPr>
        <p:spPr>
          <a:xfrm>
            <a:off x="9677425" y="2529458"/>
            <a:ext cx="1498650" cy="482550"/>
          </a:xfrm>
          <a:prstGeom prst="rect">
            <a:avLst/>
          </a:prstGeom>
          <a:noFill/>
          <a:ln/>
        </p:spPr>
        <p:txBody>
          <a:bodyPr wrap="square" lIns="0" tIns="0" rIns="0" bIns="0" rtlCol="0" anchor="t">
            <a:normAutofit/>
          </a:bodyPr>
          <a:lstStyle/>
          <a:p>
            <a:pPr marL="0" indent="0" algn="l">
              <a:lnSpc>
                <a:spcPts val="3600"/>
              </a:lnSpc>
              <a:buNone/>
            </a:pPr>
            <a:r>
              <a:rPr lang="en-US" sz="3600" b="1" dirty="0">
                <a:solidFill>
                  <a:srgbClr val="F5F3EA"/>
                </a:solidFill>
                <a:latin typeface="Space Grotesk" pitchFamily="34" charset="0"/>
                <a:ea typeface="Space Grotesk" pitchFamily="34" charset="-122"/>
                <a:cs typeface="Space Grotesk" pitchFamily="34" charset="-120"/>
              </a:rPr>
              <a:t>111</a:t>
            </a:r>
            <a:endParaRPr lang="en-US" sz="3600" dirty="0"/>
          </a:p>
        </p:txBody>
      </p:sp>
      <p:sp>
        <p:nvSpPr>
          <p:cNvPr id="27" name="Text 25"/>
          <p:cNvSpPr/>
          <p:nvPr/>
        </p:nvSpPr>
        <p:spPr>
          <a:xfrm>
            <a:off x="9677425" y="3011909"/>
            <a:ext cx="14986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9D8CE"/>
                </a:solidFill>
                <a:latin typeface="IBM Plex Sans" pitchFamily="34" charset="0"/>
                <a:ea typeface="IBM Plex Sans" pitchFamily="34" charset="-122"/>
                <a:cs typeface="IBM Plex Sans" pitchFamily="34" charset="-120"/>
              </a:rPr>
              <a:t>Java</a:t>
            </a:r>
            <a:endParaRPr lang="en-US" sz="1200" dirty="0"/>
          </a:p>
        </p:txBody>
      </p:sp>
      <p:sp>
        <p:nvSpPr>
          <p:cNvPr id="28" name="Text 26"/>
          <p:cNvSpPr/>
          <p:nvPr/>
        </p:nvSpPr>
        <p:spPr>
          <a:xfrm>
            <a:off x="8077274" y="3352229"/>
            <a:ext cx="3139440" cy="66536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F5F3EA"/>
                </a:solidFill>
                <a:latin typeface="IBM Plex Sans" pitchFamily="34" charset="0"/>
                <a:ea typeface="IBM Plex Sans" pitchFamily="34" charset="-122"/>
                <a:cs typeface="IBM Plex Sans" pitchFamily="34" charset="-120"/>
              </a:rPr>
              <a:t>__getattr__</a:t>
            </a:r>
            <a:r>
              <a:rPr lang="en-US" sz="1200" dirty="0">
                <a:solidFill>
                  <a:srgbClr val="C9D8CE"/>
                </a:solidFill>
                <a:latin typeface="IBM Plex Sans" pitchFamily="34" charset="0"/>
                <a:ea typeface="IBM Plex Sans" pitchFamily="34" charset="-122"/>
                <a:cs typeface="IBM Plex Sans" pitchFamily="34" charset="-120"/>
              </a:rPr>
              <a:t> and the JavaScript </a:t>
            </a:r>
            <a:r>
              <a:rPr lang="en-US" sz="1200" dirty="0">
                <a:solidFill>
                  <a:srgbClr val="F5F3EA"/>
                </a:solidFill>
                <a:latin typeface="IBM Plex Sans" pitchFamily="34" charset="0"/>
                <a:ea typeface="IBM Plex Sans" pitchFamily="34" charset="-122"/>
                <a:cs typeface="IBM Plex Sans" pitchFamily="34" charset="-120"/>
              </a:rPr>
              <a:t>Proxy</a:t>
            </a:r>
            <a:r>
              <a:rPr lang="en-US" sz="1200" dirty="0">
                <a:solidFill>
                  <a:srgbClr val="C9D8CE"/>
                </a:solidFill>
                <a:latin typeface="IBM Plex Sans" pitchFamily="34" charset="0"/>
                <a:ea typeface="IBM Plex Sans" pitchFamily="34" charset="-122"/>
                <a:cs typeface="IBM Plex Sans" pitchFamily="34" charset="-120"/>
              </a:rPr>
              <a:t> object forward any call; Java and C++ must declare and repeat every method of the interface.</a:t>
            </a:r>
            <a:endParaRPr lang="en-US" sz="1200" dirty="0"/>
          </a:p>
        </p:txBody>
      </p:sp>
      <p:sp>
        <p:nvSpPr>
          <p:cNvPr id="29" name="Text 27"/>
          <p:cNvSpPr/>
          <p:nvPr/>
        </p:nvSpPr>
        <p:spPr>
          <a:xfrm>
            <a:off x="812726" y="6238379"/>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76F"/>
                </a:solidFill>
                <a:latin typeface="IBM Plex Sans" pitchFamily="34" charset="0"/>
                <a:ea typeface="IBM Plex Sans" pitchFamily="34" charset="-122"/>
                <a:cs typeface="IBM Plex Sans" pitchFamily="34" charset="-120"/>
              </a:rPr>
              <a:t>B10 · Design Patterns in Mycodo</a:t>
            </a:r>
            <a:endParaRPr lang="en-US" sz="1200" dirty="0"/>
          </a:p>
        </p:txBody>
      </p:sp>
      <p:sp>
        <p:nvSpPr>
          <p:cNvPr id="30" name="Text 28"/>
          <p:cNvSpPr/>
          <p:nvPr/>
        </p:nvSpPr>
        <p:spPr>
          <a:xfrm>
            <a:off x="10058474" y="6238379"/>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776F"/>
                </a:solidFill>
                <a:latin typeface="IBM Plex Sans" pitchFamily="34" charset="0"/>
                <a:ea typeface="IBM Plex Sans" pitchFamily="34" charset="-122"/>
                <a:cs typeface="IBM Plex Sans" pitchFamily="34" charset="-120"/>
              </a:rPr>
              <a:t>14</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6">
    <p:bg>
      <p:bgPr>
        <a:solidFill>
          <a:srgbClr val="F5F3EA"/>
        </a:solidFill>
        <a:effectLst/>
      </p:bgPr>
    </p:bg>
    <p:spTree>
      <p:nvGrpSpPr>
        <p:cNvPr id="1" name=""/>
        <p:cNvGrpSpPr/>
        <p:nvPr/>
      </p:nvGrpSpPr>
      <p:grpSpPr>
        <a:xfrm>
          <a:off x="0" y="0"/>
          <a:ext cx="0" cy="0"/>
          <a:chOff x="0" y="0"/>
          <a:chExt cx="0" cy="0"/>
        </a:xfrm>
      </p:grpSpPr>
      <p:sp>
        <p:nvSpPr>
          <p:cNvPr id="2" name="Text 0"/>
          <p:cNvSpPr/>
          <p:nvPr/>
        </p:nvSpPr>
        <p:spPr>
          <a:xfrm>
            <a:off x="812726" y="812726"/>
            <a:ext cx="10883545" cy="238720"/>
          </a:xfrm>
          <a:prstGeom prst="rect">
            <a:avLst/>
          </a:prstGeom>
          <a:noFill/>
          <a:ln/>
        </p:spPr>
        <p:txBody>
          <a:bodyPr wrap="square" lIns="0" tIns="0" rIns="0" bIns="0" rtlCol="0" anchor="t">
            <a:normAutofit/>
          </a:bodyPr>
          <a:lstStyle/>
          <a:p>
            <a:pPr marL="0" indent="0" algn="l">
              <a:lnSpc>
                <a:spcPts val="1680"/>
              </a:lnSpc>
              <a:buNone/>
            </a:pPr>
            <a:r>
              <a:rPr lang="en-US" sz="1200" b="1" kern="0" spc="200" dirty="0">
                <a:solidFill>
                  <a:srgbClr val="2F7D4A"/>
                </a:solidFill>
                <a:latin typeface="IBM Plex Sans" pitchFamily="34" charset="0"/>
                <a:ea typeface="IBM Plex Sans" pitchFamily="34" charset="-122"/>
                <a:cs typeface="IBM Plex Sans" pitchFamily="34" charset="-120"/>
              </a:rPr>
              <a:t>LLM USE AND VERIFICATION</a:t>
            </a:r>
            <a:endParaRPr lang="en-US" sz="1200" dirty="0"/>
          </a:p>
        </p:txBody>
      </p:sp>
      <p:sp>
        <p:nvSpPr>
          <p:cNvPr id="3" name="Text 1"/>
          <p:cNvSpPr>
            <a:spLocks noGrp="1"/>
          </p:cNvSpPr>
          <p:nvPr>
            <p:ph type="title"/>
          </p:nvPr>
        </p:nvSpPr>
        <p:spPr>
          <a:xfrm>
            <a:off x="812726" y="1127621"/>
            <a:ext cx="10883545" cy="528191"/>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3261F"/>
                </a:solidFill>
                <a:latin typeface="Space Grotesk" pitchFamily="34" charset="0"/>
                <a:ea typeface="Space Grotesk" pitchFamily="34" charset="-122"/>
                <a:cs typeface="Space Grotesk" pitchFamily="34" charset="-120"/>
              </a:rPr>
              <a:t>LLMs drafted, we verified</a:t>
            </a:r>
            <a:endParaRPr lang="en-US" sz="3600" dirty="0"/>
          </a:p>
        </p:txBody>
      </p:sp>
      <p:pic>
        <p:nvPicPr>
          <p:cNvPr id="4" name="Image 0" descr="Users"/>
          <p:cNvPicPr>
            <a:picLocks noChangeAspect="1"/>
          </p:cNvPicPr>
          <p:nvPr/>
        </p:nvPicPr>
        <p:blipFill>
          <a:blip r:embed="rId3"/>
          <a:srcRect l="-391" r="-391"/>
          <a:stretch/>
        </p:blipFill>
        <p:spPr>
          <a:xfrm>
            <a:off x="812726" y="1935138"/>
            <a:ext cx="191988" cy="254000"/>
          </a:xfrm>
          <a:prstGeom prst="rect">
            <a:avLst/>
          </a:prstGeom>
        </p:spPr>
      </p:pic>
      <p:sp>
        <p:nvSpPr>
          <p:cNvPr id="5" name="Text 2"/>
          <p:cNvSpPr/>
          <p:nvPr/>
        </p:nvSpPr>
        <p:spPr>
          <a:xfrm>
            <a:off x="1106289" y="1935138"/>
            <a:ext cx="3883550" cy="573832"/>
          </a:xfrm>
          <a:prstGeom prst="rect">
            <a:avLst/>
          </a:prstGeom>
          <a:noFill/>
          <a:ln/>
        </p:spPr>
        <p:txBody>
          <a:bodyPr wrap="square" lIns="0" tIns="0" rIns="0" bIns="0" rtlCol="0" anchor="t">
            <a:normAutofit/>
          </a:bodyPr>
          <a:lstStyle/>
          <a:p>
            <a:pPr marL="0" indent="0" algn="l">
              <a:lnSpc>
                <a:spcPts val="2160"/>
              </a:lnSpc>
              <a:buNone/>
            </a:pPr>
            <a:r>
              <a:rPr lang="en-US" sz="1600" dirty="0">
                <a:solidFill>
                  <a:srgbClr val="13261F"/>
                </a:solidFill>
                <a:latin typeface="IBM Plex Sans" pitchFamily="34" charset="0"/>
                <a:ea typeface="IBM Plex Sans" pitchFamily="34" charset="-122"/>
                <a:cs typeface="IBM Plex Sans" pitchFamily="34" charset="-120"/>
              </a:rPr>
              <a:t>Each member ran all three parts with their own prompt</a:t>
            </a:r>
            <a:endParaRPr lang="en-US" sz="1600" dirty="0"/>
          </a:p>
        </p:txBody>
      </p:sp>
      <p:pic>
        <p:nvPicPr>
          <p:cNvPr id="6" name="Image 1" descr="Book"/>
          <p:cNvPicPr>
            <a:picLocks noChangeAspect="1"/>
          </p:cNvPicPr>
          <p:nvPr/>
        </p:nvPicPr>
        <p:blipFill>
          <a:blip r:embed="rId4"/>
          <a:srcRect l="-276" r="-276"/>
          <a:stretch/>
        </p:blipFill>
        <p:spPr>
          <a:xfrm>
            <a:off x="812726" y="2661295"/>
            <a:ext cx="185167" cy="254000"/>
          </a:xfrm>
          <a:prstGeom prst="rect">
            <a:avLst/>
          </a:prstGeom>
        </p:spPr>
      </p:pic>
      <p:sp>
        <p:nvSpPr>
          <p:cNvPr id="7" name="Text 3"/>
          <p:cNvSpPr/>
          <p:nvPr/>
        </p:nvSpPr>
        <p:spPr>
          <a:xfrm>
            <a:off x="1099468" y="2661295"/>
            <a:ext cx="3890576" cy="573832"/>
          </a:xfrm>
          <a:prstGeom prst="rect">
            <a:avLst/>
          </a:prstGeom>
          <a:noFill/>
          <a:ln/>
        </p:spPr>
        <p:txBody>
          <a:bodyPr wrap="square" lIns="0" tIns="0" rIns="0" bIns="0" rtlCol="0" anchor="t">
            <a:normAutofit/>
          </a:bodyPr>
          <a:lstStyle/>
          <a:p>
            <a:pPr marL="0" indent="0" algn="l">
              <a:lnSpc>
                <a:spcPts val="2160"/>
              </a:lnSpc>
              <a:buNone/>
            </a:pPr>
            <a:r>
              <a:rPr lang="en-US" sz="1600" dirty="0">
                <a:solidFill>
                  <a:srgbClr val="13261F"/>
                </a:solidFill>
                <a:latin typeface="IBM Plex Sans" pitchFamily="34" charset="0"/>
                <a:ea typeface="IBM Plex Sans" pitchFamily="34" charset="-122"/>
                <a:cs typeface="IBM Plex Sans" pitchFamily="34" charset="-120"/>
              </a:rPr>
              <a:t>Prompts, inputs and raw outputs kept in every llm/ folder</a:t>
            </a:r>
            <a:endParaRPr lang="en-US" sz="1600" dirty="0"/>
          </a:p>
        </p:txBody>
      </p:sp>
      <p:pic>
        <p:nvPicPr>
          <p:cNvPr id="8" name="Image 2" descr="CheckCircle"/>
          <p:cNvPicPr>
            <a:picLocks noChangeAspect="1"/>
          </p:cNvPicPr>
          <p:nvPr/>
        </p:nvPicPr>
        <p:blipFill>
          <a:blip r:embed="rId5"/>
          <a:srcRect l="-894" r="-894"/>
          <a:stretch/>
        </p:blipFill>
        <p:spPr>
          <a:xfrm>
            <a:off x="812726" y="3387452"/>
            <a:ext cx="168052" cy="254000"/>
          </a:xfrm>
          <a:prstGeom prst="rect">
            <a:avLst/>
          </a:prstGeom>
        </p:spPr>
      </p:pic>
      <p:sp>
        <p:nvSpPr>
          <p:cNvPr id="9" name="Text 4"/>
          <p:cNvSpPr/>
          <p:nvPr/>
        </p:nvSpPr>
        <p:spPr>
          <a:xfrm>
            <a:off x="1082353" y="3387452"/>
            <a:ext cx="3908204" cy="573832"/>
          </a:xfrm>
          <a:prstGeom prst="rect">
            <a:avLst/>
          </a:prstGeom>
          <a:noFill/>
          <a:ln/>
        </p:spPr>
        <p:txBody>
          <a:bodyPr wrap="square" lIns="0" tIns="0" rIns="0" bIns="0" rtlCol="0" anchor="t">
            <a:normAutofit/>
          </a:bodyPr>
          <a:lstStyle/>
          <a:p>
            <a:pPr marL="0" indent="0" algn="l">
              <a:lnSpc>
                <a:spcPts val="2160"/>
              </a:lnSpc>
              <a:buNone/>
            </a:pPr>
            <a:r>
              <a:rPr lang="en-US" sz="1600" dirty="0">
                <a:solidFill>
                  <a:srgbClr val="13261F"/>
                </a:solidFill>
                <a:latin typeface="IBM Plex Sans" pitchFamily="34" charset="0"/>
                <a:ea typeface="IBM Plex Sans" pitchFamily="34" charset="-122"/>
                <a:cs typeface="IBM Plex Sans" pitchFamily="34" charset="-120"/>
              </a:rPr>
              <a:t>Every claim graded in llm.csv: correct, partial or cannot confirm</a:t>
            </a:r>
            <a:endParaRPr lang="en-US" sz="1600" dirty="0"/>
          </a:p>
        </p:txBody>
      </p:sp>
      <p:sp>
        <p:nvSpPr>
          <p:cNvPr id="10" name="Shape 5"/>
          <p:cNvSpPr/>
          <p:nvPr/>
        </p:nvSpPr>
        <p:spPr>
          <a:xfrm>
            <a:off x="5283026" y="1935138"/>
            <a:ext cx="2971974" cy="1274837"/>
          </a:xfrm>
          <a:prstGeom prst="roundRect">
            <a:avLst>
              <a:gd name="adj" fmla="val 9962"/>
            </a:avLst>
          </a:prstGeom>
          <a:solidFill>
            <a:srgbClr val="13261F"/>
          </a:solidFill>
          <a:ln/>
        </p:spPr>
      </p:sp>
      <p:sp>
        <p:nvSpPr>
          <p:cNvPr id="11" name="Text 6"/>
          <p:cNvSpPr/>
          <p:nvPr/>
        </p:nvSpPr>
        <p:spPr>
          <a:xfrm>
            <a:off x="5486177" y="2138288"/>
            <a:ext cx="2642643" cy="41657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A8D672"/>
                </a:solidFill>
                <a:latin typeface="Space Grotesk" pitchFamily="34" charset="0"/>
                <a:ea typeface="Space Grotesk" pitchFamily="34" charset="-122"/>
                <a:cs typeface="Space Grotesk" pitchFamily="34" charset="-120"/>
              </a:rPr>
              <a:t>112/112</a:t>
            </a:r>
            <a:endParaRPr lang="en-US" sz="2200" dirty="0"/>
          </a:p>
        </p:txBody>
      </p:sp>
      <p:sp>
        <p:nvSpPr>
          <p:cNvPr id="12" name="Text 7"/>
          <p:cNvSpPr/>
          <p:nvPr/>
        </p:nvSpPr>
        <p:spPr>
          <a:xfrm>
            <a:off x="5486177" y="2580184"/>
            <a:ext cx="2642643"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9D8CE"/>
                </a:solidFill>
                <a:latin typeface="IBM Plex Sans" pitchFamily="34" charset="0"/>
                <a:ea typeface="IBM Plex Sans" pitchFamily="34" charset="-122"/>
                <a:cs typeface="IBM Plex Sans" pitchFamily="34" charset="-120"/>
              </a:rPr>
              <a:t>Part 1 line ranges checked by script</a:t>
            </a:r>
            <a:endParaRPr lang="en-US" sz="1200" dirty="0"/>
          </a:p>
        </p:txBody>
      </p:sp>
      <p:sp>
        <p:nvSpPr>
          <p:cNvPr id="13" name="Shape 8"/>
          <p:cNvSpPr/>
          <p:nvPr/>
        </p:nvSpPr>
        <p:spPr>
          <a:xfrm>
            <a:off x="8407301" y="1935138"/>
            <a:ext cx="2971974" cy="1274837"/>
          </a:xfrm>
          <a:prstGeom prst="roundRect">
            <a:avLst>
              <a:gd name="adj" fmla="val 9962"/>
            </a:avLst>
          </a:prstGeom>
          <a:solidFill>
            <a:srgbClr val="13261F"/>
          </a:solidFill>
          <a:ln/>
        </p:spPr>
      </p:sp>
      <p:sp>
        <p:nvSpPr>
          <p:cNvPr id="14" name="Text 9"/>
          <p:cNvSpPr/>
          <p:nvPr/>
        </p:nvSpPr>
        <p:spPr>
          <a:xfrm>
            <a:off x="8610451" y="2138288"/>
            <a:ext cx="2642643" cy="41657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A8D672"/>
                </a:solidFill>
                <a:latin typeface="Space Grotesk" pitchFamily="34" charset="0"/>
                <a:ea typeface="Space Grotesk" pitchFamily="34" charset="-122"/>
                <a:cs typeface="Space Grotesk" pitchFamily="34" charset="-120"/>
              </a:rPr>
              <a:t>115 tests</a:t>
            </a:r>
            <a:endParaRPr lang="en-US" sz="2200" dirty="0"/>
          </a:p>
        </p:txBody>
      </p:sp>
      <p:sp>
        <p:nvSpPr>
          <p:cNvPr id="15" name="Text 10"/>
          <p:cNvSpPr/>
          <p:nvPr/>
        </p:nvSpPr>
        <p:spPr>
          <a:xfrm>
            <a:off x="8610451" y="2580184"/>
            <a:ext cx="2642643"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9D8CE"/>
                </a:solidFill>
                <a:latin typeface="IBM Plex Sans" pitchFamily="34" charset="0"/>
                <a:ea typeface="IBM Plex Sans" pitchFamily="34" charset="-122"/>
                <a:cs typeface="IBM Plex Sans" pitchFamily="34" charset="-120"/>
              </a:rPr>
              <a:t>83 Part 2 + 32 Part 3, re-run after every change</a:t>
            </a:r>
            <a:endParaRPr lang="en-US" sz="1200" dirty="0"/>
          </a:p>
        </p:txBody>
      </p:sp>
      <p:sp>
        <p:nvSpPr>
          <p:cNvPr id="16" name="Shape 11"/>
          <p:cNvSpPr/>
          <p:nvPr/>
        </p:nvSpPr>
        <p:spPr>
          <a:xfrm>
            <a:off x="5283026" y="3362275"/>
            <a:ext cx="2971974" cy="1274837"/>
          </a:xfrm>
          <a:prstGeom prst="roundRect">
            <a:avLst>
              <a:gd name="adj" fmla="val 9962"/>
            </a:avLst>
          </a:prstGeom>
          <a:solidFill>
            <a:srgbClr val="13261F"/>
          </a:solidFill>
          <a:ln/>
        </p:spPr>
      </p:sp>
      <p:sp>
        <p:nvSpPr>
          <p:cNvPr id="17" name="Text 12"/>
          <p:cNvSpPr/>
          <p:nvPr/>
        </p:nvSpPr>
        <p:spPr>
          <a:xfrm>
            <a:off x="5486177" y="3565426"/>
            <a:ext cx="2642643" cy="41657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A8D672"/>
                </a:solidFill>
                <a:latin typeface="Space Grotesk" pitchFamily="34" charset="0"/>
                <a:ea typeface="Space Grotesk" pitchFamily="34" charset="-122"/>
                <a:cs typeface="Space Grotesk" pitchFamily="34" charset="-120"/>
              </a:rPr>
              <a:t>Rebuilt</a:t>
            </a:r>
            <a:endParaRPr lang="en-US" sz="2200" dirty="0"/>
          </a:p>
        </p:txBody>
      </p:sp>
      <p:sp>
        <p:nvSpPr>
          <p:cNvPr id="18" name="Text 13"/>
          <p:cNvSpPr/>
          <p:nvPr/>
        </p:nvSpPr>
        <p:spPr>
          <a:xfrm>
            <a:off x="5486177" y="4007321"/>
            <a:ext cx="2642643"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9D8CE"/>
                </a:solidFill>
                <a:latin typeface="IBM Plex Sans" pitchFamily="34" charset="0"/>
                <a:ea typeface="IBM Plex Sans" pitchFamily="34" charset="-122"/>
                <a:cs typeface="IBM Plex Sans" pitchFamily="34" charset="-120"/>
              </a:rPr>
              <a:t>result CSVs regenerated from raw tool output</a:t>
            </a:r>
            <a:endParaRPr lang="en-US" sz="1200" dirty="0"/>
          </a:p>
        </p:txBody>
      </p:sp>
      <p:sp>
        <p:nvSpPr>
          <p:cNvPr id="19" name="Shape 14"/>
          <p:cNvSpPr/>
          <p:nvPr/>
        </p:nvSpPr>
        <p:spPr>
          <a:xfrm>
            <a:off x="8407301" y="3362275"/>
            <a:ext cx="2971974" cy="1274837"/>
          </a:xfrm>
          <a:prstGeom prst="roundRect">
            <a:avLst>
              <a:gd name="adj" fmla="val 9962"/>
            </a:avLst>
          </a:prstGeom>
          <a:solidFill>
            <a:srgbClr val="13261F"/>
          </a:solidFill>
          <a:ln/>
        </p:spPr>
      </p:sp>
      <p:sp>
        <p:nvSpPr>
          <p:cNvPr id="20" name="Text 15"/>
          <p:cNvSpPr/>
          <p:nvPr/>
        </p:nvSpPr>
        <p:spPr>
          <a:xfrm>
            <a:off x="8610451" y="3565426"/>
            <a:ext cx="2642643" cy="41657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E3A33B"/>
                </a:solidFill>
                <a:latin typeface="Space Grotesk" pitchFamily="34" charset="0"/>
                <a:ea typeface="Space Grotesk" pitchFamily="34" charset="-122"/>
                <a:cs typeface="Space Grotesk" pitchFamily="34" charset="-120"/>
              </a:rPr>
              <a:t>Fixed</a:t>
            </a:r>
            <a:endParaRPr lang="en-US" sz="2200" dirty="0"/>
          </a:p>
        </p:txBody>
      </p:sp>
      <p:sp>
        <p:nvSpPr>
          <p:cNvPr id="21" name="Text 16"/>
          <p:cNvSpPr/>
          <p:nvPr/>
        </p:nvSpPr>
        <p:spPr>
          <a:xfrm>
            <a:off x="8610451" y="4007321"/>
            <a:ext cx="2642643"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9D8CE"/>
                </a:solidFill>
                <a:latin typeface="IBM Plex Sans" pitchFamily="34" charset="0"/>
                <a:ea typeface="IBM Plex Sans" pitchFamily="34" charset="-122"/>
                <a:cs typeface="IBM Plex Sans" pitchFamily="34" charset="-120"/>
              </a:rPr>
              <a:t>mislabelled totals, a lizard pass that skipped .hpp files</a:t>
            </a:r>
            <a:endParaRPr lang="en-US" sz="1200" dirty="0"/>
          </a:p>
        </p:txBody>
      </p:sp>
      <p:sp>
        <p:nvSpPr>
          <p:cNvPr id="22" name="Text 17"/>
          <p:cNvSpPr/>
          <p:nvPr/>
        </p:nvSpPr>
        <p:spPr>
          <a:xfrm>
            <a:off x="812726" y="6238379"/>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76F"/>
                </a:solidFill>
                <a:latin typeface="IBM Plex Sans" pitchFamily="34" charset="0"/>
                <a:ea typeface="IBM Plex Sans" pitchFamily="34" charset="-122"/>
                <a:cs typeface="IBM Plex Sans" pitchFamily="34" charset="-120"/>
              </a:rPr>
              <a:t>B10 · Design Patterns in Mycodo</a:t>
            </a:r>
            <a:endParaRPr lang="en-US" sz="1200" dirty="0"/>
          </a:p>
        </p:txBody>
      </p:sp>
      <p:sp>
        <p:nvSpPr>
          <p:cNvPr id="23" name="Text 18"/>
          <p:cNvSpPr/>
          <p:nvPr/>
        </p:nvSpPr>
        <p:spPr>
          <a:xfrm>
            <a:off x="10058474" y="6238379"/>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776F"/>
                </a:solidFill>
                <a:latin typeface="IBM Plex Sans" pitchFamily="34" charset="0"/>
                <a:ea typeface="IBM Plex Sans" pitchFamily="34" charset="-122"/>
                <a:cs typeface="IBM Plex Sans" pitchFamily="34" charset="-120"/>
              </a:rPr>
              <a:t>16</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8">
    <p:bg>
      <p:bgPr>
        <a:solidFill>
          <a:srgbClr val="13261F"/>
        </a:solidFill>
        <a:effectLst/>
      </p:bgPr>
    </p:bg>
    <p:spTree>
      <p:nvGrpSpPr>
        <p:cNvPr id="1" name=""/>
        <p:cNvGrpSpPr/>
        <p:nvPr/>
      </p:nvGrpSpPr>
      <p:grpSpPr>
        <a:xfrm>
          <a:off x="0" y="0"/>
          <a:ext cx="0" cy="0"/>
          <a:chOff x="0" y="0"/>
          <a:chExt cx="0" cy="0"/>
        </a:xfrm>
      </p:grpSpPr>
      <p:pic>
        <p:nvPicPr>
          <p:cNvPr id="2" name="Image 0"/>
          <p:cNvPicPr>
            <a:picLocks noChangeAspect="1"/>
          </p:cNvPicPr>
          <p:nvPr/>
        </p:nvPicPr>
        <p:blipFill>
          <a:blip r:embed="rId3"/>
          <a:srcRect/>
          <a:stretch/>
        </p:blipFill>
        <p:spPr>
          <a:xfrm>
            <a:off x="7315150" y="1270000"/>
            <a:ext cx="4064000" cy="4064000"/>
          </a:xfrm>
          <a:prstGeom prst="rect">
            <a:avLst/>
          </a:prstGeom>
        </p:spPr>
      </p:pic>
      <p:sp>
        <p:nvSpPr>
          <p:cNvPr id="3" name="Text 0"/>
          <p:cNvSpPr/>
          <p:nvPr/>
        </p:nvSpPr>
        <p:spPr>
          <a:xfrm>
            <a:off x="812726" y="812726"/>
            <a:ext cx="10883545" cy="238720"/>
          </a:xfrm>
          <a:prstGeom prst="rect">
            <a:avLst/>
          </a:prstGeom>
          <a:noFill/>
          <a:ln/>
        </p:spPr>
        <p:txBody>
          <a:bodyPr wrap="square" lIns="0" tIns="0" rIns="0" bIns="0" rtlCol="0" anchor="t">
            <a:normAutofit/>
          </a:bodyPr>
          <a:lstStyle/>
          <a:p>
            <a:pPr marL="0" indent="0" algn="l">
              <a:lnSpc>
                <a:spcPts val="1680"/>
              </a:lnSpc>
              <a:buNone/>
            </a:pPr>
            <a:r>
              <a:rPr lang="en-US" sz="1200" b="1" kern="0" spc="200" dirty="0">
                <a:solidFill>
                  <a:srgbClr val="A8D672"/>
                </a:solidFill>
                <a:latin typeface="IBM Plex Sans" pitchFamily="34" charset="0"/>
                <a:ea typeface="IBM Plex Sans" pitchFamily="34" charset="-122"/>
                <a:cs typeface="IBM Plex Sans" pitchFamily="34" charset="-120"/>
              </a:rPr>
              <a:t>TEAM B10 · DESIGN PATTERNS IN MYCODO</a:t>
            </a:r>
            <a:endParaRPr lang="en-US" sz="1200" dirty="0"/>
          </a:p>
        </p:txBody>
      </p:sp>
      <p:sp>
        <p:nvSpPr>
          <p:cNvPr id="4" name="Text 1"/>
          <p:cNvSpPr>
            <a:spLocks noGrp="1"/>
          </p:cNvSpPr>
          <p:nvPr>
            <p:ph type="title"/>
          </p:nvPr>
        </p:nvSpPr>
        <p:spPr>
          <a:xfrm>
            <a:off x="812726" y="2467818"/>
            <a:ext cx="6540500" cy="825475"/>
          </a:xfrm>
          <a:prstGeom prst="rect">
            <a:avLst/>
          </a:prstGeom>
          <a:noFill/>
          <a:ln/>
        </p:spPr>
        <p:txBody>
          <a:bodyPr wrap="square" lIns="0" tIns="0" rIns="0" bIns="0" rtlCol="0" anchor="t">
            <a:normAutofit/>
          </a:bodyPr>
          <a:lstStyle/>
          <a:p>
            <a:pPr marL="0" indent="0" algn="l">
              <a:lnSpc>
                <a:spcPts val="6300"/>
              </a:lnSpc>
              <a:buNone/>
            </a:pPr>
            <a:r>
              <a:rPr lang="en-US" sz="6000" b="1" i="0" dirty="0">
                <a:solidFill>
                  <a:srgbClr val="F5F3EA"/>
                </a:solidFill>
                <a:latin typeface="Space Grotesk" pitchFamily="34" charset="0"/>
                <a:ea typeface="Space Grotesk" pitchFamily="34" charset="-122"/>
                <a:cs typeface="Space Grotesk" pitchFamily="34" charset="-120"/>
              </a:rPr>
              <a:t>Thank you</a:t>
            </a:r>
            <a:endParaRPr lang="en-US" sz="6000" dirty="0"/>
          </a:p>
        </p:txBody>
      </p:sp>
      <p:sp>
        <p:nvSpPr>
          <p:cNvPr id="5" name="Text 2"/>
          <p:cNvSpPr/>
          <p:nvPr/>
        </p:nvSpPr>
        <p:spPr>
          <a:xfrm>
            <a:off x="812726" y="3420194"/>
            <a:ext cx="6540500" cy="416570"/>
          </a:xfrm>
          <a:prstGeom prst="rect">
            <a:avLst/>
          </a:prstGeom>
          <a:noFill/>
          <a:ln/>
        </p:spPr>
        <p:txBody>
          <a:bodyPr wrap="square" lIns="0" tIns="0" rIns="0" bIns="0" rtlCol="0" anchor="t">
            <a:normAutofit/>
          </a:bodyPr>
          <a:lstStyle/>
          <a:p>
            <a:pPr marL="0" indent="0" algn="l">
              <a:lnSpc>
                <a:spcPts val="3080"/>
              </a:lnSpc>
              <a:buNone/>
            </a:pPr>
            <a:r>
              <a:rPr lang="en-US" sz="2200" dirty="0">
                <a:solidFill>
                  <a:srgbClr val="C9D8CE"/>
                </a:solidFill>
                <a:latin typeface="IBM Plex Sans" pitchFamily="34" charset="0"/>
                <a:ea typeface="IBM Plex Sans" pitchFamily="34" charset="-122"/>
                <a:cs typeface="IBM Plex Sans" pitchFamily="34" charset="-120"/>
              </a:rPr>
              <a:t>Questions?</a:t>
            </a:r>
            <a:endParaRPr lang="en-US" sz="2200" dirty="0"/>
          </a:p>
        </p:txBody>
      </p:sp>
      <p:sp>
        <p:nvSpPr>
          <p:cNvPr id="6" name="Text 3"/>
          <p:cNvSpPr/>
          <p:nvPr/>
        </p:nvSpPr>
        <p:spPr>
          <a:xfrm>
            <a:off x="812726" y="5253013"/>
            <a:ext cx="10883545"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9FB5A8"/>
                </a:solidFill>
                <a:latin typeface="IBM Plex Sans" pitchFamily="34" charset="0"/>
                <a:ea typeface="IBM Plex Sans" pitchFamily="34" charset="-122"/>
                <a:cs typeface="IBM Plex Sans" pitchFamily="34" charset="-120"/>
              </a:rPr>
              <a:t>Report, data and code</a:t>
            </a:r>
            <a:endParaRPr lang="en-US" sz="1200" dirty="0"/>
          </a:p>
        </p:txBody>
      </p:sp>
      <p:sp>
        <p:nvSpPr>
          <p:cNvPr id="7" name="Text 4"/>
          <p:cNvSpPr/>
          <p:nvPr/>
        </p:nvSpPr>
        <p:spPr>
          <a:xfrm>
            <a:off x="812726" y="5542483"/>
            <a:ext cx="10883545"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F5F3EA"/>
                </a:solidFill>
                <a:latin typeface="JetBrains Mono" pitchFamily="49" charset="0"/>
                <a:ea typeface="JetBrains Mono" pitchFamily="49" charset="-122"/>
                <a:cs typeface="JetBrains Mono" pitchFamily="49" charset="-120"/>
              </a:rPr>
              <a:t>github.com/aswathymohan-amrita/23CSE455_DP_CaseStudy · B10/</a:t>
            </a:r>
            <a:endParaRPr lang="en-US" sz="1200" dirty="0"/>
          </a:p>
        </p:txBody>
      </p:sp>
      <p:sp>
        <p:nvSpPr>
          <p:cNvPr id="8" name="Text 5"/>
          <p:cNvSpPr/>
          <p:nvPr/>
        </p:nvSpPr>
        <p:spPr>
          <a:xfrm>
            <a:off x="812726" y="5831954"/>
            <a:ext cx="10883545"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9FB5A8"/>
                </a:solidFill>
                <a:latin typeface="IBM Plex Sans" pitchFamily="34" charset="0"/>
                <a:ea typeface="IBM Plex Sans" pitchFamily="34" charset="-122"/>
                <a:cs typeface="IBM Plex Sans" pitchFamily="34" charset="-120"/>
              </a:rPr>
              <a:t>Johan Rajesh · Aadarsh Jayan Nair · Dano Aby Alex · P Arya</a:t>
            </a:r>
            <a:endParaRPr lang="en-US" sz="1200" dirty="0"/>
          </a:p>
        </p:txBody>
      </p:sp>
    </p:spTree>
  </p:cSld>
  <p:clrMapOvr>
    <a:masterClrMapping/>
  </p:clrMapOvr>
</p:sld>
</file>

<file path=ppt/theme/theme1.xml><?xml version="1.0" encoding="utf-8"?>
<a:theme xmlns:a="http://schemas.openxmlformats.org/drawingml/2006/main" name="Design Patterns in Mycodo – B10">
  <a:themeElements>
    <a:clrScheme name="Design Patterns in Mycodo – B10">
      <a:dk1>
        <a:srgbClr val="13261F"/>
      </a:dk1>
      <a:lt1>
        <a:srgbClr val="F5F3EA"/>
      </a:lt1>
      <a:dk2>
        <a:srgbClr val="4C5952"/>
      </a:dk2>
      <a:lt2>
        <a:srgbClr val="DEDFD6"/>
      </a:lt2>
      <a:accent1>
        <a:srgbClr val="2F7D4A"/>
      </a:accent1>
      <a:accent2>
        <a:srgbClr val="A8D672"/>
      </a:accent2>
      <a:accent3>
        <a:srgbClr val="E3A33B"/>
      </a:accent3>
      <a:accent4>
        <a:srgbClr val="5E9C70"/>
      </a:accent4>
      <a:accent5>
        <a:srgbClr val="B5761A"/>
      </a:accent5>
      <a:accent6>
        <a:srgbClr val="3B4A42"/>
      </a:accent6>
      <a:hlink>
        <a:srgbClr val="0563C1"/>
      </a:hlink>
      <a:folHlink>
        <a:srgbClr val="954F72"/>
      </a:folHlink>
    </a:clrScheme>
    <a:fontScheme name="Design Patterns in Mycodo – B10">
      <a:majorFont>
        <a:latin typeface="Space Grotesk"/>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TotalTime>
  <Words>2309</Words>
  <Application>Microsoft Office PowerPoint</Application>
  <PresentationFormat>Widescreen</PresentationFormat>
  <Paragraphs>265</Paragraphs>
  <Slides>14</Slides>
  <Notes>14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IBM Plex Sans</vt:lpstr>
      <vt:lpstr>Space Grotesk</vt:lpstr>
      <vt:lpstr>Arial</vt:lpstr>
      <vt:lpstr>JetBrains Mono</vt:lpstr>
      <vt:lpstr>Design Patterns in Mycodo – B10</vt:lpstr>
      <vt:lpstr>Design Patterns in Mycodo</vt:lpstr>
      <vt:lpstr>Mycodo: a farm controller in Python</vt:lpstr>
      <vt:lpstr>What is already inside Mycodo?</vt:lpstr>
      <vt:lpstr>Template Method carries the design</vt:lpstr>
      <vt:lpstr>One skeleton, many sensors</vt:lpstr>
      <vt:lpstr>Swappable schedules, hidden network</vt:lpstr>
      <vt:lpstr>Three features a farmer would ask for</vt:lpstr>
      <vt:lpstr>Irrigation policies become objects</vt:lpstr>
      <vt:lpstr>Readings turn into alerts</vt:lpstr>
      <vt:lpstr>PowerPoint Presentation</vt:lpstr>
      <vt:lpstr>One problem per pattern, four languages</vt:lpstr>
      <vt:lpstr>PowerPoint Presentation</vt:lpstr>
      <vt:lpstr>LLMs drafted, we verified</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Design Patterns in Mycodo – B10</dc:title>
  <dc:subject/>
  <dc:creator/>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Space Grotesk
Copyright 2020 The Space Grotesk Project Authors (https://github.com/floriankarsten/space-grotesk)
This Font Software is licensed under the SIL Open Font License, Version 1.1.
This license is copied below, and is also available with a FAQ at:
http://scripts.sil.org/OFL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JetBrains Mono
Copyright 2020 The JetBrains Mono Project Authors (https://github.com/JetBrains/JetBrainsMono)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cp:lastModifiedBy>johan rajesh</cp:lastModifiedBy>
  <cp:revision>2</cp:revision>
  <dcterms:created xsi:type="dcterms:W3CDTF">2026-10-26T05:19:45Z</dcterms:created>
  <dcterms:modified xsi:type="dcterms:W3CDTF">2026-10-27T04:16:16Z</dcterms:modified>
</cp:coreProperties>
</file>